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1"/>
  </p:sldMasterIdLst>
  <p:sldIdLst>
    <p:sldId id="256" r:id="rId1"/>
    <p:sldId id="257" r:id="rId2"/>
    <p:sldId id="258" r:id="rId3"/>
    <p:sldId id="259" r:id="rId4"/>
    <p:sldId id="260" r:id="rId5"/>
    <p:sldId id="261" r:id="rId6"/>
    <p:sldId id="262" r:id="rId7"/>
    <p:sldId id="263" r:id="rId8"/>
    <p:sldId id="264" r:id="rId9"/>
    <p:sldId id="265" r:id="rId10"/>
  </p:sldIdLst>
  <p:sldSz cx="12191695" cy="6858000" type="screen16x9"/>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Master" Target="slideMasters/slideMaster1.xml"/><Relationship Id="rId1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E33"/>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000">
          <a:latin typeface="Times New Roman"/>
        </a:defRPr>
      </a:lvl1pPr>
    </p:titleStyle>
    <p:bodyStyle>
      <a:lvl1pPr>
        <a:defRPr sz="1600">
          <a:latin typeface="Times New Roman"/>
        </a:defRPr>
      </a:lvl1pPr>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accent"/>
          <p:cNvSpPr/>
          <p:nvPr/>
        </p:nvSpPr>
        <p:spPr>
          <a:xfrm>
            <a:off x="822960" y="1371600"/>
            <a:ext cx="128016" cy="2377440"/>
          </a:xfrm>
          <a:prstGeom prst="rect">
            <a:avLst/>
          </a:prstGeom>
          <a:solidFill>
            <a:srgbClr val="00C2D1"/>
          </a:solidFill>
          <a:ln>
            <a:noFill/>
          </a:ln>
        </p:spPr>
        <p:txBody>
          <a:bodyPr/>
          <a:lstStyle/>
          <a:p/>
        </p:txBody>
      </p:sp>
      <p:sp>
        <p:nvSpPr>
          <p:cNvPr id="13" name="title"/>
          <p:cNvSpPr txBox="1"/>
          <p:nvPr/>
        </p:nvSpPr>
        <p:spPr>
          <a:xfrm>
            <a:off x="1143000" y="1234440"/>
            <a:ext cx="5486400" cy="2743200"/>
          </a:xfrm>
          <a:prstGeom prst="rect">
            <a:avLst/>
          </a:prstGeom>
          <a:noFill/>
        </p:spPr>
        <p:txBody>
          <a:bodyPr wrap="square" anchor="t" lIns="91440" rIns="91440">
            <a:normAutofit/>
          </a:bodyPr>
          <a:lstStyle/>
          <a:p>
            <a:pPr>
              <a:lnSpc>
                <a:spcPct val="104000"/>
              </a:lnSpc>
            </a:pPr>
            <a:r>
              <a:rPr lang="uz-UZ" sz="4000" b="1" dirty="0">
                <a:solidFill>
                  <a:srgbClr val="FFFFFF"/>
                </a:solidFill>
                <a:latin typeface="Times New Roman"/>
                <a:cs typeface="Times New Roman"/>
                <a:ea typeface="Times New Roman"/>
              </a:rPr>
              <a:t>Barmoq izi skanerlari qanday ishlaydi?</a:t>
            </a:r>
          </a:p>
          <a:p>
            <a:pPr>
              <a:lnSpc>
                <a:spcPct val="108000"/>
              </a:lnSpc>
              <a:spcBef>
                <a:spcPts val="1600"/>
              </a:spcBef>
            </a:pPr>
            <a:r>
              <a:rPr lang="uz-UZ" sz="2400" i="1" dirty="0">
                <a:solidFill>
                  <a:srgbClr val="00C2D1"/>
                </a:solidFill>
                <a:latin typeface="Times New Roman"/>
                <a:cs typeface="Times New Roman"/>
                <a:ea typeface="Times New Roman"/>
              </a:rPr>
              <a:t>Optik va ultratovush to'lqinlari yordamida biometrik axborotni tanib olish fizikasi.</a:t>
            </a:r>
          </a:p>
        </p:txBody>
      </p:sp>
      <p:sp>
        <p:nvSpPr>
          <p:cNvPr id="14" name="mpanel"/>
          <p:cNvSpPr/>
          <p:nvPr/>
        </p:nvSpPr>
        <p:spPr>
          <a:xfrm>
            <a:off x="1005840" y="4114800"/>
            <a:ext cx="5577840" cy="2103120"/>
          </a:xfrm>
          <a:prstGeom prst="roundRect">
            <a:avLst/>
          </a:prstGeom>
          <a:solidFill>
            <a:srgbClr val="0B1E33"/>
          </a:solidFill>
          <a:ln w="9525">
            <a:solidFill>
              <a:srgbClr val="243B55"/>
            </a:solidFill>
          </a:ln>
        </p:spPr>
        <p:txBody>
          <a:bodyPr/>
          <a:lstStyle/>
          <a:p/>
        </p:txBody>
      </p:sp>
      <p:sp>
        <p:nvSpPr>
          <p:cNvPr id="15" name="meta"/>
          <p:cNvSpPr txBox="1"/>
          <p:nvPr/>
        </p:nvSpPr>
        <p:spPr>
          <a:xfrm>
            <a:off x="1143000" y="4206240"/>
            <a:ext cx="5303520" cy="1920240"/>
          </a:xfrm>
          <a:prstGeom prst="rect">
            <a:avLst/>
          </a:prstGeom>
          <a:noFill/>
        </p:spPr>
        <p:txBody>
          <a:bodyPr wrap="square" anchor="t" lIns="91440" rIns="91440">
            <a:normAutofit/>
          </a:bodyPr>
          <a:lstStyle/>
          <a:p>
            <a:pPr>
              <a:spcAft>
                <a:spcPts val="700"/>
              </a:spcAft>
            </a:pPr>
            <a:r>
              <a:rPr lang="uz-UZ" sz="1400" dirty="0">
                <a:solidFill>
                  <a:srgbClr val="E2E8F0"/>
                </a:solidFill>
                <a:latin typeface="Times New Roman"/>
                <a:cs typeface="Times New Roman"/>
                <a:ea typeface="Times New Roman"/>
              </a:rPr>
              <a:t>Universitet: Jizzax davlat pedagogika universiteti tabiiy fanlar oliy maktabi</a:t>
            </a:r>
          </a:p>
          <a:p>
            <a:pPr>
              <a:spcAft>
                <a:spcPts val="700"/>
              </a:spcAft>
            </a:pPr>
            <a:r>
              <a:rPr lang="uz-UZ" sz="1400" dirty="0">
                <a:solidFill>
                  <a:srgbClr val="E2E8F0"/>
                </a:solidFill>
                <a:latin typeface="Times New Roman"/>
                <a:cs typeface="Times New Roman"/>
                <a:ea typeface="Times New Roman"/>
              </a:rPr>
              <a:t>Fan: Axborot tizimlari</a:t>
            </a:r>
          </a:p>
          <a:p>
            <a:pPr>
              <a:spcAft>
                <a:spcPts val="700"/>
              </a:spcAft>
            </a:pPr>
            <a:r>
              <a:rPr lang="uz-UZ" sz="1400" dirty="0">
                <a:solidFill>
                  <a:srgbClr val="E2E8F0"/>
                </a:solidFill>
                <a:latin typeface="Times New Roman"/>
                <a:cs typeface="Times New Roman"/>
                <a:ea typeface="Times New Roman"/>
              </a:rPr>
              <a:t>Guruh: 242_26</a:t>
            </a:r>
          </a:p>
          <a:p>
            <a:pPr>
              <a:spcAft>
                <a:spcPts val="700"/>
              </a:spcAft>
            </a:pPr>
            <a:r>
              <a:rPr lang="uz-UZ" sz="1400" dirty="0">
                <a:solidFill>
                  <a:srgbClr val="E2E8F0"/>
                </a:solidFill>
                <a:latin typeface="Times New Roman"/>
                <a:cs typeface="Times New Roman"/>
                <a:ea typeface="Times New Roman"/>
              </a:rPr>
              <a:t>Talaba: Toshboʻriyeva Marjona</a:t>
            </a:r>
          </a:p>
        </p:txBody>
      </p:sp>
      <p:grpSp>
        <p:nvGrpSpPr>
          <p:cNvPr id="1025" name="illustration"/>
          <p:cNvGrpSpPr/>
          <p:nvPr/>
        </p:nvGrpSpPr>
        <p:grpSpPr>
          <a:xfrm>
            <a:off x="7223760" y="1188720"/>
            <a:ext cx="4206240" cy="4480560"/>
            <a:chOff x="0" y="0"/>
            <a:chExt cx="100000" cy="100000"/>
          </a:xfrm>
        </p:grpSpPr>
        <p:sp>
          <p:nvSpPr>
            <p:cNvPr id="1001"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002" name="l"/>
            <p:cNvCxnSpPr/>
            <p:nvPr/>
          </p:nvCxnSpPr>
          <p:spPr>
            <a:xfrm flipH="0" flipV="0">
              <a:off x="3000" y="7000"/>
              <a:ext cx="17000" cy="1"/>
            </a:xfrm>
            <a:prstGeom prst="line">
              <a:avLst/>
            </a:prstGeom>
            <a:ln w="19050" cap="rnd">
              <a:solidFill>
                <a:srgbClr val="00C2D1"/>
              </a:solidFill>
            </a:ln>
          </p:spPr>
        </p:cxnSp>
        <p:cxnSp>
          <p:nvCxnSpPr>
            <p:cNvPr id="1003" name="l"/>
            <p:cNvCxnSpPr/>
            <p:nvPr/>
          </p:nvCxnSpPr>
          <p:spPr>
            <a:xfrm flipH="0" flipV="0">
              <a:off x="3000" y="7000"/>
              <a:ext cx="1" cy="17000"/>
            </a:xfrm>
            <a:prstGeom prst="line">
              <a:avLst/>
            </a:prstGeom>
            <a:ln w="19050" cap="rnd">
              <a:solidFill>
                <a:srgbClr val="00C2D1"/>
              </a:solidFill>
            </a:ln>
          </p:spPr>
        </p:cxnSp>
        <p:cxnSp>
          <p:nvCxnSpPr>
            <p:cNvPr id="1004" name="l"/>
            <p:cNvCxnSpPr/>
            <p:nvPr/>
          </p:nvCxnSpPr>
          <p:spPr>
            <a:xfrm flipH="0" flipV="0">
              <a:off x="80000" y="93000"/>
              <a:ext cx="17000" cy="1"/>
            </a:xfrm>
            <a:prstGeom prst="line">
              <a:avLst/>
            </a:prstGeom>
            <a:ln w="19050" cap="rnd">
              <a:solidFill>
                <a:srgbClr val="3B82F6"/>
              </a:solidFill>
            </a:ln>
          </p:spPr>
        </p:cxnSp>
        <p:cxnSp>
          <p:nvCxnSpPr>
            <p:cNvPr id="1005" name="l"/>
            <p:cNvCxnSpPr/>
            <p:nvPr/>
          </p:nvCxnSpPr>
          <p:spPr>
            <a:xfrm flipH="0" flipV="0">
              <a:off x="97000" y="76000"/>
              <a:ext cx="1" cy="17000"/>
            </a:xfrm>
            <a:prstGeom prst="line">
              <a:avLst/>
            </a:prstGeom>
            <a:ln w="19050" cap="rnd">
              <a:solidFill>
                <a:srgbClr val="3B82F6"/>
              </a:solidFill>
            </a:ln>
          </p:spPr>
        </p:cxnSp>
        <p:sp>
          <p:nvSpPr>
            <p:cNvPr id="1006" name="f"/>
            <p:cNvSpPr/>
            <p:nvPr/>
          </p:nvSpPr>
          <p:spPr>
            <a:xfrm>
              <a:off x="0" y="0"/>
              <a:ext cx="13577" cy="13953"/>
            </a:xfrm>
            <a:custGeom>
              <a:avLst/>
              <a:gdLst/>
              <a:ahLst/>
              <a:cxnLst/>
              <a:rect l="0" t="0" r="13577" b="13953"/>
              <a:pathLst>
                <a:path w="13577" h="13953">
                  <a:moveTo>
                    <a:pt x="0" y="4582"/>
                  </a:moveTo>
                  <a:lnTo>
                    <a:pt x="556" y="3406"/>
                  </a:lnTo>
                  <a:lnTo>
                    <a:pt x="1321" y="2353"/>
                  </a:lnTo>
                  <a:lnTo>
                    <a:pt x="2268" y="1460"/>
                  </a:lnTo>
                  <a:lnTo>
                    <a:pt x="3363" y="758"/>
                  </a:lnTo>
                  <a:lnTo>
                    <a:pt x="4570" y="270"/>
                  </a:lnTo>
                  <a:lnTo>
                    <a:pt x="5846" y="15"/>
                  </a:lnTo>
                  <a:lnTo>
                    <a:pt x="7147" y="0"/>
                  </a:lnTo>
                  <a:lnTo>
                    <a:pt x="8428" y="225"/>
                  </a:lnTo>
                  <a:lnTo>
                    <a:pt x="9646" y="685"/>
                  </a:lnTo>
                  <a:lnTo>
                    <a:pt x="10757" y="1361"/>
                  </a:lnTo>
                  <a:lnTo>
                    <a:pt x="11725" y="2232"/>
                  </a:lnTo>
                  <a:lnTo>
                    <a:pt x="12514" y="3267"/>
                  </a:lnTo>
                  <a:lnTo>
                    <a:pt x="13098" y="4430"/>
                  </a:lnTo>
                  <a:lnTo>
                    <a:pt x="13456" y="5681"/>
                  </a:lnTo>
                  <a:lnTo>
                    <a:pt x="13577" y="6976"/>
                  </a:lnTo>
                  <a:lnTo>
                    <a:pt x="13456" y="8272"/>
                  </a:lnTo>
                  <a:lnTo>
                    <a:pt x="13098" y="9523"/>
                  </a:lnTo>
                  <a:lnTo>
                    <a:pt x="12514" y="10686"/>
                  </a:lnTo>
                  <a:lnTo>
                    <a:pt x="11725" y="11720"/>
                  </a:lnTo>
                  <a:lnTo>
                    <a:pt x="10757" y="12591"/>
                  </a:lnTo>
                  <a:lnTo>
                    <a:pt x="9646" y="13268"/>
                  </a:lnTo>
                  <a:lnTo>
                    <a:pt x="8428" y="13727"/>
                  </a:lnTo>
                  <a:lnTo>
                    <a:pt x="7147" y="13953"/>
                  </a:lnTo>
                  <a:lnTo>
                    <a:pt x="5846" y="13938"/>
                  </a:lnTo>
                  <a:lnTo>
                    <a:pt x="4570" y="13682"/>
                  </a:lnTo>
                  <a:lnTo>
                    <a:pt x="3363" y="13195"/>
                  </a:lnTo>
                  <a:lnTo>
                    <a:pt x="2268" y="12492"/>
                  </a:lnTo>
                  <a:lnTo>
                    <a:pt x="1321" y="11599"/>
                  </a:lnTo>
                  <a:lnTo>
                    <a:pt x="556" y="10547"/>
                  </a:lnTo>
                  <a:lnTo>
                    <a:pt x="0" y="9370"/>
                  </a:lnTo>
                </a:path>
              </a:pathLst>
            </a:custGeom>
            <a:noFill/>
            <a:ln w="4200" cap="rnd">
              <a:solidFill>
                <a:srgbClr val="00C2D1"/>
              </a:solidFill>
              <a:round/>
            </a:ln>
          </p:spPr>
          <p:txBody>
            <a:bodyPr/>
            <a:lstStyle/>
            <a:p/>
          </p:txBody>
        </p:sp>
        <p:sp>
          <p:nvSpPr>
            <p:cNvPr id="1007" name="f"/>
            <p:cNvSpPr/>
            <p:nvPr/>
          </p:nvSpPr>
          <p:spPr>
            <a:xfrm>
              <a:off x="0" y="0"/>
              <a:ext cx="25216" cy="25913"/>
            </a:xfrm>
            <a:custGeom>
              <a:avLst/>
              <a:gdLst/>
              <a:ahLst/>
              <a:cxnLst/>
              <a:rect l="0" t="0" r="25216" b="25913"/>
              <a:pathLst>
                <a:path w="25216" h="25913">
                  <a:moveTo>
                    <a:pt x="0" y="8510"/>
                  </a:moveTo>
                  <a:lnTo>
                    <a:pt x="1034" y="6326"/>
                  </a:lnTo>
                  <a:lnTo>
                    <a:pt x="2454" y="4371"/>
                  </a:lnTo>
                  <a:lnTo>
                    <a:pt x="4212" y="2712"/>
                  </a:lnTo>
                  <a:lnTo>
                    <a:pt x="6246" y="1408"/>
                  </a:lnTo>
                  <a:lnTo>
                    <a:pt x="8487" y="503"/>
                  </a:lnTo>
                  <a:lnTo>
                    <a:pt x="10857" y="28"/>
                  </a:lnTo>
                  <a:lnTo>
                    <a:pt x="13273" y="0"/>
                  </a:lnTo>
                  <a:lnTo>
                    <a:pt x="15653" y="419"/>
                  </a:lnTo>
                  <a:lnTo>
                    <a:pt x="17914" y="1272"/>
                  </a:lnTo>
                  <a:lnTo>
                    <a:pt x="19979" y="2529"/>
                  </a:lnTo>
                  <a:lnTo>
                    <a:pt x="21775" y="4146"/>
                  </a:lnTo>
                  <a:lnTo>
                    <a:pt x="23240" y="6067"/>
                  </a:lnTo>
                  <a:lnTo>
                    <a:pt x="24325" y="8227"/>
                  </a:lnTo>
                  <a:lnTo>
                    <a:pt x="24991" y="10550"/>
                  </a:lnTo>
                  <a:lnTo>
                    <a:pt x="25216" y="12956"/>
                  </a:lnTo>
                  <a:lnTo>
                    <a:pt x="24991" y="15363"/>
                  </a:lnTo>
                  <a:lnTo>
                    <a:pt x="24325" y="17686"/>
                  </a:lnTo>
                  <a:lnTo>
                    <a:pt x="23240" y="19845"/>
                  </a:lnTo>
                  <a:lnTo>
                    <a:pt x="21775" y="21767"/>
                  </a:lnTo>
                  <a:lnTo>
                    <a:pt x="19979" y="23384"/>
                  </a:lnTo>
                  <a:lnTo>
                    <a:pt x="17914" y="24641"/>
                  </a:lnTo>
                  <a:lnTo>
                    <a:pt x="15653" y="25494"/>
                  </a:lnTo>
                  <a:lnTo>
                    <a:pt x="13273" y="25913"/>
                  </a:lnTo>
                  <a:lnTo>
                    <a:pt x="10857" y="25885"/>
                  </a:lnTo>
                  <a:lnTo>
                    <a:pt x="8487" y="25410"/>
                  </a:lnTo>
                  <a:lnTo>
                    <a:pt x="6246" y="24505"/>
                  </a:lnTo>
                  <a:lnTo>
                    <a:pt x="4212" y="23201"/>
                  </a:lnTo>
                  <a:lnTo>
                    <a:pt x="2454" y="21542"/>
                  </a:lnTo>
                  <a:lnTo>
                    <a:pt x="1034" y="19587"/>
                  </a:lnTo>
                  <a:lnTo>
                    <a:pt x="0" y="17403"/>
                  </a:lnTo>
                </a:path>
              </a:pathLst>
            </a:custGeom>
            <a:noFill/>
            <a:ln w="4200" cap="rnd">
              <a:solidFill>
                <a:srgbClr val="00C2D1"/>
              </a:solidFill>
              <a:round/>
            </a:ln>
          </p:spPr>
          <p:txBody>
            <a:bodyPr/>
            <a:lstStyle/>
            <a:p/>
          </p:txBody>
        </p:sp>
        <p:sp>
          <p:nvSpPr>
            <p:cNvPr id="1008" name="f"/>
            <p:cNvSpPr/>
            <p:nvPr/>
          </p:nvSpPr>
          <p:spPr>
            <a:xfrm>
              <a:off x="0" y="0"/>
              <a:ext cx="36854" cy="37874"/>
            </a:xfrm>
            <a:custGeom>
              <a:avLst/>
              <a:gdLst/>
              <a:ahLst/>
              <a:cxnLst/>
              <a:rect l="0" t="0" r="36854" b="37874"/>
              <a:pathLst>
                <a:path w="36854" h="37874">
                  <a:moveTo>
                    <a:pt x="0" y="12438"/>
                  </a:moveTo>
                  <a:lnTo>
                    <a:pt x="1511" y="9246"/>
                  </a:lnTo>
                  <a:lnTo>
                    <a:pt x="3587" y="6388"/>
                  </a:lnTo>
                  <a:lnTo>
                    <a:pt x="6156" y="3964"/>
                  </a:lnTo>
                  <a:lnTo>
                    <a:pt x="9129" y="2058"/>
                  </a:lnTo>
                  <a:lnTo>
                    <a:pt x="12404" y="735"/>
                  </a:lnTo>
                  <a:lnTo>
                    <a:pt x="15868" y="41"/>
                  </a:lnTo>
                  <a:lnTo>
                    <a:pt x="19399" y="0"/>
                  </a:lnTo>
                  <a:lnTo>
                    <a:pt x="22878" y="613"/>
                  </a:lnTo>
                  <a:lnTo>
                    <a:pt x="26183" y="1859"/>
                  </a:lnTo>
                  <a:lnTo>
                    <a:pt x="29200" y="3696"/>
                  </a:lnTo>
                  <a:lnTo>
                    <a:pt x="31825" y="6060"/>
                  </a:lnTo>
                  <a:lnTo>
                    <a:pt x="33967" y="8868"/>
                  </a:lnTo>
                  <a:lnTo>
                    <a:pt x="35552" y="12024"/>
                  </a:lnTo>
                  <a:lnTo>
                    <a:pt x="36525" y="15420"/>
                  </a:lnTo>
                  <a:lnTo>
                    <a:pt x="36854" y="18937"/>
                  </a:lnTo>
                  <a:lnTo>
                    <a:pt x="36525" y="22453"/>
                  </a:lnTo>
                  <a:lnTo>
                    <a:pt x="35552" y="25849"/>
                  </a:lnTo>
                  <a:lnTo>
                    <a:pt x="33967" y="29005"/>
                  </a:lnTo>
                  <a:lnTo>
                    <a:pt x="31825" y="31813"/>
                  </a:lnTo>
                  <a:lnTo>
                    <a:pt x="29200" y="34177"/>
                  </a:lnTo>
                  <a:lnTo>
                    <a:pt x="26183" y="36014"/>
                  </a:lnTo>
                  <a:lnTo>
                    <a:pt x="22878" y="37260"/>
                  </a:lnTo>
                  <a:lnTo>
                    <a:pt x="19399" y="37874"/>
                  </a:lnTo>
                  <a:lnTo>
                    <a:pt x="15868" y="37832"/>
                  </a:lnTo>
                  <a:lnTo>
                    <a:pt x="12404" y="37138"/>
                  </a:lnTo>
                  <a:lnTo>
                    <a:pt x="9129" y="35815"/>
                  </a:lnTo>
                  <a:lnTo>
                    <a:pt x="6156" y="33909"/>
                  </a:lnTo>
                  <a:lnTo>
                    <a:pt x="3587" y="31485"/>
                  </a:lnTo>
                  <a:lnTo>
                    <a:pt x="1511" y="28627"/>
                  </a:lnTo>
                  <a:lnTo>
                    <a:pt x="0" y="25435"/>
                  </a:lnTo>
                </a:path>
              </a:pathLst>
            </a:custGeom>
            <a:noFill/>
            <a:ln w="4200" cap="rnd">
              <a:solidFill>
                <a:srgbClr val="00C2D1"/>
              </a:solidFill>
              <a:round/>
            </a:ln>
          </p:spPr>
          <p:txBody>
            <a:bodyPr/>
            <a:lstStyle/>
            <a:p/>
          </p:txBody>
        </p:sp>
        <p:sp>
          <p:nvSpPr>
            <p:cNvPr id="1009" name="f"/>
            <p:cNvSpPr/>
            <p:nvPr/>
          </p:nvSpPr>
          <p:spPr>
            <a:xfrm>
              <a:off x="0" y="0"/>
              <a:ext cx="48492" cy="49834"/>
            </a:xfrm>
            <a:custGeom>
              <a:avLst/>
              <a:gdLst/>
              <a:ahLst/>
              <a:cxnLst/>
              <a:rect l="0" t="0" r="48492" b="49834"/>
              <a:pathLst>
                <a:path w="48492" h="49834">
                  <a:moveTo>
                    <a:pt x="0" y="16366"/>
                  </a:moveTo>
                  <a:lnTo>
                    <a:pt x="1988" y="12166"/>
                  </a:lnTo>
                  <a:lnTo>
                    <a:pt x="4720" y="8406"/>
                  </a:lnTo>
                  <a:lnTo>
                    <a:pt x="8100" y="5216"/>
                  </a:lnTo>
                  <a:lnTo>
                    <a:pt x="12013" y="2708"/>
                  </a:lnTo>
                  <a:lnTo>
                    <a:pt x="16322" y="967"/>
                  </a:lnTo>
                  <a:lnTo>
                    <a:pt x="20879" y="54"/>
                  </a:lnTo>
                  <a:lnTo>
                    <a:pt x="25526" y="0"/>
                  </a:lnTo>
                  <a:lnTo>
                    <a:pt x="30103" y="807"/>
                  </a:lnTo>
                  <a:lnTo>
                    <a:pt x="34451" y="2447"/>
                  </a:lnTo>
                  <a:lnTo>
                    <a:pt x="38421" y="4864"/>
                  </a:lnTo>
                  <a:lnTo>
                    <a:pt x="41875" y="7973"/>
                  </a:lnTo>
                  <a:lnTo>
                    <a:pt x="44693" y="11669"/>
                  </a:lnTo>
                  <a:lnTo>
                    <a:pt x="46779" y="15822"/>
                  </a:lnTo>
                  <a:lnTo>
                    <a:pt x="48060" y="20289"/>
                  </a:lnTo>
                  <a:lnTo>
                    <a:pt x="48492" y="24917"/>
                  </a:lnTo>
                  <a:lnTo>
                    <a:pt x="48060" y="29544"/>
                  </a:lnTo>
                  <a:lnTo>
                    <a:pt x="46779" y="34011"/>
                  </a:lnTo>
                  <a:lnTo>
                    <a:pt x="44693" y="38165"/>
                  </a:lnTo>
                  <a:lnTo>
                    <a:pt x="41875" y="41860"/>
                  </a:lnTo>
                  <a:lnTo>
                    <a:pt x="38421" y="44970"/>
                  </a:lnTo>
                  <a:lnTo>
                    <a:pt x="34451" y="47386"/>
                  </a:lnTo>
                  <a:lnTo>
                    <a:pt x="30103" y="49027"/>
                  </a:lnTo>
                  <a:lnTo>
                    <a:pt x="25526" y="49834"/>
                  </a:lnTo>
                  <a:lnTo>
                    <a:pt x="20879" y="49780"/>
                  </a:lnTo>
                  <a:lnTo>
                    <a:pt x="16322" y="48866"/>
                  </a:lnTo>
                  <a:lnTo>
                    <a:pt x="12013" y="47125"/>
                  </a:lnTo>
                  <a:lnTo>
                    <a:pt x="8100" y="44617"/>
                  </a:lnTo>
                  <a:lnTo>
                    <a:pt x="4720" y="41428"/>
                  </a:lnTo>
                  <a:lnTo>
                    <a:pt x="1988" y="37668"/>
                  </a:lnTo>
                  <a:lnTo>
                    <a:pt x="0" y="33467"/>
                  </a:lnTo>
                </a:path>
              </a:pathLst>
            </a:custGeom>
            <a:noFill/>
            <a:ln w="4200" cap="rnd">
              <a:solidFill>
                <a:srgbClr val="00C2D1"/>
              </a:solidFill>
              <a:round/>
            </a:ln>
          </p:spPr>
          <p:txBody>
            <a:bodyPr/>
            <a:lstStyle/>
            <a:p/>
          </p:txBody>
        </p:sp>
        <p:sp>
          <p:nvSpPr>
            <p:cNvPr id="1010" name="f"/>
            <p:cNvSpPr/>
            <p:nvPr/>
          </p:nvSpPr>
          <p:spPr>
            <a:xfrm>
              <a:off x="0" y="0"/>
              <a:ext cx="60130" cy="61794"/>
            </a:xfrm>
            <a:custGeom>
              <a:avLst/>
              <a:gdLst/>
              <a:ahLst/>
              <a:cxnLst/>
              <a:rect l="0" t="0" r="60130" b="61794"/>
              <a:pathLst>
                <a:path w="60130" h="61794">
                  <a:moveTo>
                    <a:pt x="0" y="20294"/>
                  </a:moveTo>
                  <a:lnTo>
                    <a:pt x="2465" y="15085"/>
                  </a:lnTo>
                  <a:lnTo>
                    <a:pt x="5853" y="10423"/>
                  </a:lnTo>
                  <a:lnTo>
                    <a:pt x="10044" y="6468"/>
                  </a:lnTo>
                  <a:lnTo>
                    <a:pt x="14896" y="3358"/>
                  </a:lnTo>
                  <a:lnTo>
                    <a:pt x="20239" y="1199"/>
                  </a:lnTo>
                  <a:lnTo>
                    <a:pt x="25890" y="67"/>
                  </a:lnTo>
                  <a:lnTo>
                    <a:pt x="31652" y="0"/>
                  </a:lnTo>
                  <a:lnTo>
                    <a:pt x="37327" y="1000"/>
                  </a:lnTo>
                  <a:lnTo>
                    <a:pt x="42719" y="3034"/>
                  </a:lnTo>
                  <a:lnTo>
                    <a:pt x="47642" y="6031"/>
                  </a:lnTo>
                  <a:lnTo>
                    <a:pt x="51925" y="9887"/>
                  </a:lnTo>
                  <a:lnTo>
                    <a:pt x="55419" y="14469"/>
                  </a:lnTo>
                  <a:lnTo>
                    <a:pt x="58006" y="19619"/>
                  </a:lnTo>
                  <a:lnTo>
                    <a:pt x="59594" y="25159"/>
                  </a:lnTo>
                  <a:lnTo>
                    <a:pt x="60130" y="30897"/>
                  </a:lnTo>
                  <a:lnTo>
                    <a:pt x="59594" y="36635"/>
                  </a:lnTo>
                  <a:lnTo>
                    <a:pt x="58006" y="42174"/>
                  </a:lnTo>
                  <a:lnTo>
                    <a:pt x="55419" y="47324"/>
                  </a:lnTo>
                  <a:lnTo>
                    <a:pt x="51925" y="51906"/>
                  </a:lnTo>
                  <a:lnTo>
                    <a:pt x="47642" y="55763"/>
                  </a:lnTo>
                  <a:lnTo>
                    <a:pt x="42719" y="58759"/>
                  </a:lnTo>
                  <a:lnTo>
                    <a:pt x="37327" y="60793"/>
                  </a:lnTo>
                  <a:lnTo>
                    <a:pt x="31652" y="61794"/>
                  </a:lnTo>
                  <a:lnTo>
                    <a:pt x="25890" y="61727"/>
                  </a:lnTo>
                  <a:lnTo>
                    <a:pt x="20239" y="60594"/>
                  </a:lnTo>
                  <a:lnTo>
                    <a:pt x="14896" y="58436"/>
                  </a:lnTo>
                  <a:lnTo>
                    <a:pt x="10044" y="55325"/>
                  </a:lnTo>
                  <a:lnTo>
                    <a:pt x="5853" y="51370"/>
                  </a:lnTo>
                  <a:lnTo>
                    <a:pt x="2465" y="46708"/>
                  </a:lnTo>
                  <a:lnTo>
                    <a:pt x="0" y="41499"/>
                  </a:lnTo>
                </a:path>
              </a:pathLst>
            </a:custGeom>
            <a:noFill/>
            <a:ln w="4200" cap="rnd">
              <a:solidFill>
                <a:srgbClr val="00C2D1"/>
              </a:solidFill>
              <a:round/>
            </a:ln>
          </p:spPr>
          <p:txBody>
            <a:bodyPr/>
            <a:lstStyle/>
            <a:p/>
          </p:txBody>
        </p:sp>
        <p:sp>
          <p:nvSpPr>
            <p:cNvPr id="1011" name="f"/>
            <p:cNvSpPr/>
            <p:nvPr/>
          </p:nvSpPr>
          <p:spPr>
            <a:xfrm>
              <a:off x="0" y="0"/>
              <a:ext cx="71768" cy="73754"/>
            </a:xfrm>
            <a:custGeom>
              <a:avLst/>
              <a:gdLst/>
              <a:ahLst/>
              <a:cxnLst/>
              <a:rect l="0" t="0" r="71768" b="73754"/>
              <a:pathLst>
                <a:path w="71768" h="73754">
                  <a:moveTo>
                    <a:pt x="0" y="24222"/>
                  </a:moveTo>
                  <a:lnTo>
                    <a:pt x="2943" y="18005"/>
                  </a:lnTo>
                  <a:lnTo>
                    <a:pt x="6986" y="12441"/>
                  </a:lnTo>
                  <a:lnTo>
                    <a:pt x="11989" y="7720"/>
                  </a:lnTo>
                  <a:lnTo>
                    <a:pt x="17779" y="4008"/>
                  </a:lnTo>
                  <a:lnTo>
                    <a:pt x="24156" y="1431"/>
                  </a:lnTo>
                  <a:lnTo>
                    <a:pt x="30901" y="80"/>
                  </a:lnTo>
                  <a:lnTo>
                    <a:pt x="37778" y="0"/>
                  </a:lnTo>
                  <a:lnTo>
                    <a:pt x="44552" y="1194"/>
                  </a:lnTo>
                  <a:lnTo>
                    <a:pt x="50988" y="3621"/>
                  </a:lnTo>
                  <a:lnTo>
                    <a:pt x="56863" y="7198"/>
                  </a:lnTo>
                  <a:lnTo>
                    <a:pt x="61975" y="11801"/>
                  </a:lnTo>
                  <a:lnTo>
                    <a:pt x="66146" y="17270"/>
                  </a:lnTo>
                  <a:lnTo>
                    <a:pt x="69233" y="23416"/>
                  </a:lnTo>
                  <a:lnTo>
                    <a:pt x="71129" y="30028"/>
                  </a:lnTo>
                  <a:lnTo>
                    <a:pt x="71768" y="36877"/>
                  </a:lnTo>
                  <a:lnTo>
                    <a:pt x="71129" y="43725"/>
                  </a:lnTo>
                  <a:lnTo>
                    <a:pt x="69233" y="50337"/>
                  </a:lnTo>
                  <a:lnTo>
                    <a:pt x="66146" y="56484"/>
                  </a:lnTo>
                  <a:lnTo>
                    <a:pt x="61975" y="61953"/>
                  </a:lnTo>
                  <a:lnTo>
                    <a:pt x="56863" y="66555"/>
                  </a:lnTo>
                  <a:lnTo>
                    <a:pt x="50988" y="70132"/>
                  </a:lnTo>
                  <a:lnTo>
                    <a:pt x="44552" y="72560"/>
                  </a:lnTo>
                  <a:lnTo>
                    <a:pt x="37778" y="73754"/>
                  </a:lnTo>
                  <a:lnTo>
                    <a:pt x="30901" y="73674"/>
                  </a:lnTo>
                  <a:lnTo>
                    <a:pt x="24156" y="72322"/>
                  </a:lnTo>
                  <a:lnTo>
                    <a:pt x="17779" y="69746"/>
                  </a:lnTo>
                  <a:lnTo>
                    <a:pt x="11989" y="66033"/>
                  </a:lnTo>
                  <a:lnTo>
                    <a:pt x="6986" y="61313"/>
                  </a:lnTo>
                  <a:lnTo>
                    <a:pt x="2943" y="55748"/>
                  </a:lnTo>
                  <a:lnTo>
                    <a:pt x="0" y="49532"/>
                  </a:lnTo>
                </a:path>
              </a:pathLst>
            </a:custGeom>
            <a:noFill/>
            <a:ln w="4200" cap="rnd">
              <a:solidFill>
                <a:srgbClr val="00C2D1"/>
              </a:solidFill>
              <a:round/>
            </a:ln>
          </p:spPr>
          <p:txBody>
            <a:bodyPr/>
            <a:lstStyle/>
            <a:p/>
          </p:txBody>
        </p:sp>
        <p:sp>
          <p:nvSpPr>
            <p:cNvPr id="1012" name="f"/>
            <p:cNvSpPr/>
            <p:nvPr/>
          </p:nvSpPr>
          <p:spPr>
            <a:xfrm>
              <a:off x="0" y="0"/>
              <a:ext cx="83406" cy="85714"/>
            </a:xfrm>
            <a:custGeom>
              <a:avLst/>
              <a:gdLst/>
              <a:ahLst/>
              <a:cxnLst/>
              <a:rect l="0" t="0" r="83406" b="85714"/>
              <a:pathLst>
                <a:path w="83406" h="85714">
                  <a:moveTo>
                    <a:pt x="0" y="28150"/>
                  </a:moveTo>
                  <a:lnTo>
                    <a:pt x="3420" y="20925"/>
                  </a:lnTo>
                  <a:lnTo>
                    <a:pt x="8118" y="14458"/>
                  </a:lnTo>
                  <a:lnTo>
                    <a:pt x="13933" y="8972"/>
                  </a:lnTo>
                  <a:lnTo>
                    <a:pt x="20662" y="4658"/>
                  </a:lnTo>
                  <a:lnTo>
                    <a:pt x="28074" y="1663"/>
                  </a:lnTo>
                  <a:lnTo>
                    <a:pt x="35912" y="93"/>
                  </a:lnTo>
                  <a:lnTo>
                    <a:pt x="43905" y="0"/>
                  </a:lnTo>
                  <a:lnTo>
                    <a:pt x="51777" y="1388"/>
                  </a:lnTo>
                  <a:lnTo>
                    <a:pt x="59256" y="4209"/>
                  </a:lnTo>
                  <a:lnTo>
                    <a:pt x="66084" y="8366"/>
                  </a:lnTo>
                  <a:lnTo>
                    <a:pt x="72025" y="13714"/>
                  </a:lnTo>
                  <a:lnTo>
                    <a:pt x="76872" y="20070"/>
                  </a:lnTo>
                  <a:lnTo>
                    <a:pt x="80460" y="27214"/>
                  </a:lnTo>
                  <a:lnTo>
                    <a:pt x="82663" y="34898"/>
                  </a:lnTo>
                  <a:lnTo>
                    <a:pt x="83406" y="42857"/>
                  </a:lnTo>
                  <a:lnTo>
                    <a:pt x="82663" y="50816"/>
                  </a:lnTo>
                  <a:lnTo>
                    <a:pt x="80460" y="58500"/>
                  </a:lnTo>
                  <a:lnTo>
                    <a:pt x="76872" y="65643"/>
                  </a:lnTo>
                  <a:lnTo>
                    <a:pt x="72025" y="71999"/>
                  </a:lnTo>
                  <a:lnTo>
                    <a:pt x="66084" y="77348"/>
                  </a:lnTo>
                  <a:lnTo>
                    <a:pt x="59256" y="81505"/>
                  </a:lnTo>
                  <a:lnTo>
                    <a:pt x="51777" y="84326"/>
                  </a:lnTo>
                  <a:lnTo>
                    <a:pt x="43905" y="85714"/>
                  </a:lnTo>
                  <a:lnTo>
                    <a:pt x="35912" y="85621"/>
                  </a:lnTo>
                  <a:lnTo>
                    <a:pt x="28074" y="84050"/>
                  </a:lnTo>
                  <a:lnTo>
                    <a:pt x="20662" y="81056"/>
                  </a:lnTo>
                  <a:lnTo>
                    <a:pt x="13933" y="76741"/>
                  </a:lnTo>
                  <a:lnTo>
                    <a:pt x="8118" y="71256"/>
                  </a:lnTo>
                  <a:lnTo>
                    <a:pt x="3420" y="64789"/>
                  </a:lnTo>
                  <a:lnTo>
                    <a:pt x="0" y="57564"/>
                  </a:lnTo>
                </a:path>
              </a:pathLst>
            </a:custGeom>
            <a:noFill/>
            <a:ln w="4200" cap="rnd">
              <a:solidFill>
                <a:srgbClr val="00C2D1"/>
              </a:solidFill>
              <a:round/>
            </a:ln>
          </p:spPr>
          <p:txBody>
            <a:bodyPr/>
            <a:lstStyle/>
            <a:p/>
          </p:txBody>
        </p:sp>
        <p:sp>
          <p:nvSpPr>
            <p:cNvPr id="1013" name="e"/>
            <p:cNvSpPr/>
            <p:nvPr/>
          </p:nvSpPr>
          <p:spPr>
            <a:xfrm>
              <a:off x="36183" y="55746"/>
              <a:ext cx="3200" cy="3200"/>
            </a:xfrm>
            <a:prstGeom prst="ellipse">
              <a:avLst/>
            </a:prstGeom>
            <a:solidFill>
              <a:srgbClr val="FFFFFF"/>
            </a:solidFill>
            <a:ln>
              <a:noFill/>
            </a:ln>
          </p:spPr>
          <p:txBody>
            <a:bodyPr/>
            <a:lstStyle/>
            <a:p/>
          </p:txBody>
        </p:sp>
        <p:sp>
          <p:nvSpPr>
            <p:cNvPr id="1014" name="e"/>
            <p:cNvSpPr/>
            <p:nvPr/>
          </p:nvSpPr>
          <p:spPr>
            <a:xfrm>
              <a:off x="24907" y="61650"/>
              <a:ext cx="3200" cy="3200"/>
            </a:xfrm>
            <a:prstGeom prst="ellipse">
              <a:avLst/>
            </a:prstGeom>
            <a:solidFill>
              <a:srgbClr val="FFFFFF"/>
            </a:solidFill>
            <a:ln>
              <a:noFill/>
            </a:ln>
          </p:spPr>
          <p:txBody>
            <a:bodyPr/>
            <a:lstStyle/>
            <a:p/>
          </p:txBody>
        </p:sp>
        <p:sp>
          <p:nvSpPr>
            <p:cNvPr id="1015" name="r"/>
            <p:cNvSpPr/>
            <p:nvPr/>
          </p:nvSpPr>
          <p:spPr>
            <a:xfrm>
              <a:off x="14000" y="46000"/>
              <a:ext cx="72000" cy="2600"/>
            </a:xfrm>
            <a:prstGeom prst="rect">
              <a:avLst/>
            </a:prstGeom>
            <a:solidFill>
              <a:srgbClr val="3B82F6"/>
            </a:solidFill>
            <a:ln>
              <a:noFill/>
            </a:ln>
          </p:spPr>
          <p:txBody>
            <a:bodyPr/>
            <a:lstStyle/>
            <a:p/>
          </p:txBody>
        </p:sp>
        <p:sp>
          <p:nvSpPr>
            <p:cNvPr id="1016" name="r"/>
            <p:cNvSpPr/>
            <p:nvPr/>
          </p:nvSpPr>
          <p:spPr>
            <a:xfrm>
              <a:off x="14000" y="45200"/>
              <a:ext cx="72000" cy="700"/>
            </a:xfrm>
            <a:prstGeom prst="rect">
              <a:avLst/>
            </a:prstGeom>
            <a:solidFill>
              <a:srgbClr val="FFFFFF"/>
            </a:solidFill>
            <a:ln>
              <a:noFill/>
            </a:ln>
          </p:spPr>
          <p:txBody>
            <a:bodyPr/>
            <a:lstStyle/>
            <a:p/>
          </p:txBody>
        </p:sp>
        <p:cxnSp>
          <p:nvCxnSpPr>
            <p:cNvPr id="1017" name="l"/>
            <p:cNvCxnSpPr/>
            <p:nvPr/>
          </p:nvCxnSpPr>
          <p:spPr>
            <a:xfrm flipH="0" flipV="0">
              <a:off x="14000" y="16000"/>
              <a:ext cx="8000" cy="1"/>
            </a:xfrm>
            <a:prstGeom prst="line">
              <a:avLst/>
            </a:prstGeom>
            <a:ln w="9000" cap="rnd">
              <a:solidFill>
                <a:srgbClr val="00C2D1"/>
              </a:solidFill>
            </a:ln>
          </p:spPr>
        </p:cxnSp>
        <p:cxnSp>
          <p:nvCxnSpPr>
            <p:cNvPr id="1018" name="l"/>
            <p:cNvCxnSpPr/>
            <p:nvPr/>
          </p:nvCxnSpPr>
          <p:spPr>
            <a:xfrm flipH="0" flipV="0">
              <a:off x="14000" y="16000"/>
              <a:ext cx="1" cy="8000"/>
            </a:xfrm>
            <a:prstGeom prst="line">
              <a:avLst/>
            </a:prstGeom>
            <a:ln w="9000" cap="rnd">
              <a:solidFill>
                <a:srgbClr val="00C2D1"/>
              </a:solidFill>
            </a:ln>
          </p:spPr>
        </p:cxnSp>
        <p:cxnSp>
          <p:nvCxnSpPr>
            <p:cNvPr id="1019" name="l"/>
            <p:cNvCxnSpPr/>
            <p:nvPr/>
          </p:nvCxnSpPr>
          <p:spPr>
            <a:xfrm flipH="0" flipV="0">
              <a:off x="78000" y="16000"/>
              <a:ext cx="8000" cy="1"/>
            </a:xfrm>
            <a:prstGeom prst="line">
              <a:avLst/>
            </a:prstGeom>
            <a:ln w="9000" cap="rnd">
              <a:solidFill>
                <a:srgbClr val="00C2D1"/>
              </a:solidFill>
            </a:ln>
          </p:spPr>
        </p:cxnSp>
        <p:cxnSp>
          <p:nvCxnSpPr>
            <p:cNvPr id="1020" name="l"/>
            <p:cNvCxnSpPr/>
            <p:nvPr/>
          </p:nvCxnSpPr>
          <p:spPr>
            <a:xfrm flipH="0" flipV="0">
              <a:off x="78000" y="16000"/>
              <a:ext cx="1" cy="8000"/>
            </a:xfrm>
            <a:prstGeom prst="line">
              <a:avLst/>
            </a:prstGeom>
            <a:ln w="9000" cap="rnd">
              <a:solidFill>
                <a:srgbClr val="00C2D1"/>
              </a:solidFill>
            </a:ln>
          </p:spPr>
        </p:cxnSp>
        <p:cxnSp>
          <p:nvCxnSpPr>
            <p:cNvPr id="1021" name="l"/>
            <p:cNvCxnSpPr/>
            <p:nvPr/>
          </p:nvCxnSpPr>
          <p:spPr>
            <a:xfrm flipH="0" flipV="0">
              <a:off x="14000" y="80000"/>
              <a:ext cx="8000" cy="1"/>
            </a:xfrm>
            <a:prstGeom prst="line">
              <a:avLst/>
            </a:prstGeom>
            <a:ln w="9000" cap="rnd">
              <a:solidFill>
                <a:srgbClr val="00C2D1"/>
              </a:solidFill>
            </a:ln>
          </p:spPr>
        </p:cxnSp>
        <p:cxnSp>
          <p:nvCxnSpPr>
            <p:cNvPr id="1022" name="l"/>
            <p:cNvCxnSpPr/>
            <p:nvPr/>
          </p:nvCxnSpPr>
          <p:spPr>
            <a:xfrm flipH="0" flipV="0">
              <a:off x="14000" y="80000"/>
              <a:ext cx="1" cy="8000"/>
            </a:xfrm>
            <a:prstGeom prst="line">
              <a:avLst/>
            </a:prstGeom>
            <a:ln w="9000" cap="rnd">
              <a:solidFill>
                <a:srgbClr val="00C2D1"/>
              </a:solidFill>
            </a:ln>
          </p:spPr>
        </p:cxnSp>
        <p:cxnSp>
          <p:nvCxnSpPr>
            <p:cNvPr id="1023" name="l"/>
            <p:cNvCxnSpPr/>
            <p:nvPr/>
          </p:nvCxnSpPr>
          <p:spPr>
            <a:xfrm flipH="0" flipV="0">
              <a:off x="78000" y="80000"/>
              <a:ext cx="8000" cy="1"/>
            </a:xfrm>
            <a:prstGeom prst="line">
              <a:avLst/>
            </a:prstGeom>
            <a:ln w="9000" cap="rnd">
              <a:solidFill>
                <a:srgbClr val="00C2D1"/>
              </a:solidFill>
            </a:ln>
          </p:spPr>
        </p:cxnSp>
        <p:cxnSp>
          <p:nvCxnSpPr>
            <p:cNvPr id="1024" name="l"/>
            <p:cNvCxnSpPr/>
            <p:nvPr/>
          </p:nvCxnSpPr>
          <p:spPr>
            <a:xfrm flipH="0" flipV="0">
              <a:off x="78000" y="80000"/>
              <a:ext cx="1" cy="8000"/>
            </a:xfrm>
            <a:prstGeom prst="line">
              <a:avLst/>
            </a:prstGeom>
            <a:ln w="9000" cap="rnd">
              <a:solidFill>
                <a:srgbClr val="00C2D1"/>
              </a:solidFill>
            </a:ln>
          </p:spPr>
        </p:cxnSp>
      </p:grpSp>
      <p:sp>
        <p:nvSpPr>
          <p:cNvPr id="16" name="fline"/>
          <p:cNvSpPr/>
          <p:nvPr/>
        </p:nvSpPr>
        <p:spPr>
          <a:xfrm>
            <a:off x="548640" y="6419088"/>
            <a:ext cx="11091672" cy="14630"/>
          </a:xfrm>
          <a:prstGeom prst="rect">
            <a:avLst/>
          </a:prstGeom>
          <a:solidFill>
            <a:srgbClr val="243B55"/>
          </a:solidFill>
          <a:ln>
            <a:noFill/>
          </a:ln>
        </p:spPr>
        <p:txBody>
          <a:bodyPr/>
          <a:lstStyle/>
          <a:p/>
        </p:txBody>
      </p:sp>
      <p:sp>
        <p:nvSpPr>
          <p:cNvPr id="17"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18"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01 / 10</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1-REJA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Taqdimot rejasi</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1-reja. Barmoq izi biologiyasi va uni raqamlashtirish (Minutiae nuqtalari).</a:t>
            </a:r>
          </a:p>
          <a:p>
            <a:pPr>
              <a:lnSpc>
                <a:spcPct val="110000"/>
              </a:lnSpc>
              <a:spcAft>
                <a:spcPts val="1100"/>
              </a:spcAft>
            </a:pPr>
            <a:r>
              <a:rPr lang="uz-UZ" sz="1800" b="1" dirty="0">
                <a:solidFill>
                  <a:srgbClr val="00C2D1"/>
                </a:solidFill>
                <a:latin typeface="Times New Roman"/>
                <a:cs typeface="Times New Roman"/>
                <a:ea typeface="Times New Roman"/>
              </a:rPr>
              <a:t>2-reja. Optik skanerlar fizikasi: Yorug'lik nurlari va 2D tasvir.</a:t>
            </a:r>
          </a:p>
          <a:p>
            <a:pPr>
              <a:lnSpc>
                <a:spcPct val="110000"/>
              </a:lnSpc>
              <a:spcAft>
                <a:spcPts val="1100"/>
              </a:spcAft>
            </a:pPr>
            <a:r>
              <a:rPr lang="uz-UZ" sz="1800" b="1" dirty="0">
                <a:solidFill>
                  <a:srgbClr val="00C2D1"/>
                </a:solidFill>
                <a:latin typeface="Times New Roman"/>
                <a:cs typeface="Times New Roman"/>
                <a:ea typeface="Times New Roman"/>
              </a:rPr>
              <a:t>3-reja. Ultratovushli (Ultrasonic) skanerlar: Ovoz to'lqinlari orqali 3D xarita.</a:t>
            </a:r>
          </a:p>
          <a:p>
            <a:pPr>
              <a:lnSpc>
                <a:spcPct val="110000"/>
              </a:lnSpc>
              <a:spcAft>
                <a:spcPts val="1100"/>
              </a:spcAft>
            </a:pPr>
            <a:r>
              <a:rPr lang="uz-UZ" sz="1800" b="1" dirty="0">
                <a:solidFill>
                  <a:srgbClr val="00C2D1"/>
                </a:solidFill>
                <a:latin typeface="Times New Roman"/>
                <a:cs typeface="Times New Roman"/>
                <a:ea typeface="Times New Roman"/>
              </a:rPr>
              <a:t>Xulosa. Biometrik xavfsizlikning zamonaviy axborot tizimlaridagi ahamiyati.</a:t>
            </a:r>
          </a:p>
        </p:txBody>
      </p:sp>
      <p:grpSp>
        <p:nvGrpSpPr>
          <p:cNvPr id="1043" name="illustration"/>
          <p:cNvGrpSpPr/>
          <p:nvPr/>
        </p:nvGrpSpPr>
        <p:grpSpPr>
          <a:xfrm>
            <a:off x="7635240" y="2011680"/>
            <a:ext cx="3749039" cy="4206240"/>
            <a:chOff x="0" y="0"/>
            <a:chExt cx="100000" cy="100000"/>
          </a:xfrm>
        </p:grpSpPr>
        <p:sp>
          <p:nvSpPr>
            <p:cNvPr id="1026"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027" name="l"/>
            <p:cNvCxnSpPr/>
            <p:nvPr/>
          </p:nvCxnSpPr>
          <p:spPr>
            <a:xfrm flipH="0" flipV="0">
              <a:off x="3000" y="7000"/>
              <a:ext cx="17000" cy="1"/>
            </a:xfrm>
            <a:prstGeom prst="line">
              <a:avLst/>
            </a:prstGeom>
            <a:ln w="19050" cap="rnd">
              <a:solidFill>
                <a:srgbClr val="00C2D1"/>
              </a:solidFill>
            </a:ln>
          </p:spPr>
        </p:cxnSp>
        <p:cxnSp>
          <p:nvCxnSpPr>
            <p:cNvPr id="1028" name="l"/>
            <p:cNvCxnSpPr/>
            <p:nvPr/>
          </p:nvCxnSpPr>
          <p:spPr>
            <a:xfrm flipH="0" flipV="0">
              <a:off x="3000" y="7000"/>
              <a:ext cx="1" cy="17000"/>
            </a:xfrm>
            <a:prstGeom prst="line">
              <a:avLst/>
            </a:prstGeom>
            <a:ln w="19050" cap="rnd">
              <a:solidFill>
                <a:srgbClr val="00C2D1"/>
              </a:solidFill>
            </a:ln>
          </p:spPr>
        </p:cxnSp>
        <p:cxnSp>
          <p:nvCxnSpPr>
            <p:cNvPr id="1029" name="l"/>
            <p:cNvCxnSpPr/>
            <p:nvPr/>
          </p:nvCxnSpPr>
          <p:spPr>
            <a:xfrm flipH="0" flipV="0">
              <a:off x="80000" y="93000"/>
              <a:ext cx="17000" cy="1"/>
            </a:xfrm>
            <a:prstGeom prst="line">
              <a:avLst/>
            </a:prstGeom>
            <a:ln w="19050" cap="rnd">
              <a:solidFill>
                <a:srgbClr val="3B82F6"/>
              </a:solidFill>
            </a:ln>
          </p:spPr>
        </p:cxnSp>
        <p:cxnSp>
          <p:nvCxnSpPr>
            <p:cNvPr id="1030" name="l"/>
            <p:cNvCxnSpPr/>
            <p:nvPr/>
          </p:nvCxnSpPr>
          <p:spPr>
            <a:xfrm flipH="0" flipV="0">
              <a:off x="97000" y="76000"/>
              <a:ext cx="1" cy="17000"/>
            </a:xfrm>
            <a:prstGeom prst="line">
              <a:avLst/>
            </a:prstGeom>
            <a:ln w="19050" cap="rnd">
              <a:solidFill>
                <a:srgbClr val="3B82F6"/>
              </a:solidFill>
            </a:ln>
          </p:spPr>
        </p:cxnSp>
        <p:sp>
          <p:nvSpPr>
            <p:cNvPr id="1031" name="e"/>
            <p:cNvSpPr/>
            <p:nvPr/>
          </p:nvSpPr>
          <p:spPr>
            <a:xfrm>
              <a:off x="15800" y="13800"/>
              <a:ext cx="16400" cy="16400"/>
            </a:xfrm>
            <a:prstGeom prst="ellipse">
              <a:avLst/>
            </a:prstGeom>
            <a:noFill/>
            <a:ln w="9000">
              <a:solidFill>
                <a:srgbClr val="00C2D1"/>
              </a:solidFill>
            </a:ln>
          </p:spPr>
          <p:txBody>
            <a:bodyPr/>
            <a:lstStyle/>
            <a:p/>
          </p:txBody>
        </p:sp>
        <p:sp>
          <p:nvSpPr>
            <p:cNvPr id="1032" name="t"/>
            <p:cNvSpPr txBox="1"/>
            <p:nvPr/>
          </p:nvSpPr>
          <p:spPr>
            <a:xfrm>
              <a:off x="16500" y="15000"/>
              <a:ext cx="15000" cy="14000"/>
            </a:xfrm>
            <a:prstGeom prst="rect">
              <a:avLst/>
            </a:prstGeom>
            <a:noFill/>
          </p:spPr>
          <p:txBody>
            <a:bodyPr wrap="none" anchor="ctr"/>
            <a:lstStyle/>
            <a:p>
              <a:pPr algn="ctr"/>
              <a:r>
                <a:rPr lang="uz-UZ" sz="1800" b="1" dirty="0">
                  <a:solidFill>
                    <a:srgbClr val="00C2D1"/>
                  </a:solidFill>
                  <a:latin typeface="Times New Roman"/>
                  <a:cs typeface="Times New Roman"/>
                  <a:ea typeface="Times New Roman"/>
                </a:rPr>
                <a:t>1</a:t>
              </a:r>
            </a:p>
          </p:txBody>
        </p:sp>
        <p:sp>
          <p:nvSpPr>
            <p:cNvPr id="1033" name="r"/>
            <p:cNvSpPr/>
            <p:nvPr/>
          </p:nvSpPr>
          <p:spPr>
            <a:xfrm>
              <a:off x="40000" y="19400"/>
              <a:ext cx="42000" cy="5200"/>
            </a:xfrm>
            <a:prstGeom prst="roundRect">
              <a:avLst/>
            </a:prstGeom>
            <a:noFill/>
            <a:ln w="6000">
              <a:solidFill>
                <a:srgbClr val="00C2D1"/>
              </a:solidFill>
            </a:ln>
          </p:spPr>
          <p:txBody>
            <a:bodyPr/>
            <a:lstStyle/>
            <a:p/>
          </p:txBody>
        </p:sp>
        <p:sp>
          <p:nvSpPr>
            <p:cNvPr id="1034" name="e"/>
            <p:cNvSpPr/>
            <p:nvPr/>
          </p:nvSpPr>
          <p:spPr>
            <a:xfrm>
              <a:off x="15800" y="33800"/>
              <a:ext cx="16400" cy="16400"/>
            </a:xfrm>
            <a:prstGeom prst="ellipse">
              <a:avLst/>
            </a:prstGeom>
            <a:noFill/>
            <a:ln w="9000">
              <a:solidFill>
                <a:srgbClr val="3B82F6"/>
              </a:solidFill>
            </a:ln>
          </p:spPr>
          <p:txBody>
            <a:bodyPr/>
            <a:lstStyle/>
            <a:p/>
          </p:txBody>
        </p:sp>
        <p:sp>
          <p:nvSpPr>
            <p:cNvPr id="1035" name="t"/>
            <p:cNvSpPr txBox="1"/>
            <p:nvPr/>
          </p:nvSpPr>
          <p:spPr>
            <a:xfrm>
              <a:off x="16500" y="35000"/>
              <a:ext cx="15000" cy="14000"/>
            </a:xfrm>
            <a:prstGeom prst="rect">
              <a:avLst/>
            </a:prstGeom>
            <a:noFill/>
          </p:spPr>
          <p:txBody>
            <a:bodyPr wrap="none" anchor="ctr"/>
            <a:lstStyle/>
            <a:p>
              <a:pPr algn="ctr"/>
              <a:r>
                <a:rPr lang="uz-UZ" sz="1800" b="1" dirty="0">
                  <a:solidFill>
                    <a:srgbClr val="3B82F6"/>
                  </a:solidFill>
                  <a:latin typeface="Times New Roman"/>
                  <a:cs typeface="Times New Roman"/>
                  <a:ea typeface="Times New Roman"/>
                </a:rPr>
                <a:t>2</a:t>
              </a:r>
            </a:p>
          </p:txBody>
        </p:sp>
        <p:sp>
          <p:nvSpPr>
            <p:cNvPr id="1036" name="r"/>
            <p:cNvSpPr/>
            <p:nvPr/>
          </p:nvSpPr>
          <p:spPr>
            <a:xfrm>
              <a:off x="40000" y="39400"/>
              <a:ext cx="42000" cy="5200"/>
            </a:xfrm>
            <a:prstGeom prst="roundRect">
              <a:avLst/>
            </a:prstGeom>
            <a:noFill/>
            <a:ln w="6000">
              <a:solidFill>
                <a:srgbClr val="3B82F6"/>
              </a:solidFill>
            </a:ln>
          </p:spPr>
          <p:txBody>
            <a:bodyPr/>
            <a:lstStyle/>
            <a:p/>
          </p:txBody>
        </p:sp>
        <p:sp>
          <p:nvSpPr>
            <p:cNvPr id="1037" name="e"/>
            <p:cNvSpPr/>
            <p:nvPr/>
          </p:nvSpPr>
          <p:spPr>
            <a:xfrm>
              <a:off x="15800" y="53800"/>
              <a:ext cx="16400" cy="16400"/>
            </a:xfrm>
            <a:prstGeom prst="ellipse">
              <a:avLst/>
            </a:prstGeom>
            <a:noFill/>
            <a:ln w="9000">
              <a:solidFill>
                <a:srgbClr val="00C2D1"/>
              </a:solidFill>
            </a:ln>
          </p:spPr>
          <p:txBody>
            <a:bodyPr/>
            <a:lstStyle/>
            <a:p/>
          </p:txBody>
        </p:sp>
        <p:sp>
          <p:nvSpPr>
            <p:cNvPr id="1038" name="t"/>
            <p:cNvSpPr txBox="1"/>
            <p:nvPr/>
          </p:nvSpPr>
          <p:spPr>
            <a:xfrm>
              <a:off x="16500" y="55000"/>
              <a:ext cx="15000" cy="14000"/>
            </a:xfrm>
            <a:prstGeom prst="rect">
              <a:avLst/>
            </a:prstGeom>
            <a:noFill/>
          </p:spPr>
          <p:txBody>
            <a:bodyPr wrap="none" anchor="ctr"/>
            <a:lstStyle/>
            <a:p>
              <a:pPr algn="ctr"/>
              <a:r>
                <a:rPr lang="uz-UZ" sz="1800" b="1" dirty="0">
                  <a:solidFill>
                    <a:srgbClr val="00C2D1"/>
                  </a:solidFill>
                  <a:latin typeface="Times New Roman"/>
                  <a:cs typeface="Times New Roman"/>
                  <a:ea typeface="Times New Roman"/>
                </a:rPr>
                <a:t>3</a:t>
              </a:r>
            </a:p>
          </p:txBody>
        </p:sp>
        <p:sp>
          <p:nvSpPr>
            <p:cNvPr id="1039" name="r"/>
            <p:cNvSpPr/>
            <p:nvPr/>
          </p:nvSpPr>
          <p:spPr>
            <a:xfrm>
              <a:off x="40000" y="59400"/>
              <a:ext cx="42000" cy="5200"/>
            </a:xfrm>
            <a:prstGeom prst="roundRect">
              <a:avLst/>
            </a:prstGeom>
            <a:noFill/>
            <a:ln w="6000">
              <a:solidFill>
                <a:srgbClr val="00C2D1"/>
              </a:solidFill>
            </a:ln>
          </p:spPr>
          <p:txBody>
            <a:bodyPr/>
            <a:lstStyle/>
            <a:p/>
          </p:txBody>
        </p:sp>
        <p:sp>
          <p:nvSpPr>
            <p:cNvPr id="1040" name="e"/>
            <p:cNvSpPr/>
            <p:nvPr/>
          </p:nvSpPr>
          <p:spPr>
            <a:xfrm>
              <a:off x="15800" y="73800"/>
              <a:ext cx="16400" cy="16400"/>
            </a:xfrm>
            <a:prstGeom prst="ellipse">
              <a:avLst/>
            </a:prstGeom>
            <a:noFill/>
            <a:ln w="9000">
              <a:solidFill>
                <a:srgbClr val="FFFFFF"/>
              </a:solidFill>
            </a:ln>
          </p:spPr>
          <p:txBody>
            <a:bodyPr/>
            <a:lstStyle/>
            <a:p/>
          </p:txBody>
        </p:sp>
        <p:sp>
          <p:nvSpPr>
            <p:cNvPr id="1041" name="t"/>
            <p:cNvSpPr txBox="1"/>
            <p:nvPr/>
          </p:nvSpPr>
          <p:spPr>
            <a:xfrm>
              <a:off x="16500" y="75000"/>
              <a:ext cx="15000" cy="14000"/>
            </a:xfrm>
            <a:prstGeom prst="rect">
              <a:avLst/>
            </a:prstGeom>
            <a:noFill/>
          </p:spPr>
          <p:txBody>
            <a:bodyPr wrap="none" anchor="ctr"/>
            <a:lstStyle/>
            <a:p>
              <a:pPr algn="ctr"/>
              <a:r>
                <a:rPr lang="uz-UZ" sz="1800" b="1" dirty="0">
                  <a:solidFill>
                    <a:srgbClr val="FFFFFF"/>
                  </a:solidFill>
                  <a:latin typeface="Times New Roman"/>
                  <a:cs typeface="Times New Roman"/>
                  <a:ea typeface="Times New Roman"/>
                </a:rPr>
                <a:t>4</a:t>
              </a:r>
            </a:p>
          </p:txBody>
        </p:sp>
        <p:sp>
          <p:nvSpPr>
            <p:cNvPr id="1042" name="r"/>
            <p:cNvSpPr/>
            <p:nvPr/>
          </p:nvSpPr>
          <p:spPr>
            <a:xfrm>
              <a:off x="40000" y="79400"/>
              <a:ext cx="42000" cy="5200"/>
            </a:xfrm>
            <a:prstGeom prst="roundRect">
              <a:avLst/>
            </a:prstGeom>
            <a:noFill/>
            <a:ln w="6000">
              <a:solidFill>
                <a:srgbClr val="FFFFFF"/>
              </a:solidFill>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A"/>
          <p:cNvSpPr/>
          <p:nvPr/>
        </p:nvSpPr>
        <p:spPr>
          <a:xfrm>
            <a:off x="11631168" y="3035808"/>
            <a:ext cx="164592" cy="164592"/>
          </a:xfrm>
          <a:prstGeom prst="roundRect">
            <a:avLst/>
          </a:prstGeom>
          <a:solidFill>
            <a:srgbClr val="00C2D1"/>
          </a:solidFill>
          <a:ln>
            <a:noFill/>
          </a:ln>
        </p:spPr>
        <p:txBody>
          <a:bodyPr/>
          <a:lstStyle/>
          <a:p/>
        </p:txBody>
      </p:sp>
      <p:sp>
        <p:nvSpPr>
          <p:cNvPr id="20" name="dot"/>
          <p:cNvSpPr/>
          <p:nvPr/>
        </p:nvSpPr>
        <p:spPr>
          <a:xfrm>
            <a:off x="11658600" y="3419856"/>
            <a:ext cx="109728" cy="109728"/>
          </a:xfrm>
          <a:prstGeom prst="roundRect">
            <a:avLst/>
          </a:prstGeom>
          <a:noFill/>
          <a:ln w="12700">
            <a:solidFill>
              <a:srgbClr val="2A4563"/>
            </a:solidFill>
          </a:ln>
        </p:spPr>
        <p:txBody>
          <a:bodyPr/>
          <a:lstStyle/>
          <a:p/>
        </p:txBody>
      </p:sp>
      <p:sp>
        <p:nvSpPr>
          <p:cNvPr id="21" name="dot"/>
          <p:cNvSpPr/>
          <p:nvPr/>
        </p:nvSpPr>
        <p:spPr>
          <a:xfrm>
            <a:off x="11658600" y="3803904"/>
            <a:ext cx="109728" cy="109728"/>
          </a:xfrm>
          <a:prstGeom prst="roundRect">
            <a:avLst/>
          </a:prstGeom>
          <a:noFill/>
          <a:ln w="12700">
            <a:solidFill>
              <a:srgbClr val="2A4563"/>
            </a:solid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02 / 10</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1-REJA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1. Biologiya va axborotning birlashuvi</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Barmoq izimiz — bu inson tanasidagi tabiiy axborot tashuvchi noyob "kod" hisoblanadi.</a:t>
            </a:r>
          </a:p>
          <a:p>
            <a:pPr>
              <a:lnSpc>
                <a:spcPct val="110000"/>
              </a:lnSpc>
              <a:spcAft>
                <a:spcPts val="1100"/>
              </a:spcAft>
            </a:pPr>
            <a:r>
              <a:rPr lang="uz-UZ" sz="1600" dirty="0">
                <a:solidFill>
                  <a:srgbClr val="E2E8F0"/>
                </a:solidFill>
                <a:latin typeface="Times New Roman"/>
                <a:cs typeface="Times New Roman"/>
                <a:ea typeface="Times New Roman"/>
              </a:rPr>
              <a:t>- Tepaliklar va chuqurliklar (Ridges and Valleys): Barmog'imiz terisi tekis emas. U qabariq chiziqlar (tepaliklar) va ular orasidagi bo'shliqlardan (chuqurliklar) iborat.</a:t>
            </a:r>
          </a:p>
          <a:p>
            <a:pPr>
              <a:lnSpc>
                <a:spcPct val="110000"/>
              </a:lnSpc>
              <a:spcAft>
                <a:spcPts val="1100"/>
              </a:spcAft>
            </a:pPr>
            <a:r>
              <a:rPr lang="uz-UZ" sz="1600" dirty="0">
                <a:solidFill>
                  <a:srgbClr val="E2E8F0"/>
                </a:solidFill>
                <a:latin typeface="Times New Roman"/>
                <a:cs typeface="Times New Roman"/>
                <a:ea typeface="Times New Roman"/>
              </a:rPr>
              <a:t>- Minutiae nuqtalari: Skaner barmoqning umumiy rasmini emas, balki chiziqlar uzilgan, birlashgan yoki tugagan maxsus kesishuv nuqtalarini (Minutiae) izlaydi va ularni matematik algoritmga o'giradi.</a:t>
            </a:r>
          </a:p>
        </p:txBody>
      </p:sp>
      <p:grpSp>
        <p:nvGrpSpPr>
          <p:cNvPr id="1064" name="illustration"/>
          <p:cNvGrpSpPr/>
          <p:nvPr/>
        </p:nvGrpSpPr>
        <p:grpSpPr>
          <a:xfrm>
            <a:off x="7635240" y="2011680"/>
            <a:ext cx="3749039" cy="4206240"/>
            <a:chOff x="0" y="0"/>
            <a:chExt cx="100000" cy="100000"/>
          </a:xfrm>
        </p:grpSpPr>
        <p:sp>
          <p:nvSpPr>
            <p:cNvPr id="1044"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045" name="l"/>
            <p:cNvCxnSpPr/>
            <p:nvPr/>
          </p:nvCxnSpPr>
          <p:spPr>
            <a:xfrm flipH="0" flipV="0">
              <a:off x="3000" y="7000"/>
              <a:ext cx="17000" cy="1"/>
            </a:xfrm>
            <a:prstGeom prst="line">
              <a:avLst/>
            </a:prstGeom>
            <a:ln w="19050" cap="rnd">
              <a:solidFill>
                <a:srgbClr val="00C2D1"/>
              </a:solidFill>
            </a:ln>
          </p:spPr>
        </p:cxnSp>
        <p:cxnSp>
          <p:nvCxnSpPr>
            <p:cNvPr id="1046" name="l"/>
            <p:cNvCxnSpPr/>
            <p:nvPr/>
          </p:nvCxnSpPr>
          <p:spPr>
            <a:xfrm flipH="0" flipV="0">
              <a:off x="3000" y="7000"/>
              <a:ext cx="1" cy="17000"/>
            </a:xfrm>
            <a:prstGeom prst="line">
              <a:avLst/>
            </a:prstGeom>
            <a:ln w="19050" cap="rnd">
              <a:solidFill>
                <a:srgbClr val="00C2D1"/>
              </a:solidFill>
            </a:ln>
          </p:spPr>
        </p:cxnSp>
        <p:cxnSp>
          <p:nvCxnSpPr>
            <p:cNvPr id="1047" name="l"/>
            <p:cNvCxnSpPr/>
            <p:nvPr/>
          </p:nvCxnSpPr>
          <p:spPr>
            <a:xfrm flipH="0" flipV="0">
              <a:off x="80000" y="93000"/>
              <a:ext cx="17000" cy="1"/>
            </a:xfrm>
            <a:prstGeom prst="line">
              <a:avLst/>
            </a:prstGeom>
            <a:ln w="19050" cap="rnd">
              <a:solidFill>
                <a:srgbClr val="3B82F6"/>
              </a:solidFill>
            </a:ln>
          </p:spPr>
        </p:cxnSp>
        <p:cxnSp>
          <p:nvCxnSpPr>
            <p:cNvPr id="1048" name="l"/>
            <p:cNvCxnSpPr/>
            <p:nvPr/>
          </p:nvCxnSpPr>
          <p:spPr>
            <a:xfrm flipH="0" flipV="0">
              <a:off x="97000" y="76000"/>
              <a:ext cx="1" cy="17000"/>
            </a:xfrm>
            <a:prstGeom prst="line">
              <a:avLst/>
            </a:prstGeom>
            <a:ln w="19050" cap="rnd">
              <a:solidFill>
                <a:srgbClr val="3B82F6"/>
              </a:solidFill>
            </a:ln>
          </p:spPr>
        </p:cxnSp>
        <p:sp>
          <p:nvSpPr>
            <p:cNvPr id="1049" name="f"/>
            <p:cNvSpPr/>
            <p:nvPr/>
          </p:nvSpPr>
          <p:spPr>
            <a:xfrm>
              <a:off x="0" y="0"/>
              <a:ext cx="72000" cy="7000"/>
            </a:xfrm>
            <a:custGeom>
              <a:avLst/>
              <a:gdLst/>
              <a:ahLst/>
              <a:cxnLst/>
              <a:rect l="0" t="0" r="72000" b="7000"/>
              <a:pathLst>
                <a:path w="72000" h="7000">
                  <a:moveTo>
                    <a:pt x="0" y="4000"/>
                  </a:moveTo>
                  <a:lnTo>
                    <a:pt x="20000" y="0"/>
                  </a:lnTo>
                  <a:lnTo>
                    <a:pt x="40000" y="7000"/>
                  </a:lnTo>
                  <a:lnTo>
                    <a:pt x="60000" y="2000"/>
                  </a:lnTo>
                  <a:lnTo>
                    <a:pt x="72000" y="5500"/>
                  </a:lnTo>
                </a:path>
              </a:pathLst>
            </a:custGeom>
            <a:noFill/>
            <a:ln w="4000" cap="rnd">
              <a:solidFill>
                <a:srgbClr val="00C2D1"/>
              </a:solidFill>
              <a:round/>
            </a:ln>
          </p:spPr>
          <p:txBody>
            <a:bodyPr/>
            <a:lstStyle/>
            <a:p/>
          </p:txBody>
        </p:sp>
        <p:sp>
          <p:nvSpPr>
            <p:cNvPr id="1050" name="f"/>
            <p:cNvSpPr/>
            <p:nvPr/>
          </p:nvSpPr>
          <p:spPr>
            <a:xfrm>
              <a:off x="0" y="0"/>
              <a:ext cx="72000" cy="7300"/>
            </a:xfrm>
            <a:custGeom>
              <a:avLst/>
              <a:gdLst/>
              <a:ahLst/>
              <a:cxnLst/>
              <a:rect l="0" t="0" r="72000" b="7300"/>
              <a:pathLst>
                <a:path w="72000" h="7300">
                  <a:moveTo>
                    <a:pt x="0" y="4300"/>
                  </a:moveTo>
                  <a:lnTo>
                    <a:pt x="20000" y="0"/>
                  </a:lnTo>
                  <a:lnTo>
                    <a:pt x="40000" y="7300"/>
                  </a:lnTo>
                  <a:lnTo>
                    <a:pt x="60000" y="2300"/>
                  </a:lnTo>
                  <a:lnTo>
                    <a:pt x="72000" y="5800"/>
                  </a:lnTo>
                </a:path>
              </a:pathLst>
            </a:custGeom>
            <a:noFill/>
            <a:ln w="4000" cap="rnd">
              <a:solidFill>
                <a:srgbClr val="00C2D1"/>
              </a:solidFill>
              <a:round/>
            </a:ln>
          </p:spPr>
          <p:txBody>
            <a:bodyPr/>
            <a:lstStyle/>
            <a:p/>
          </p:txBody>
        </p:sp>
        <p:sp>
          <p:nvSpPr>
            <p:cNvPr id="1051" name="f"/>
            <p:cNvSpPr/>
            <p:nvPr/>
          </p:nvSpPr>
          <p:spPr>
            <a:xfrm>
              <a:off x="0" y="0"/>
              <a:ext cx="72000" cy="7600"/>
            </a:xfrm>
            <a:custGeom>
              <a:avLst/>
              <a:gdLst/>
              <a:ahLst/>
              <a:cxnLst/>
              <a:rect l="0" t="0" r="72000" b="7600"/>
              <a:pathLst>
                <a:path w="72000" h="7600">
                  <a:moveTo>
                    <a:pt x="0" y="4600"/>
                  </a:moveTo>
                  <a:lnTo>
                    <a:pt x="20000" y="0"/>
                  </a:lnTo>
                  <a:lnTo>
                    <a:pt x="40000" y="7600"/>
                  </a:lnTo>
                  <a:lnTo>
                    <a:pt x="60000" y="2600"/>
                  </a:lnTo>
                  <a:lnTo>
                    <a:pt x="72000" y="6100"/>
                  </a:lnTo>
                </a:path>
              </a:pathLst>
            </a:custGeom>
            <a:noFill/>
            <a:ln w="4000" cap="rnd">
              <a:solidFill>
                <a:srgbClr val="00C2D1"/>
              </a:solidFill>
              <a:round/>
            </a:ln>
          </p:spPr>
          <p:txBody>
            <a:bodyPr/>
            <a:lstStyle/>
            <a:p/>
          </p:txBody>
        </p:sp>
        <p:sp>
          <p:nvSpPr>
            <p:cNvPr id="1052" name="f"/>
            <p:cNvSpPr/>
            <p:nvPr/>
          </p:nvSpPr>
          <p:spPr>
            <a:xfrm>
              <a:off x="0" y="0"/>
              <a:ext cx="72000" cy="7900"/>
            </a:xfrm>
            <a:custGeom>
              <a:avLst/>
              <a:gdLst/>
              <a:ahLst/>
              <a:cxnLst/>
              <a:rect l="0" t="0" r="72000" b="7900"/>
              <a:pathLst>
                <a:path w="72000" h="7900">
                  <a:moveTo>
                    <a:pt x="0" y="4900"/>
                  </a:moveTo>
                  <a:lnTo>
                    <a:pt x="20000" y="0"/>
                  </a:lnTo>
                  <a:lnTo>
                    <a:pt x="40000" y="7900"/>
                  </a:lnTo>
                  <a:lnTo>
                    <a:pt x="60000" y="2900"/>
                  </a:lnTo>
                  <a:lnTo>
                    <a:pt x="72000" y="6400"/>
                  </a:lnTo>
                </a:path>
              </a:pathLst>
            </a:custGeom>
            <a:noFill/>
            <a:ln w="4000" cap="rnd">
              <a:solidFill>
                <a:srgbClr val="00C2D1"/>
              </a:solidFill>
              <a:round/>
            </a:ln>
          </p:spPr>
          <p:txBody>
            <a:bodyPr/>
            <a:lstStyle/>
            <a:p/>
          </p:txBody>
        </p:sp>
        <p:sp>
          <p:nvSpPr>
            <p:cNvPr id="1053" name="f"/>
            <p:cNvSpPr/>
            <p:nvPr/>
          </p:nvSpPr>
          <p:spPr>
            <a:xfrm>
              <a:off x="0" y="0"/>
              <a:ext cx="72000" cy="8200"/>
            </a:xfrm>
            <a:custGeom>
              <a:avLst/>
              <a:gdLst/>
              <a:ahLst/>
              <a:cxnLst/>
              <a:rect l="0" t="0" r="72000" b="8200"/>
              <a:pathLst>
                <a:path w="72000" h="8200">
                  <a:moveTo>
                    <a:pt x="0" y="5200"/>
                  </a:moveTo>
                  <a:lnTo>
                    <a:pt x="20000" y="0"/>
                  </a:lnTo>
                  <a:lnTo>
                    <a:pt x="40000" y="8200"/>
                  </a:lnTo>
                  <a:lnTo>
                    <a:pt x="60000" y="3200"/>
                  </a:lnTo>
                  <a:lnTo>
                    <a:pt x="72000" y="6700"/>
                  </a:lnTo>
                </a:path>
              </a:pathLst>
            </a:custGeom>
            <a:noFill/>
            <a:ln w="4000" cap="rnd">
              <a:solidFill>
                <a:srgbClr val="00C2D1"/>
              </a:solidFill>
              <a:round/>
            </a:ln>
          </p:spPr>
          <p:txBody>
            <a:bodyPr/>
            <a:lstStyle/>
            <a:p/>
          </p:txBody>
        </p:sp>
        <p:sp>
          <p:nvSpPr>
            <p:cNvPr id="1054" name="f"/>
            <p:cNvSpPr/>
            <p:nvPr/>
          </p:nvSpPr>
          <p:spPr>
            <a:xfrm>
              <a:off x="0" y="0"/>
              <a:ext cx="72000" cy="8500"/>
            </a:xfrm>
            <a:custGeom>
              <a:avLst/>
              <a:gdLst/>
              <a:ahLst/>
              <a:cxnLst/>
              <a:rect l="0" t="0" r="72000" b="8500"/>
              <a:pathLst>
                <a:path w="72000" h="8500">
                  <a:moveTo>
                    <a:pt x="0" y="5500"/>
                  </a:moveTo>
                  <a:lnTo>
                    <a:pt x="20000" y="0"/>
                  </a:lnTo>
                  <a:lnTo>
                    <a:pt x="40000" y="8500"/>
                  </a:lnTo>
                  <a:lnTo>
                    <a:pt x="60000" y="3500"/>
                  </a:lnTo>
                  <a:lnTo>
                    <a:pt x="72000" y="7000"/>
                  </a:lnTo>
                </a:path>
              </a:pathLst>
            </a:custGeom>
            <a:noFill/>
            <a:ln w="4000" cap="rnd">
              <a:solidFill>
                <a:srgbClr val="00C2D1"/>
              </a:solidFill>
              <a:round/>
            </a:ln>
          </p:spPr>
          <p:txBody>
            <a:bodyPr/>
            <a:lstStyle/>
            <a:p/>
          </p:txBody>
        </p:sp>
        <p:sp>
          <p:nvSpPr>
            <p:cNvPr id="1055" name="f"/>
            <p:cNvSpPr/>
            <p:nvPr/>
          </p:nvSpPr>
          <p:spPr>
            <a:xfrm>
              <a:off x="0" y="0"/>
              <a:ext cx="72000" cy="8800"/>
            </a:xfrm>
            <a:custGeom>
              <a:avLst/>
              <a:gdLst/>
              <a:ahLst/>
              <a:cxnLst/>
              <a:rect l="0" t="0" r="72000" b="8800"/>
              <a:pathLst>
                <a:path w="72000" h="8800">
                  <a:moveTo>
                    <a:pt x="0" y="5800"/>
                  </a:moveTo>
                  <a:lnTo>
                    <a:pt x="20000" y="0"/>
                  </a:lnTo>
                  <a:lnTo>
                    <a:pt x="40000" y="8800"/>
                  </a:lnTo>
                  <a:lnTo>
                    <a:pt x="60000" y="3800"/>
                  </a:lnTo>
                  <a:lnTo>
                    <a:pt x="72000" y="7300"/>
                  </a:lnTo>
                </a:path>
              </a:pathLst>
            </a:custGeom>
            <a:noFill/>
            <a:ln w="4000" cap="rnd">
              <a:solidFill>
                <a:srgbClr val="00C2D1"/>
              </a:solidFill>
              <a:round/>
            </a:ln>
          </p:spPr>
          <p:txBody>
            <a:bodyPr/>
            <a:lstStyle/>
            <a:p/>
          </p:txBody>
        </p:sp>
        <p:sp>
          <p:nvSpPr>
            <p:cNvPr id="1056" name="e"/>
            <p:cNvSpPr/>
            <p:nvPr/>
          </p:nvSpPr>
          <p:spPr>
            <a:xfrm>
              <a:off x="30800" y="21800"/>
              <a:ext cx="6400" cy="6400"/>
            </a:xfrm>
            <a:prstGeom prst="ellipse">
              <a:avLst/>
            </a:prstGeom>
            <a:noFill/>
            <a:ln w="7000">
              <a:solidFill>
                <a:srgbClr val="FFFFFF"/>
              </a:solidFill>
            </a:ln>
          </p:spPr>
          <p:txBody>
            <a:bodyPr/>
            <a:lstStyle/>
            <a:p/>
          </p:txBody>
        </p:sp>
        <p:sp>
          <p:nvSpPr>
            <p:cNvPr id="1057" name="e"/>
            <p:cNvSpPr/>
            <p:nvPr/>
          </p:nvSpPr>
          <p:spPr>
            <a:xfrm>
              <a:off x="32900" y="23900"/>
              <a:ext cx="2200" cy="2200"/>
            </a:xfrm>
            <a:prstGeom prst="ellipse">
              <a:avLst/>
            </a:prstGeom>
            <a:solidFill>
              <a:srgbClr val="3B82F6"/>
            </a:solidFill>
            <a:ln>
              <a:noFill/>
            </a:ln>
          </p:spPr>
          <p:txBody>
            <a:bodyPr/>
            <a:lstStyle/>
            <a:p/>
          </p:txBody>
        </p:sp>
        <p:sp>
          <p:nvSpPr>
            <p:cNvPr id="1058" name="e"/>
            <p:cNvSpPr/>
            <p:nvPr/>
          </p:nvSpPr>
          <p:spPr>
            <a:xfrm>
              <a:off x="50800" y="52800"/>
              <a:ext cx="6400" cy="6400"/>
            </a:xfrm>
            <a:prstGeom prst="ellipse">
              <a:avLst/>
            </a:prstGeom>
            <a:noFill/>
            <a:ln w="7000">
              <a:solidFill>
                <a:srgbClr val="FFFFFF"/>
              </a:solidFill>
            </a:ln>
          </p:spPr>
          <p:txBody>
            <a:bodyPr/>
            <a:lstStyle/>
            <a:p/>
          </p:txBody>
        </p:sp>
        <p:sp>
          <p:nvSpPr>
            <p:cNvPr id="1059" name="e"/>
            <p:cNvSpPr/>
            <p:nvPr/>
          </p:nvSpPr>
          <p:spPr>
            <a:xfrm>
              <a:off x="52900" y="54900"/>
              <a:ext cx="2200" cy="2200"/>
            </a:xfrm>
            <a:prstGeom prst="ellipse">
              <a:avLst/>
            </a:prstGeom>
            <a:solidFill>
              <a:srgbClr val="3B82F6"/>
            </a:solidFill>
            <a:ln>
              <a:noFill/>
            </a:ln>
          </p:spPr>
          <p:txBody>
            <a:bodyPr/>
            <a:lstStyle/>
            <a:p/>
          </p:txBody>
        </p:sp>
        <p:sp>
          <p:nvSpPr>
            <p:cNvPr id="1060" name="e"/>
            <p:cNvSpPr/>
            <p:nvPr/>
          </p:nvSpPr>
          <p:spPr>
            <a:xfrm>
              <a:off x="70800" y="34800"/>
              <a:ext cx="6400" cy="6400"/>
            </a:xfrm>
            <a:prstGeom prst="ellipse">
              <a:avLst/>
            </a:prstGeom>
            <a:noFill/>
            <a:ln w="7000">
              <a:solidFill>
                <a:srgbClr val="FFFFFF"/>
              </a:solidFill>
            </a:ln>
          </p:spPr>
          <p:txBody>
            <a:bodyPr/>
            <a:lstStyle/>
            <a:p/>
          </p:txBody>
        </p:sp>
        <p:sp>
          <p:nvSpPr>
            <p:cNvPr id="1061" name="e"/>
            <p:cNvSpPr/>
            <p:nvPr/>
          </p:nvSpPr>
          <p:spPr>
            <a:xfrm>
              <a:off x="72900" y="36900"/>
              <a:ext cx="2200" cy="2200"/>
            </a:xfrm>
            <a:prstGeom prst="ellipse">
              <a:avLst/>
            </a:prstGeom>
            <a:solidFill>
              <a:srgbClr val="3B82F6"/>
            </a:solidFill>
            <a:ln>
              <a:noFill/>
            </a:ln>
          </p:spPr>
          <p:txBody>
            <a:bodyPr/>
            <a:lstStyle/>
            <a:p/>
          </p:txBody>
        </p:sp>
        <p:sp>
          <p:nvSpPr>
            <p:cNvPr id="1062" name="e"/>
            <p:cNvSpPr/>
            <p:nvPr/>
          </p:nvSpPr>
          <p:spPr>
            <a:xfrm>
              <a:off x="42800" y="70800"/>
              <a:ext cx="6400" cy="6400"/>
            </a:xfrm>
            <a:prstGeom prst="ellipse">
              <a:avLst/>
            </a:prstGeom>
            <a:noFill/>
            <a:ln w="7000">
              <a:solidFill>
                <a:srgbClr val="FFFFFF"/>
              </a:solidFill>
            </a:ln>
          </p:spPr>
          <p:txBody>
            <a:bodyPr/>
            <a:lstStyle/>
            <a:p/>
          </p:txBody>
        </p:sp>
        <p:sp>
          <p:nvSpPr>
            <p:cNvPr id="1063" name="e"/>
            <p:cNvSpPr/>
            <p:nvPr/>
          </p:nvSpPr>
          <p:spPr>
            <a:xfrm>
              <a:off x="44900" y="72900"/>
              <a:ext cx="2200" cy="2200"/>
            </a:xfrm>
            <a:prstGeom prst="ellipse">
              <a:avLst/>
            </a:prstGeom>
            <a:solidFill>
              <a:srgbClr val="3B82F6"/>
            </a:solidFill>
            <a:ln>
              <a:noFill/>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A"/>
          <p:cNvSpPr/>
          <p:nvPr/>
        </p:nvSpPr>
        <p:spPr>
          <a:xfrm>
            <a:off x="11631168" y="3035808"/>
            <a:ext cx="164592" cy="164592"/>
          </a:xfrm>
          <a:prstGeom prst="roundRect">
            <a:avLst/>
          </a:prstGeom>
          <a:solidFill>
            <a:srgbClr val="00C2D1"/>
          </a:solidFill>
          <a:ln>
            <a:noFill/>
          </a:ln>
        </p:spPr>
        <p:txBody>
          <a:bodyPr/>
          <a:lstStyle/>
          <a:p/>
        </p:txBody>
      </p:sp>
      <p:sp>
        <p:nvSpPr>
          <p:cNvPr id="20" name="dot"/>
          <p:cNvSpPr/>
          <p:nvPr/>
        </p:nvSpPr>
        <p:spPr>
          <a:xfrm>
            <a:off x="11658600" y="3419856"/>
            <a:ext cx="109728" cy="109728"/>
          </a:xfrm>
          <a:prstGeom prst="roundRect">
            <a:avLst/>
          </a:prstGeom>
          <a:noFill/>
          <a:ln w="12700">
            <a:solidFill>
              <a:srgbClr val="2A4563"/>
            </a:solidFill>
          </a:ln>
        </p:spPr>
        <p:txBody>
          <a:bodyPr/>
          <a:lstStyle/>
          <a:p/>
        </p:txBody>
      </p:sp>
      <p:sp>
        <p:nvSpPr>
          <p:cNvPr id="21" name="dot"/>
          <p:cNvSpPr/>
          <p:nvPr/>
        </p:nvSpPr>
        <p:spPr>
          <a:xfrm>
            <a:off x="11658600" y="3803904"/>
            <a:ext cx="109728" cy="109728"/>
          </a:xfrm>
          <a:prstGeom prst="roundRect">
            <a:avLst/>
          </a:prstGeom>
          <a:noFill/>
          <a:ln w="12700">
            <a:solidFill>
              <a:srgbClr val="2A4563"/>
            </a:solid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03 / 10</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1-REJA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Biometrik axborotni raqamlashtirish</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Siz barmog'ingizni ekranga qo'yganingizda, axborot tizimi uni to'g'ridan-to'g'ri rasm sifatida saqlamaydi.</a:t>
            </a:r>
          </a:p>
          <a:p>
            <a:pPr>
              <a:lnSpc>
                <a:spcPct val="110000"/>
              </a:lnSpc>
              <a:spcAft>
                <a:spcPts val="1100"/>
              </a:spcAft>
            </a:pPr>
            <a:r>
              <a:rPr lang="uz-UZ" sz="1600" dirty="0">
                <a:solidFill>
                  <a:srgbClr val="E2E8F0"/>
                </a:solidFill>
                <a:latin typeface="Times New Roman"/>
                <a:cs typeface="Times New Roman"/>
                <a:ea typeface="Times New Roman"/>
              </a:rPr>
              <a:t>- Shifrlash (Hashing): Topilgan kesishuv nuqtalari orasidagi masofa va burchaklar hisoblab chiqiladi. Bu geometrik ma'lumotlar murakkab shifr (Xesh kod - masalan, "A7F90B...") ko'rinishiga keltiriladi.</a:t>
            </a:r>
          </a:p>
          <a:p>
            <a:pPr>
              <a:lnSpc>
                <a:spcPct val="110000"/>
              </a:lnSpc>
              <a:spcAft>
                <a:spcPts val="1100"/>
              </a:spcAft>
            </a:pPr>
            <a:r>
              <a:rPr lang="uz-UZ" sz="1600" dirty="0">
                <a:solidFill>
                  <a:srgbClr val="E2E8F0"/>
                </a:solidFill>
                <a:latin typeface="Times New Roman"/>
                <a:cs typeface="Times New Roman"/>
                <a:ea typeface="Times New Roman"/>
              </a:rPr>
              <a:t>- Tekshirish: Telefonni ochishda joriy barmoq izidan olingan shifr, xotiradagi (Secure Enclave'dagi) shifr bilan solishtiriladi. Ikkisi mos kelsa, telefon ochiladi.</a:t>
            </a:r>
          </a:p>
        </p:txBody>
      </p:sp>
      <p:grpSp>
        <p:nvGrpSpPr>
          <p:cNvPr id="1083" name="illustration"/>
          <p:cNvGrpSpPr/>
          <p:nvPr/>
        </p:nvGrpSpPr>
        <p:grpSpPr>
          <a:xfrm>
            <a:off x="7635240" y="2011680"/>
            <a:ext cx="3749039" cy="4206240"/>
            <a:chOff x="0" y="0"/>
            <a:chExt cx="100000" cy="100000"/>
          </a:xfrm>
        </p:grpSpPr>
        <p:sp>
          <p:nvSpPr>
            <p:cNvPr id="1065"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066" name="l"/>
            <p:cNvCxnSpPr/>
            <p:nvPr/>
          </p:nvCxnSpPr>
          <p:spPr>
            <a:xfrm flipH="0" flipV="0">
              <a:off x="3000" y="7000"/>
              <a:ext cx="17000" cy="1"/>
            </a:xfrm>
            <a:prstGeom prst="line">
              <a:avLst/>
            </a:prstGeom>
            <a:ln w="19050" cap="rnd">
              <a:solidFill>
                <a:srgbClr val="00C2D1"/>
              </a:solidFill>
            </a:ln>
          </p:spPr>
        </p:cxnSp>
        <p:cxnSp>
          <p:nvCxnSpPr>
            <p:cNvPr id="1067" name="l"/>
            <p:cNvCxnSpPr/>
            <p:nvPr/>
          </p:nvCxnSpPr>
          <p:spPr>
            <a:xfrm flipH="0" flipV="0">
              <a:off x="3000" y="7000"/>
              <a:ext cx="1" cy="17000"/>
            </a:xfrm>
            <a:prstGeom prst="line">
              <a:avLst/>
            </a:prstGeom>
            <a:ln w="19050" cap="rnd">
              <a:solidFill>
                <a:srgbClr val="00C2D1"/>
              </a:solidFill>
            </a:ln>
          </p:spPr>
        </p:cxnSp>
        <p:cxnSp>
          <p:nvCxnSpPr>
            <p:cNvPr id="1068" name="l"/>
            <p:cNvCxnSpPr/>
            <p:nvPr/>
          </p:nvCxnSpPr>
          <p:spPr>
            <a:xfrm flipH="0" flipV="0">
              <a:off x="80000" y="93000"/>
              <a:ext cx="17000" cy="1"/>
            </a:xfrm>
            <a:prstGeom prst="line">
              <a:avLst/>
            </a:prstGeom>
            <a:ln w="19050" cap="rnd">
              <a:solidFill>
                <a:srgbClr val="3B82F6"/>
              </a:solidFill>
            </a:ln>
          </p:spPr>
        </p:cxnSp>
        <p:cxnSp>
          <p:nvCxnSpPr>
            <p:cNvPr id="1069" name="l"/>
            <p:cNvCxnSpPr/>
            <p:nvPr/>
          </p:nvCxnSpPr>
          <p:spPr>
            <a:xfrm flipH="0" flipV="0">
              <a:off x="97000" y="76000"/>
              <a:ext cx="1" cy="17000"/>
            </a:xfrm>
            <a:prstGeom prst="line">
              <a:avLst/>
            </a:prstGeom>
            <a:ln w="19050" cap="rnd">
              <a:solidFill>
                <a:srgbClr val="3B82F6"/>
              </a:solidFill>
            </a:ln>
          </p:spPr>
        </p:cxnSp>
        <p:sp>
          <p:nvSpPr>
            <p:cNvPr id="1070" name="f"/>
            <p:cNvSpPr/>
            <p:nvPr/>
          </p:nvSpPr>
          <p:spPr>
            <a:xfrm>
              <a:off x="0" y="0"/>
              <a:ext cx="13577" cy="13953"/>
            </a:xfrm>
            <a:custGeom>
              <a:avLst/>
              <a:gdLst/>
              <a:ahLst/>
              <a:cxnLst/>
              <a:rect l="0" t="0" r="13577" b="13953"/>
              <a:pathLst>
                <a:path w="13577" h="13953">
                  <a:moveTo>
                    <a:pt x="0" y="4582"/>
                  </a:moveTo>
                  <a:lnTo>
                    <a:pt x="556" y="3406"/>
                  </a:lnTo>
                  <a:lnTo>
                    <a:pt x="1321" y="2353"/>
                  </a:lnTo>
                  <a:lnTo>
                    <a:pt x="2268" y="1460"/>
                  </a:lnTo>
                  <a:lnTo>
                    <a:pt x="3363" y="758"/>
                  </a:lnTo>
                  <a:lnTo>
                    <a:pt x="4570" y="270"/>
                  </a:lnTo>
                  <a:lnTo>
                    <a:pt x="5846" y="15"/>
                  </a:lnTo>
                  <a:lnTo>
                    <a:pt x="7147" y="0"/>
                  </a:lnTo>
                  <a:lnTo>
                    <a:pt x="8428" y="225"/>
                  </a:lnTo>
                  <a:lnTo>
                    <a:pt x="9646" y="685"/>
                  </a:lnTo>
                  <a:lnTo>
                    <a:pt x="10757" y="1361"/>
                  </a:lnTo>
                  <a:lnTo>
                    <a:pt x="11725" y="2232"/>
                  </a:lnTo>
                  <a:lnTo>
                    <a:pt x="12514" y="3267"/>
                  </a:lnTo>
                  <a:lnTo>
                    <a:pt x="13098" y="4430"/>
                  </a:lnTo>
                  <a:lnTo>
                    <a:pt x="13456" y="5681"/>
                  </a:lnTo>
                  <a:lnTo>
                    <a:pt x="13577" y="6976"/>
                  </a:lnTo>
                  <a:lnTo>
                    <a:pt x="13456" y="8272"/>
                  </a:lnTo>
                  <a:lnTo>
                    <a:pt x="13098" y="9523"/>
                  </a:lnTo>
                  <a:lnTo>
                    <a:pt x="12514" y="10686"/>
                  </a:lnTo>
                  <a:lnTo>
                    <a:pt x="11725" y="11720"/>
                  </a:lnTo>
                  <a:lnTo>
                    <a:pt x="10757" y="12591"/>
                  </a:lnTo>
                  <a:lnTo>
                    <a:pt x="9646" y="13268"/>
                  </a:lnTo>
                  <a:lnTo>
                    <a:pt x="8428" y="13727"/>
                  </a:lnTo>
                  <a:lnTo>
                    <a:pt x="7147" y="13953"/>
                  </a:lnTo>
                  <a:lnTo>
                    <a:pt x="5846" y="13938"/>
                  </a:lnTo>
                  <a:lnTo>
                    <a:pt x="4570" y="13682"/>
                  </a:lnTo>
                  <a:lnTo>
                    <a:pt x="3363" y="13195"/>
                  </a:lnTo>
                  <a:lnTo>
                    <a:pt x="2268" y="12492"/>
                  </a:lnTo>
                  <a:lnTo>
                    <a:pt x="1321" y="11599"/>
                  </a:lnTo>
                  <a:lnTo>
                    <a:pt x="556" y="10547"/>
                  </a:lnTo>
                  <a:lnTo>
                    <a:pt x="0" y="9370"/>
                  </a:lnTo>
                </a:path>
              </a:pathLst>
            </a:custGeom>
            <a:noFill/>
            <a:ln w="3800" cap="rnd">
              <a:solidFill>
                <a:srgbClr val="00C2D1"/>
              </a:solidFill>
              <a:round/>
            </a:ln>
          </p:spPr>
          <p:txBody>
            <a:bodyPr/>
            <a:lstStyle/>
            <a:p/>
          </p:txBody>
        </p:sp>
        <p:sp>
          <p:nvSpPr>
            <p:cNvPr id="1071" name="f"/>
            <p:cNvSpPr/>
            <p:nvPr/>
          </p:nvSpPr>
          <p:spPr>
            <a:xfrm>
              <a:off x="0" y="0"/>
              <a:ext cx="25216" cy="25913"/>
            </a:xfrm>
            <a:custGeom>
              <a:avLst/>
              <a:gdLst/>
              <a:ahLst/>
              <a:cxnLst/>
              <a:rect l="0" t="0" r="25216" b="25913"/>
              <a:pathLst>
                <a:path w="25216" h="25913">
                  <a:moveTo>
                    <a:pt x="0" y="8510"/>
                  </a:moveTo>
                  <a:lnTo>
                    <a:pt x="1034" y="6326"/>
                  </a:lnTo>
                  <a:lnTo>
                    <a:pt x="2454" y="4371"/>
                  </a:lnTo>
                  <a:lnTo>
                    <a:pt x="4212" y="2712"/>
                  </a:lnTo>
                  <a:lnTo>
                    <a:pt x="6246" y="1408"/>
                  </a:lnTo>
                  <a:lnTo>
                    <a:pt x="8487" y="503"/>
                  </a:lnTo>
                  <a:lnTo>
                    <a:pt x="10857" y="28"/>
                  </a:lnTo>
                  <a:lnTo>
                    <a:pt x="13273" y="0"/>
                  </a:lnTo>
                  <a:lnTo>
                    <a:pt x="15653" y="419"/>
                  </a:lnTo>
                  <a:lnTo>
                    <a:pt x="17914" y="1272"/>
                  </a:lnTo>
                  <a:lnTo>
                    <a:pt x="19979" y="2529"/>
                  </a:lnTo>
                  <a:lnTo>
                    <a:pt x="21775" y="4146"/>
                  </a:lnTo>
                  <a:lnTo>
                    <a:pt x="23240" y="6067"/>
                  </a:lnTo>
                  <a:lnTo>
                    <a:pt x="24325" y="8227"/>
                  </a:lnTo>
                  <a:lnTo>
                    <a:pt x="24991" y="10550"/>
                  </a:lnTo>
                  <a:lnTo>
                    <a:pt x="25216" y="12956"/>
                  </a:lnTo>
                  <a:lnTo>
                    <a:pt x="24991" y="15363"/>
                  </a:lnTo>
                  <a:lnTo>
                    <a:pt x="24325" y="17686"/>
                  </a:lnTo>
                  <a:lnTo>
                    <a:pt x="23240" y="19845"/>
                  </a:lnTo>
                  <a:lnTo>
                    <a:pt x="21775" y="21767"/>
                  </a:lnTo>
                  <a:lnTo>
                    <a:pt x="19979" y="23384"/>
                  </a:lnTo>
                  <a:lnTo>
                    <a:pt x="17914" y="24641"/>
                  </a:lnTo>
                  <a:lnTo>
                    <a:pt x="15653" y="25494"/>
                  </a:lnTo>
                  <a:lnTo>
                    <a:pt x="13273" y="25913"/>
                  </a:lnTo>
                  <a:lnTo>
                    <a:pt x="10857" y="25885"/>
                  </a:lnTo>
                  <a:lnTo>
                    <a:pt x="8487" y="25410"/>
                  </a:lnTo>
                  <a:lnTo>
                    <a:pt x="6246" y="24505"/>
                  </a:lnTo>
                  <a:lnTo>
                    <a:pt x="4212" y="23201"/>
                  </a:lnTo>
                  <a:lnTo>
                    <a:pt x="2454" y="21542"/>
                  </a:lnTo>
                  <a:lnTo>
                    <a:pt x="1034" y="19587"/>
                  </a:lnTo>
                  <a:lnTo>
                    <a:pt x="0" y="17403"/>
                  </a:lnTo>
                </a:path>
              </a:pathLst>
            </a:custGeom>
            <a:noFill/>
            <a:ln w="3800" cap="rnd">
              <a:solidFill>
                <a:srgbClr val="00C2D1"/>
              </a:solidFill>
              <a:round/>
            </a:ln>
          </p:spPr>
          <p:txBody>
            <a:bodyPr/>
            <a:lstStyle/>
            <a:p/>
          </p:txBody>
        </p:sp>
        <p:sp>
          <p:nvSpPr>
            <p:cNvPr id="1072" name="f"/>
            <p:cNvSpPr/>
            <p:nvPr/>
          </p:nvSpPr>
          <p:spPr>
            <a:xfrm>
              <a:off x="0" y="0"/>
              <a:ext cx="36854" cy="37874"/>
            </a:xfrm>
            <a:custGeom>
              <a:avLst/>
              <a:gdLst/>
              <a:ahLst/>
              <a:cxnLst/>
              <a:rect l="0" t="0" r="36854" b="37874"/>
              <a:pathLst>
                <a:path w="36854" h="37874">
                  <a:moveTo>
                    <a:pt x="0" y="12438"/>
                  </a:moveTo>
                  <a:lnTo>
                    <a:pt x="1511" y="9246"/>
                  </a:lnTo>
                  <a:lnTo>
                    <a:pt x="3587" y="6388"/>
                  </a:lnTo>
                  <a:lnTo>
                    <a:pt x="6156" y="3964"/>
                  </a:lnTo>
                  <a:lnTo>
                    <a:pt x="9129" y="2058"/>
                  </a:lnTo>
                  <a:lnTo>
                    <a:pt x="12404" y="735"/>
                  </a:lnTo>
                  <a:lnTo>
                    <a:pt x="15868" y="41"/>
                  </a:lnTo>
                  <a:lnTo>
                    <a:pt x="19399" y="0"/>
                  </a:lnTo>
                  <a:lnTo>
                    <a:pt x="22878" y="613"/>
                  </a:lnTo>
                  <a:lnTo>
                    <a:pt x="26183" y="1859"/>
                  </a:lnTo>
                  <a:lnTo>
                    <a:pt x="29200" y="3696"/>
                  </a:lnTo>
                  <a:lnTo>
                    <a:pt x="31825" y="6060"/>
                  </a:lnTo>
                  <a:lnTo>
                    <a:pt x="33967" y="8868"/>
                  </a:lnTo>
                  <a:lnTo>
                    <a:pt x="35552" y="12024"/>
                  </a:lnTo>
                  <a:lnTo>
                    <a:pt x="36525" y="15420"/>
                  </a:lnTo>
                  <a:lnTo>
                    <a:pt x="36854" y="18937"/>
                  </a:lnTo>
                  <a:lnTo>
                    <a:pt x="36525" y="22453"/>
                  </a:lnTo>
                  <a:lnTo>
                    <a:pt x="35552" y="25849"/>
                  </a:lnTo>
                  <a:lnTo>
                    <a:pt x="33967" y="29005"/>
                  </a:lnTo>
                  <a:lnTo>
                    <a:pt x="31825" y="31813"/>
                  </a:lnTo>
                  <a:lnTo>
                    <a:pt x="29200" y="34177"/>
                  </a:lnTo>
                  <a:lnTo>
                    <a:pt x="26183" y="36014"/>
                  </a:lnTo>
                  <a:lnTo>
                    <a:pt x="22878" y="37260"/>
                  </a:lnTo>
                  <a:lnTo>
                    <a:pt x="19399" y="37874"/>
                  </a:lnTo>
                  <a:lnTo>
                    <a:pt x="15868" y="37832"/>
                  </a:lnTo>
                  <a:lnTo>
                    <a:pt x="12404" y="37138"/>
                  </a:lnTo>
                  <a:lnTo>
                    <a:pt x="9129" y="35815"/>
                  </a:lnTo>
                  <a:lnTo>
                    <a:pt x="6156" y="33909"/>
                  </a:lnTo>
                  <a:lnTo>
                    <a:pt x="3587" y="31485"/>
                  </a:lnTo>
                  <a:lnTo>
                    <a:pt x="1511" y="28627"/>
                  </a:lnTo>
                  <a:lnTo>
                    <a:pt x="0" y="25435"/>
                  </a:lnTo>
                </a:path>
              </a:pathLst>
            </a:custGeom>
            <a:noFill/>
            <a:ln w="3800" cap="rnd">
              <a:solidFill>
                <a:srgbClr val="00C2D1"/>
              </a:solidFill>
              <a:round/>
            </a:ln>
          </p:spPr>
          <p:txBody>
            <a:bodyPr/>
            <a:lstStyle/>
            <a:p/>
          </p:txBody>
        </p:sp>
        <p:sp>
          <p:nvSpPr>
            <p:cNvPr id="1073" name="f"/>
            <p:cNvSpPr/>
            <p:nvPr/>
          </p:nvSpPr>
          <p:spPr>
            <a:xfrm>
              <a:off x="0" y="0"/>
              <a:ext cx="48492" cy="49834"/>
            </a:xfrm>
            <a:custGeom>
              <a:avLst/>
              <a:gdLst/>
              <a:ahLst/>
              <a:cxnLst/>
              <a:rect l="0" t="0" r="48492" b="49834"/>
              <a:pathLst>
                <a:path w="48492" h="49834">
                  <a:moveTo>
                    <a:pt x="0" y="16366"/>
                  </a:moveTo>
                  <a:lnTo>
                    <a:pt x="1988" y="12166"/>
                  </a:lnTo>
                  <a:lnTo>
                    <a:pt x="4720" y="8406"/>
                  </a:lnTo>
                  <a:lnTo>
                    <a:pt x="8100" y="5216"/>
                  </a:lnTo>
                  <a:lnTo>
                    <a:pt x="12013" y="2708"/>
                  </a:lnTo>
                  <a:lnTo>
                    <a:pt x="16322" y="967"/>
                  </a:lnTo>
                  <a:lnTo>
                    <a:pt x="20879" y="54"/>
                  </a:lnTo>
                  <a:lnTo>
                    <a:pt x="25526" y="0"/>
                  </a:lnTo>
                  <a:lnTo>
                    <a:pt x="30103" y="807"/>
                  </a:lnTo>
                  <a:lnTo>
                    <a:pt x="34451" y="2447"/>
                  </a:lnTo>
                  <a:lnTo>
                    <a:pt x="38421" y="4864"/>
                  </a:lnTo>
                  <a:lnTo>
                    <a:pt x="41875" y="7973"/>
                  </a:lnTo>
                  <a:lnTo>
                    <a:pt x="44693" y="11669"/>
                  </a:lnTo>
                  <a:lnTo>
                    <a:pt x="46779" y="15822"/>
                  </a:lnTo>
                  <a:lnTo>
                    <a:pt x="48060" y="20289"/>
                  </a:lnTo>
                  <a:lnTo>
                    <a:pt x="48492" y="24917"/>
                  </a:lnTo>
                  <a:lnTo>
                    <a:pt x="48060" y="29544"/>
                  </a:lnTo>
                  <a:lnTo>
                    <a:pt x="46779" y="34011"/>
                  </a:lnTo>
                  <a:lnTo>
                    <a:pt x="44693" y="38165"/>
                  </a:lnTo>
                  <a:lnTo>
                    <a:pt x="41875" y="41860"/>
                  </a:lnTo>
                  <a:lnTo>
                    <a:pt x="38421" y="44970"/>
                  </a:lnTo>
                  <a:lnTo>
                    <a:pt x="34451" y="47386"/>
                  </a:lnTo>
                  <a:lnTo>
                    <a:pt x="30103" y="49027"/>
                  </a:lnTo>
                  <a:lnTo>
                    <a:pt x="25526" y="49834"/>
                  </a:lnTo>
                  <a:lnTo>
                    <a:pt x="20879" y="49780"/>
                  </a:lnTo>
                  <a:lnTo>
                    <a:pt x="16322" y="48866"/>
                  </a:lnTo>
                  <a:lnTo>
                    <a:pt x="12013" y="47125"/>
                  </a:lnTo>
                  <a:lnTo>
                    <a:pt x="8100" y="44617"/>
                  </a:lnTo>
                  <a:lnTo>
                    <a:pt x="4720" y="41428"/>
                  </a:lnTo>
                  <a:lnTo>
                    <a:pt x="1988" y="37668"/>
                  </a:lnTo>
                  <a:lnTo>
                    <a:pt x="0" y="33467"/>
                  </a:lnTo>
                </a:path>
              </a:pathLst>
            </a:custGeom>
            <a:noFill/>
            <a:ln w="3800" cap="rnd">
              <a:solidFill>
                <a:srgbClr val="00C2D1"/>
              </a:solidFill>
              <a:round/>
            </a:ln>
          </p:spPr>
          <p:txBody>
            <a:bodyPr/>
            <a:lstStyle/>
            <a:p/>
          </p:txBody>
        </p:sp>
        <p:sp>
          <p:nvSpPr>
            <p:cNvPr id="1074" name="f"/>
            <p:cNvSpPr/>
            <p:nvPr/>
          </p:nvSpPr>
          <p:spPr>
            <a:xfrm>
              <a:off x="0" y="0"/>
              <a:ext cx="60130" cy="61794"/>
            </a:xfrm>
            <a:custGeom>
              <a:avLst/>
              <a:gdLst/>
              <a:ahLst/>
              <a:cxnLst/>
              <a:rect l="0" t="0" r="60130" b="61794"/>
              <a:pathLst>
                <a:path w="60130" h="61794">
                  <a:moveTo>
                    <a:pt x="0" y="20294"/>
                  </a:moveTo>
                  <a:lnTo>
                    <a:pt x="2465" y="15085"/>
                  </a:lnTo>
                  <a:lnTo>
                    <a:pt x="5853" y="10423"/>
                  </a:lnTo>
                  <a:lnTo>
                    <a:pt x="10044" y="6468"/>
                  </a:lnTo>
                  <a:lnTo>
                    <a:pt x="14896" y="3358"/>
                  </a:lnTo>
                  <a:lnTo>
                    <a:pt x="20239" y="1199"/>
                  </a:lnTo>
                  <a:lnTo>
                    <a:pt x="25890" y="67"/>
                  </a:lnTo>
                  <a:lnTo>
                    <a:pt x="31652" y="0"/>
                  </a:lnTo>
                  <a:lnTo>
                    <a:pt x="37327" y="1000"/>
                  </a:lnTo>
                  <a:lnTo>
                    <a:pt x="42719" y="3034"/>
                  </a:lnTo>
                  <a:lnTo>
                    <a:pt x="47642" y="6031"/>
                  </a:lnTo>
                  <a:lnTo>
                    <a:pt x="51925" y="9887"/>
                  </a:lnTo>
                  <a:lnTo>
                    <a:pt x="55419" y="14469"/>
                  </a:lnTo>
                  <a:lnTo>
                    <a:pt x="58006" y="19619"/>
                  </a:lnTo>
                  <a:lnTo>
                    <a:pt x="59594" y="25159"/>
                  </a:lnTo>
                  <a:lnTo>
                    <a:pt x="60130" y="30897"/>
                  </a:lnTo>
                  <a:lnTo>
                    <a:pt x="59594" y="36635"/>
                  </a:lnTo>
                  <a:lnTo>
                    <a:pt x="58006" y="42174"/>
                  </a:lnTo>
                  <a:lnTo>
                    <a:pt x="55419" y="47324"/>
                  </a:lnTo>
                  <a:lnTo>
                    <a:pt x="51925" y="51906"/>
                  </a:lnTo>
                  <a:lnTo>
                    <a:pt x="47642" y="55763"/>
                  </a:lnTo>
                  <a:lnTo>
                    <a:pt x="42719" y="58759"/>
                  </a:lnTo>
                  <a:lnTo>
                    <a:pt x="37327" y="60793"/>
                  </a:lnTo>
                  <a:lnTo>
                    <a:pt x="31652" y="61794"/>
                  </a:lnTo>
                  <a:lnTo>
                    <a:pt x="25890" y="61727"/>
                  </a:lnTo>
                  <a:lnTo>
                    <a:pt x="20239" y="60594"/>
                  </a:lnTo>
                  <a:lnTo>
                    <a:pt x="14896" y="58436"/>
                  </a:lnTo>
                  <a:lnTo>
                    <a:pt x="10044" y="55325"/>
                  </a:lnTo>
                  <a:lnTo>
                    <a:pt x="5853" y="51370"/>
                  </a:lnTo>
                  <a:lnTo>
                    <a:pt x="2465" y="46708"/>
                  </a:lnTo>
                  <a:lnTo>
                    <a:pt x="0" y="41499"/>
                  </a:lnTo>
                </a:path>
              </a:pathLst>
            </a:custGeom>
            <a:noFill/>
            <a:ln w="3800" cap="rnd">
              <a:solidFill>
                <a:srgbClr val="00C2D1"/>
              </a:solidFill>
              <a:round/>
            </a:ln>
          </p:spPr>
          <p:txBody>
            <a:bodyPr/>
            <a:lstStyle/>
            <a:p/>
          </p:txBody>
        </p:sp>
        <p:sp>
          <p:nvSpPr>
            <p:cNvPr id="1075" name="f"/>
            <p:cNvSpPr/>
            <p:nvPr/>
          </p:nvSpPr>
          <p:spPr>
            <a:xfrm>
              <a:off x="0" y="0"/>
              <a:ext cx="12000" cy="1"/>
            </a:xfrm>
            <a:custGeom>
              <a:avLst/>
              <a:gdLst/>
              <a:ahLst/>
              <a:cxnLst/>
              <a:rect l="0" t="0" r="12000" b="1"/>
              <a:pathLst>
                <a:path w="12000" h="1">
                  <a:moveTo>
                    <a:pt x="0" y="0"/>
                  </a:moveTo>
                  <a:lnTo>
                    <a:pt x="12000" y="0"/>
                  </a:lnTo>
                </a:path>
              </a:pathLst>
            </a:custGeom>
            <a:noFill/>
            <a:ln w="6000" cap="rnd">
              <a:solidFill>
                <a:srgbClr val="FFFFFF"/>
              </a:solidFill>
              <a:round/>
            </a:ln>
          </p:spPr>
          <p:txBody>
            <a:bodyPr/>
            <a:lstStyle/>
            <a:p/>
          </p:txBody>
        </p:sp>
        <p:sp>
          <p:nvSpPr>
            <p:cNvPr id="1076" name="f"/>
            <p:cNvSpPr/>
            <p:nvPr/>
          </p:nvSpPr>
          <p:spPr>
            <a:xfrm>
              <a:off x="0" y="0"/>
              <a:ext cx="4000" cy="8000"/>
            </a:xfrm>
            <a:custGeom>
              <a:avLst/>
              <a:gdLst/>
              <a:ahLst/>
              <a:cxnLst/>
              <a:rect l="0" t="0" r="4000" b="8000"/>
              <a:pathLst>
                <a:path w="4000" h="8000">
                  <a:moveTo>
                    <a:pt x="0" y="0"/>
                  </a:moveTo>
                  <a:lnTo>
                    <a:pt x="4000" y="4000"/>
                  </a:lnTo>
                  <a:lnTo>
                    <a:pt x="0" y="8000"/>
                  </a:lnTo>
                </a:path>
              </a:pathLst>
            </a:custGeom>
            <a:noFill/>
            <a:ln w="6000" cap="rnd">
              <a:solidFill>
                <a:srgbClr val="FFFFFF"/>
              </a:solidFill>
              <a:round/>
            </a:ln>
          </p:spPr>
          <p:txBody>
            <a:bodyPr/>
            <a:lstStyle/>
            <a:p/>
          </p:txBody>
        </p:sp>
        <p:sp>
          <p:nvSpPr>
            <p:cNvPr id="1077" name="t"/>
            <p:cNvSpPr txBox="1"/>
            <p:nvPr/>
          </p:nvSpPr>
          <p:spPr>
            <a:xfrm>
              <a:off x="64000" y="20000"/>
              <a:ext cx="32000" cy="11000"/>
            </a:xfrm>
            <a:prstGeom prst="rect">
              <a:avLst/>
            </a:prstGeom>
            <a:noFill/>
          </p:spPr>
          <p:txBody>
            <a:bodyPr wrap="none" anchor="ctr"/>
            <a:lstStyle/>
            <a:p>
              <a:pPr algn="ctr"/>
              <a:r>
                <a:rPr lang="uz-UZ" sz="1400" b="1" dirty="0">
                  <a:solidFill>
                    <a:srgbClr val="3B82F6"/>
                  </a:solidFill>
                  <a:latin typeface="Times New Roman"/>
                  <a:cs typeface="Times New Roman"/>
                  <a:ea typeface="Times New Roman"/>
                </a:rPr>
                <a:t>1011</a:t>
              </a:r>
            </a:p>
          </p:txBody>
        </p:sp>
        <p:sp>
          <p:nvSpPr>
            <p:cNvPr id="1078" name="t"/>
            <p:cNvSpPr txBox="1"/>
            <p:nvPr/>
          </p:nvSpPr>
          <p:spPr>
            <a:xfrm>
              <a:off x="64000" y="32000"/>
              <a:ext cx="32000" cy="11000"/>
            </a:xfrm>
            <a:prstGeom prst="rect">
              <a:avLst/>
            </a:prstGeom>
            <a:noFill/>
          </p:spPr>
          <p:txBody>
            <a:bodyPr wrap="none" anchor="ctr"/>
            <a:lstStyle/>
            <a:p>
              <a:pPr algn="ctr"/>
              <a:r>
                <a:rPr lang="uz-UZ" sz="1400" b="1" dirty="0">
                  <a:solidFill>
                    <a:srgbClr val="00C2D1"/>
                  </a:solidFill>
                  <a:latin typeface="Times New Roman"/>
                  <a:cs typeface="Times New Roman"/>
                  <a:ea typeface="Times New Roman"/>
                </a:rPr>
                <a:t>0110</a:t>
              </a:r>
            </a:p>
          </p:txBody>
        </p:sp>
        <p:sp>
          <p:nvSpPr>
            <p:cNvPr id="1079" name="t"/>
            <p:cNvSpPr txBox="1"/>
            <p:nvPr/>
          </p:nvSpPr>
          <p:spPr>
            <a:xfrm>
              <a:off x="64000" y="44000"/>
              <a:ext cx="32000" cy="11000"/>
            </a:xfrm>
            <a:prstGeom prst="rect">
              <a:avLst/>
            </a:prstGeom>
            <a:noFill/>
          </p:spPr>
          <p:txBody>
            <a:bodyPr wrap="none" anchor="ctr"/>
            <a:lstStyle/>
            <a:p>
              <a:pPr algn="ctr"/>
              <a:r>
                <a:rPr lang="uz-UZ" sz="1400" b="1" dirty="0">
                  <a:solidFill>
                    <a:srgbClr val="3B82F6"/>
                  </a:solidFill>
                  <a:latin typeface="Times New Roman"/>
                  <a:cs typeface="Times New Roman"/>
                  <a:ea typeface="Times New Roman"/>
                </a:rPr>
                <a:t>1001</a:t>
              </a:r>
            </a:p>
          </p:txBody>
        </p:sp>
        <p:sp>
          <p:nvSpPr>
            <p:cNvPr id="1080" name="t"/>
            <p:cNvSpPr txBox="1"/>
            <p:nvPr/>
          </p:nvSpPr>
          <p:spPr>
            <a:xfrm>
              <a:off x="64000" y="56000"/>
              <a:ext cx="32000" cy="11000"/>
            </a:xfrm>
            <a:prstGeom prst="rect">
              <a:avLst/>
            </a:prstGeom>
            <a:noFill/>
          </p:spPr>
          <p:txBody>
            <a:bodyPr wrap="none" anchor="ctr"/>
            <a:lstStyle/>
            <a:p>
              <a:pPr algn="ctr"/>
              <a:r>
                <a:rPr lang="uz-UZ" sz="1400" b="1" dirty="0">
                  <a:solidFill>
                    <a:srgbClr val="00C2D1"/>
                  </a:solidFill>
                  <a:latin typeface="Times New Roman"/>
                  <a:cs typeface="Times New Roman"/>
                  <a:ea typeface="Times New Roman"/>
                </a:rPr>
                <a:t>0101</a:t>
              </a:r>
            </a:p>
          </p:txBody>
        </p:sp>
        <p:sp>
          <p:nvSpPr>
            <p:cNvPr id="1081" name="t"/>
            <p:cNvSpPr txBox="1"/>
            <p:nvPr/>
          </p:nvSpPr>
          <p:spPr>
            <a:xfrm>
              <a:off x="64000" y="68000"/>
              <a:ext cx="32000" cy="11000"/>
            </a:xfrm>
            <a:prstGeom prst="rect">
              <a:avLst/>
            </a:prstGeom>
            <a:noFill/>
          </p:spPr>
          <p:txBody>
            <a:bodyPr wrap="none" anchor="ctr"/>
            <a:lstStyle/>
            <a:p>
              <a:pPr algn="ctr"/>
              <a:r>
                <a:rPr lang="uz-UZ" sz="1400" b="1" dirty="0">
                  <a:solidFill>
                    <a:srgbClr val="3B82F6"/>
                  </a:solidFill>
                  <a:latin typeface="Times New Roman"/>
                  <a:cs typeface="Times New Roman"/>
                  <a:ea typeface="Times New Roman"/>
                </a:rPr>
                <a:t>1100</a:t>
              </a:r>
            </a:p>
          </p:txBody>
        </p:sp>
        <p:sp>
          <p:nvSpPr>
            <p:cNvPr id="1082" name="t"/>
            <p:cNvSpPr txBox="1"/>
            <p:nvPr/>
          </p:nvSpPr>
          <p:spPr>
            <a:xfrm>
              <a:off x="16000" y="86000"/>
              <a:ext cx="68000" cy="10000"/>
            </a:xfrm>
            <a:prstGeom prst="rect">
              <a:avLst/>
            </a:prstGeom>
            <a:noFill/>
          </p:spPr>
          <p:txBody>
            <a:bodyPr wrap="none" anchor="ctr"/>
            <a:lstStyle/>
            <a:p>
              <a:pPr algn="ctr"/>
              <a:r>
                <a:rPr lang="uz-UZ" sz="1300" b="1" dirty="0">
                  <a:solidFill>
                    <a:srgbClr val="FFFFFF"/>
                  </a:solidFill>
                  <a:latin typeface="Times New Roman"/>
                  <a:cs typeface="Times New Roman"/>
                  <a:ea typeface="Times New Roman"/>
                </a:rPr>
                <a:t>SHA: A7F90B...</a:t>
              </a:r>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A"/>
          <p:cNvSpPr/>
          <p:nvPr/>
        </p:nvSpPr>
        <p:spPr>
          <a:xfrm>
            <a:off x="11631168" y="3035808"/>
            <a:ext cx="164592" cy="164592"/>
          </a:xfrm>
          <a:prstGeom prst="roundRect">
            <a:avLst/>
          </a:prstGeom>
          <a:solidFill>
            <a:srgbClr val="00C2D1"/>
          </a:solidFill>
          <a:ln>
            <a:noFill/>
          </a:ln>
        </p:spPr>
        <p:txBody>
          <a:bodyPr/>
          <a:lstStyle/>
          <a:p/>
        </p:txBody>
      </p:sp>
      <p:sp>
        <p:nvSpPr>
          <p:cNvPr id="20" name="dot"/>
          <p:cNvSpPr/>
          <p:nvPr/>
        </p:nvSpPr>
        <p:spPr>
          <a:xfrm>
            <a:off x="11658600" y="3419856"/>
            <a:ext cx="109728" cy="109728"/>
          </a:xfrm>
          <a:prstGeom prst="roundRect">
            <a:avLst/>
          </a:prstGeom>
          <a:noFill/>
          <a:ln w="12700">
            <a:solidFill>
              <a:srgbClr val="2A4563"/>
            </a:solidFill>
          </a:ln>
        </p:spPr>
        <p:txBody>
          <a:bodyPr/>
          <a:lstStyle/>
          <a:p/>
        </p:txBody>
      </p:sp>
      <p:sp>
        <p:nvSpPr>
          <p:cNvPr id="21" name="dot"/>
          <p:cNvSpPr/>
          <p:nvPr/>
        </p:nvSpPr>
        <p:spPr>
          <a:xfrm>
            <a:off x="11658600" y="3803904"/>
            <a:ext cx="109728" cy="109728"/>
          </a:xfrm>
          <a:prstGeom prst="roundRect">
            <a:avLst/>
          </a:prstGeom>
          <a:noFill/>
          <a:ln w="12700">
            <a:solidFill>
              <a:srgbClr val="2A4563"/>
            </a:solid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04 / 10</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2-REJA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2. Optik skanerlar: Yorug'lik fizikasi</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Optik skanerlar qadimiyroq, ammo juda keng tarqalgan texnologiya bo'lib, ular asosan yorug'lik fizikasi yordamida ishlaydi.</a:t>
            </a:r>
          </a:p>
          <a:p>
            <a:pPr>
              <a:lnSpc>
                <a:spcPct val="110000"/>
              </a:lnSpc>
              <a:spcAft>
                <a:spcPts val="1100"/>
              </a:spcAft>
            </a:pPr>
            <a:r>
              <a:rPr lang="uz-UZ" sz="1600" dirty="0">
                <a:solidFill>
                  <a:srgbClr val="E2E8F0"/>
                </a:solidFill>
                <a:latin typeface="Times New Roman"/>
                <a:cs typeface="Times New Roman"/>
                <a:ea typeface="Times New Roman"/>
              </a:rPr>
              <a:t>- Chaqnash (Illumination): Barmog'ingizni ekranga yoki tugmaga qo'yganingizda, ostki qismdan kuchli yorug'lik (LED) sochiladi. Bu yorug'lik barmoq izini to'liq yoritib beradi.</a:t>
            </a:r>
          </a:p>
          <a:p>
            <a:pPr>
              <a:lnSpc>
                <a:spcPct val="110000"/>
              </a:lnSpc>
              <a:spcAft>
                <a:spcPts val="1100"/>
              </a:spcAft>
            </a:pPr>
            <a:r>
              <a:rPr lang="uz-UZ" sz="1600" dirty="0">
                <a:solidFill>
                  <a:srgbClr val="E2E8F0"/>
                </a:solidFill>
                <a:latin typeface="Times New Roman"/>
                <a:cs typeface="Times New Roman"/>
                <a:ea typeface="Times New Roman"/>
              </a:rPr>
              <a:t>- To'liq ichki qaytish: Barmoq terisi yorug'likni qaytaradi, bo'shliqlar (chuqurliklar) esa qorong'i bo'lib qoladi.</a:t>
            </a:r>
          </a:p>
        </p:txBody>
      </p:sp>
      <p:grpSp>
        <p:nvGrpSpPr>
          <p:cNvPr id="1099" name="illustration"/>
          <p:cNvGrpSpPr/>
          <p:nvPr/>
        </p:nvGrpSpPr>
        <p:grpSpPr>
          <a:xfrm>
            <a:off x="7635240" y="2011680"/>
            <a:ext cx="3749039" cy="4206240"/>
            <a:chOff x="0" y="0"/>
            <a:chExt cx="100000" cy="100000"/>
          </a:xfrm>
        </p:grpSpPr>
        <p:sp>
          <p:nvSpPr>
            <p:cNvPr id="1084"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085" name="l"/>
            <p:cNvCxnSpPr/>
            <p:nvPr/>
          </p:nvCxnSpPr>
          <p:spPr>
            <a:xfrm flipH="0" flipV="0">
              <a:off x="3000" y="7000"/>
              <a:ext cx="17000" cy="1"/>
            </a:xfrm>
            <a:prstGeom prst="line">
              <a:avLst/>
            </a:prstGeom>
            <a:ln w="19050" cap="rnd">
              <a:solidFill>
                <a:srgbClr val="00C2D1"/>
              </a:solidFill>
            </a:ln>
          </p:spPr>
        </p:cxnSp>
        <p:cxnSp>
          <p:nvCxnSpPr>
            <p:cNvPr id="1086" name="l"/>
            <p:cNvCxnSpPr/>
            <p:nvPr/>
          </p:nvCxnSpPr>
          <p:spPr>
            <a:xfrm flipH="0" flipV="0">
              <a:off x="3000" y="7000"/>
              <a:ext cx="1" cy="17000"/>
            </a:xfrm>
            <a:prstGeom prst="line">
              <a:avLst/>
            </a:prstGeom>
            <a:ln w="19050" cap="rnd">
              <a:solidFill>
                <a:srgbClr val="00C2D1"/>
              </a:solidFill>
            </a:ln>
          </p:spPr>
        </p:cxnSp>
        <p:cxnSp>
          <p:nvCxnSpPr>
            <p:cNvPr id="1087" name="l"/>
            <p:cNvCxnSpPr/>
            <p:nvPr/>
          </p:nvCxnSpPr>
          <p:spPr>
            <a:xfrm flipH="0" flipV="0">
              <a:off x="80000" y="93000"/>
              <a:ext cx="17000" cy="1"/>
            </a:xfrm>
            <a:prstGeom prst="line">
              <a:avLst/>
            </a:prstGeom>
            <a:ln w="19050" cap="rnd">
              <a:solidFill>
                <a:srgbClr val="3B82F6"/>
              </a:solidFill>
            </a:ln>
          </p:spPr>
        </p:cxnSp>
        <p:cxnSp>
          <p:nvCxnSpPr>
            <p:cNvPr id="1088" name="l"/>
            <p:cNvCxnSpPr/>
            <p:nvPr/>
          </p:nvCxnSpPr>
          <p:spPr>
            <a:xfrm flipH="0" flipV="0">
              <a:off x="97000" y="76000"/>
              <a:ext cx="1" cy="17000"/>
            </a:xfrm>
            <a:prstGeom prst="line">
              <a:avLst/>
            </a:prstGeom>
            <a:ln w="19050" cap="rnd">
              <a:solidFill>
                <a:srgbClr val="3B82F6"/>
              </a:solidFill>
            </a:ln>
          </p:spPr>
        </p:cxnSp>
        <p:sp>
          <p:nvSpPr>
            <p:cNvPr id="1089" name="e"/>
            <p:cNvSpPr/>
            <p:nvPr/>
          </p:nvSpPr>
          <p:spPr>
            <a:xfrm>
              <a:off x="17000" y="77000"/>
              <a:ext cx="10000" cy="10000"/>
            </a:xfrm>
            <a:prstGeom prst="ellipse">
              <a:avLst/>
            </a:prstGeom>
            <a:solidFill>
              <a:srgbClr val="00C2D1"/>
            </a:solidFill>
            <a:ln>
              <a:noFill/>
            </a:ln>
          </p:spPr>
          <p:txBody>
            <a:bodyPr/>
            <a:lstStyle/>
            <a:p/>
          </p:txBody>
        </p:sp>
        <p:cxnSp>
          <p:nvCxnSpPr>
            <p:cNvPr id="1090" name="l"/>
            <p:cNvCxnSpPr/>
            <p:nvPr/>
          </p:nvCxnSpPr>
          <p:spPr>
            <a:xfrm flipH="0" flipV="1">
              <a:off x="22000" y="24000"/>
              <a:ext cx="23000" cy="58000"/>
            </a:xfrm>
            <a:prstGeom prst="line">
              <a:avLst/>
            </a:prstGeom>
            <a:ln w="4000" cap="rnd">
              <a:solidFill>
                <a:srgbClr val="00C2D1"/>
              </a:solidFill>
            </a:ln>
          </p:spPr>
        </p:cxnSp>
        <p:cxnSp>
          <p:nvCxnSpPr>
            <p:cNvPr id="1091" name="l"/>
            <p:cNvCxnSpPr/>
            <p:nvPr/>
          </p:nvCxnSpPr>
          <p:spPr>
            <a:xfrm flipH="0" flipV="0">
              <a:off x="45000" y="24000"/>
              <a:ext cx="14000" cy="20000"/>
            </a:xfrm>
            <a:prstGeom prst="line">
              <a:avLst/>
            </a:prstGeom>
            <a:ln w="3200" cap="rnd">
              <a:solidFill>
                <a:srgbClr val="3B82F6"/>
              </a:solidFill>
            </a:ln>
          </p:spPr>
        </p:cxnSp>
        <p:cxnSp>
          <p:nvCxnSpPr>
            <p:cNvPr id="1092" name="l"/>
            <p:cNvCxnSpPr/>
            <p:nvPr/>
          </p:nvCxnSpPr>
          <p:spPr>
            <a:xfrm flipH="0" flipV="1">
              <a:off x="22000" y="28000"/>
              <a:ext cx="34000" cy="54000"/>
            </a:xfrm>
            <a:prstGeom prst="line">
              <a:avLst/>
            </a:prstGeom>
            <a:ln w="4000" cap="rnd">
              <a:solidFill>
                <a:srgbClr val="00C2D1"/>
              </a:solidFill>
            </a:ln>
          </p:spPr>
        </p:cxnSp>
        <p:cxnSp>
          <p:nvCxnSpPr>
            <p:cNvPr id="1093" name="l"/>
            <p:cNvCxnSpPr/>
            <p:nvPr/>
          </p:nvCxnSpPr>
          <p:spPr>
            <a:xfrm flipH="0" flipV="0">
              <a:off x="56000" y="28000"/>
              <a:ext cx="14000" cy="20000"/>
            </a:xfrm>
            <a:prstGeom prst="line">
              <a:avLst/>
            </a:prstGeom>
            <a:ln w="3200" cap="rnd">
              <a:solidFill>
                <a:srgbClr val="3B82F6"/>
              </a:solidFill>
            </a:ln>
          </p:spPr>
        </p:cxnSp>
        <p:cxnSp>
          <p:nvCxnSpPr>
            <p:cNvPr id="1094" name="l"/>
            <p:cNvCxnSpPr/>
            <p:nvPr/>
          </p:nvCxnSpPr>
          <p:spPr>
            <a:xfrm flipH="0" flipV="1">
              <a:off x="22000" y="33000"/>
              <a:ext cx="45000" cy="49000"/>
            </a:xfrm>
            <a:prstGeom prst="line">
              <a:avLst/>
            </a:prstGeom>
            <a:ln w="4000" cap="rnd">
              <a:solidFill>
                <a:srgbClr val="00C2D1"/>
              </a:solidFill>
            </a:ln>
          </p:spPr>
        </p:cxnSp>
        <p:cxnSp>
          <p:nvCxnSpPr>
            <p:cNvPr id="1095" name="l"/>
            <p:cNvCxnSpPr/>
            <p:nvPr/>
          </p:nvCxnSpPr>
          <p:spPr>
            <a:xfrm flipH="0" flipV="0">
              <a:off x="67000" y="33000"/>
              <a:ext cx="14000" cy="20000"/>
            </a:xfrm>
            <a:prstGeom prst="line">
              <a:avLst/>
            </a:prstGeom>
            <a:ln w="3200" cap="rnd">
              <a:solidFill>
                <a:srgbClr val="3B82F6"/>
              </a:solidFill>
            </a:ln>
          </p:spPr>
        </p:cxnSp>
        <p:cxnSp>
          <p:nvCxnSpPr>
            <p:cNvPr id="1096" name="l"/>
            <p:cNvCxnSpPr/>
            <p:nvPr/>
          </p:nvCxnSpPr>
          <p:spPr>
            <a:xfrm flipH="0" flipV="1">
              <a:off x="22000" y="40000"/>
              <a:ext cx="56000" cy="42000"/>
            </a:xfrm>
            <a:prstGeom prst="line">
              <a:avLst/>
            </a:prstGeom>
            <a:ln w="4000" cap="rnd">
              <a:solidFill>
                <a:srgbClr val="00C2D1"/>
              </a:solidFill>
            </a:ln>
          </p:spPr>
        </p:cxnSp>
        <p:cxnSp>
          <p:nvCxnSpPr>
            <p:cNvPr id="1097" name="l"/>
            <p:cNvCxnSpPr/>
            <p:nvPr/>
          </p:nvCxnSpPr>
          <p:spPr>
            <a:xfrm flipH="0" flipV="0">
              <a:off x="78000" y="40000"/>
              <a:ext cx="14000" cy="20000"/>
            </a:xfrm>
            <a:prstGeom prst="line">
              <a:avLst/>
            </a:prstGeom>
            <a:ln w="3200" cap="rnd">
              <a:solidFill>
                <a:srgbClr val="3B82F6"/>
              </a:solidFill>
            </a:ln>
          </p:spPr>
        </p:cxnSp>
        <p:sp>
          <p:nvSpPr>
            <p:cNvPr id="1098" name="f"/>
            <p:cNvSpPr/>
            <p:nvPr/>
          </p:nvSpPr>
          <p:spPr>
            <a:xfrm>
              <a:off x="0" y="0"/>
              <a:ext cx="50000" cy="6000"/>
            </a:xfrm>
            <a:custGeom>
              <a:avLst/>
              <a:gdLst/>
              <a:ahLst/>
              <a:cxnLst/>
              <a:rect l="0" t="0" r="50000" b="6000"/>
              <a:pathLst>
                <a:path w="50000" h="6000">
                  <a:moveTo>
                    <a:pt x="0" y="0"/>
                  </a:moveTo>
                  <a:lnTo>
                    <a:pt x="18000" y="4000"/>
                  </a:lnTo>
                  <a:lnTo>
                    <a:pt x="36000" y="0"/>
                  </a:lnTo>
                  <a:lnTo>
                    <a:pt x="50000" y="6000"/>
                  </a:lnTo>
                </a:path>
              </a:pathLst>
            </a:custGeom>
            <a:noFill/>
            <a:ln w="5000" cap="rnd">
              <a:solidFill>
                <a:srgbClr val="FFFFFF"/>
              </a:solidFill>
              <a:round/>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
          <p:cNvSpPr/>
          <p:nvPr/>
        </p:nvSpPr>
        <p:spPr>
          <a:xfrm>
            <a:off x="11658600" y="3035808"/>
            <a:ext cx="109728" cy="109728"/>
          </a:xfrm>
          <a:prstGeom prst="roundRect">
            <a:avLst/>
          </a:prstGeom>
          <a:noFill/>
          <a:ln w="12700">
            <a:solidFill>
              <a:srgbClr val="2A4563"/>
            </a:solidFill>
          </a:ln>
        </p:spPr>
        <p:txBody>
          <a:bodyPr/>
          <a:lstStyle/>
          <a:p/>
        </p:txBody>
      </p:sp>
      <p:sp>
        <p:nvSpPr>
          <p:cNvPr id="20" name="dotA"/>
          <p:cNvSpPr/>
          <p:nvPr/>
        </p:nvSpPr>
        <p:spPr>
          <a:xfrm>
            <a:off x="11631168" y="3419856"/>
            <a:ext cx="164592" cy="164592"/>
          </a:xfrm>
          <a:prstGeom prst="roundRect">
            <a:avLst/>
          </a:prstGeom>
          <a:solidFill>
            <a:srgbClr val="00C2D1"/>
          </a:solidFill>
          <a:ln>
            <a:noFill/>
          </a:ln>
        </p:spPr>
        <p:txBody>
          <a:bodyPr/>
          <a:lstStyle/>
          <a:p/>
        </p:txBody>
      </p:sp>
      <p:sp>
        <p:nvSpPr>
          <p:cNvPr id="21" name="dot"/>
          <p:cNvSpPr/>
          <p:nvPr/>
        </p:nvSpPr>
        <p:spPr>
          <a:xfrm>
            <a:off x="11658600" y="3803904"/>
            <a:ext cx="109728" cy="109728"/>
          </a:xfrm>
          <a:prstGeom prst="roundRect">
            <a:avLst/>
          </a:prstGeom>
          <a:noFill/>
          <a:ln w="12700">
            <a:solidFill>
              <a:srgbClr val="2A4563"/>
            </a:solid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05 / 10</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2-REJA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Optik tasvirni muhrlash (CMOS)</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Yorug'lik barmoqdan qaytgach, xuddi kameradagi kabi maxsus sensorga (CMOS yoki CCD) borib uriladi.</a:t>
            </a:r>
          </a:p>
          <a:p>
            <a:pPr>
              <a:lnSpc>
                <a:spcPct val="110000"/>
              </a:lnSpc>
              <a:spcAft>
                <a:spcPts val="1100"/>
              </a:spcAft>
            </a:pPr>
            <a:r>
              <a:rPr lang="uz-UZ" sz="1600" dirty="0">
                <a:solidFill>
                  <a:srgbClr val="E2E8F0"/>
                </a:solidFill>
                <a:latin typeface="Times New Roman"/>
                <a:cs typeface="Times New Roman"/>
                <a:ea typeface="Times New Roman"/>
              </a:rPr>
              <a:t>- 2D Tasvir: Sensor qaytgan yorug'lik asosida barmoq izining oq-qora 2 o'lchamli (2D) rasm xaritasini chizadi.</a:t>
            </a:r>
          </a:p>
          <a:p>
            <a:pPr>
              <a:lnSpc>
                <a:spcPct val="110000"/>
              </a:lnSpc>
              <a:spcAft>
                <a:spcPts val="1100"/>
              </a:spcAft>
            </a:pPr>
            <a:r>
              <a:rPr lang="uz-UZ" sz="1600" dirty="0">
                <a:solidFill>
                  <a:srgbClr val="E2E8F0"/>
                </a:solidFill>
                <a:latin typeface="Times New Roman"/>
                <a:cs typeface="Times New Roman"/>
                <a:ea typeface="Times New Roman"/>
              </a:rPr>
              <a:t>- Kamchiligi: Optik skanerlar shunchaki rasm olgani uchun, ularni ba'zan yuqori sifatli fotonusxalar yoki yasalgan sun'iy barmoqlar yordamida aldash mumkin bo'ladi. Uning xavfsizlik darajasi o'rtacha.</a:t>
            </a:r>
          </a:p>
        </p:txBody>
      </p:sp>
      <p:grpSp>
        <p:nvGrpSpPr>
          <p:cNvPr id="1186" name="illustration"/>
          <p:cNvGrpSpPr/>
          <p:nvPr/>
        </p:nvGrpSpPr>
        <p:grpSpPr>
          <a:xfrm>
            <a:off x="7635240" y="2011680"/>
            <a:ext cx="3749039" cy="4206240"/>
            <a:chOff x="0" y="0"/>
            <a:chExt cx="100000" cy="100000"/>
          </a:xfrm>
        </p:grpSpPr>
        <p:sp>
          <p:nvSpPr>
            <p:cNvPr id="1100"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101" name="l"/>
            <p:cNvCxnSpPr/>
            <p:nvPr/>
          </p:nvCxnSpPr>
          <p:spPr>
            <a:xfrm flipH="0" flipV="0">
              <a:off x="3000" y="7000"/>
              <a:ext cx="17000" cy="1"/>
            </a:xfrm>
            <a:prstGeom prst="line">
              <a:avLst/>
            </a:prstGeom>
            <a:ln w="19050" cap="rnd">
              <a:solidFill>
                <a:srgbClr val="00C2D1"/>
              </a:solidFill>
            </a:ln>
          </p:spPr>
        </p:cxnSp>
        <p:cxnSp>
          <p:nvCxnSpPr>
            <p:cNvPr id="1102" name="l"/>
            <p:cNvCxnSpPr/>
            <p:nvPr/>
          </p:nvCxnSpPr>
          <p:spPr>
            <a:xfrm flipH="0" flipV="0">
              <a:off x="3000" y="7000"/>
              <a:ext cx="1" cy="17000"/>
            </a:xfrm>
            <a:prstGeom prst="line">
              <a:avLst/>
            </a:prstGeom>
            <a:ln w="19050" cap="rnd">
              <a:solidFill>
                <a:srgbClr val="00C2D1"/>
              </a:solidFill>
            </a:ln>
          </p:spPr>
        </p:cxnSp>
        <p:cxnSp>
          <p:nvCxnSpPr>
            <p:cNvPr id="1103" name="l"/>
            <p:cNvCxnSpPr/>
            <p:nvPr/>
          </p:nvCxnSpPr>
          <p:spPr>
            <a:xfrm flipH="0" flipV="0">
              <a:off x="80000" y="93000"/>
              <a:ext cx="17000" cy="1"/>
            </a:xfrm>
            <a:prstGeom prst="line">
              <a:avLst/>
            </a:prstGeom>
            <a:ln w="19050" cap="rnd">
              <a:solidFill>
                <a:srgbClr val="3B82F6"/>
              </a:solidFill>
            </a:ln>
          </p:spPr>
        </p:cxnSp>
        <p:cxnSp>
          <p:nvCxnSpPr>
            <p:cNvPr id="1104" name="l"/>
            <p:cNvCxnSpPr/>
            <p:nvPr/>
          </p:nvCxnSpPr>
          <p:spPr>
            <a:xfrm flipH="0" flipV="0">
              <a:off x="97000" y="76000"/>
              <a:ext cx="1" cy="17000"/>
            </a:xfrm>
            <a:prstGeom prst="line">
              <a:avLst/>
            </a:prstGeom>
            <a:ln w="19050" cap="rnd">
              <a:solidFill>
                <a:srgbClr val="3B82F6"/>
              </a:solidFill>
            </a:ln>
          </p:spPr>
        </p:cxnSp>
        <p:sp>
          <p:nvSpPr>
            <p:cNvPr id="1105" name="r"/>
            <p:cNvSpPr/>
            <p:nvPr/>
          </p:nvSpPr>
          <p:spPr>
            <a:xfrm>
              <a:off x="20000" y="18000"/>
              <a:ext cx="5200" cy="5200"/>
            </a:xfrm>
            <a:prstGeom prst="rect">
              <a:avLst/>
            </a:prstGeom>
            <a:noFill/>
            <a:ln w="4000">
              <a:solidFill>
                <a:srgbClr val="243B55"/>
              </a:solidFill>
            </a:ln>
          </p:spPr>
          <p:txBody>
            <a:bodyPr/>
            <a:lstStyle/>
            <a:p/>
          </p:txBody>
        </p:sp>
        <p:sp>
          <p:nvSpPr>
            <p:cNvPr id="1106" name="r"/>
            <p:cNvSpPr/>
            <p:nvPr/>
          </p:nvSpPr>
          <p:spPr>
            <a:xfrm>
              <a:off x="27000" y="18000"/>
              <a:ext cx="5200" cy="5200"/>
            </a:xfrm>
            <a:prstGeom prst="rect">
              <a:avLst/>
            </a:prstGeom>
            <a:noFill/>
            <a:ln w="4000">
              <a:solidFill>
                <a:srgbClr val="243B55"/>
              </a:solidFill>
            </a:ln>
          </p:spPr>
          <p:txBody>
            <a:bodyPr/>
            <a:lstStyle/>
            <a:p/>
          </p:txBody>
        </p:sp>
        <p:sp>
          <p:nvSpPr>
            <p:cNvPr id="1107" name="r"/>
            <p:cNvSpPr/>
            <p:nvPr/>
          </p:nvSpPr>
          <p:spPr>
            <a:xfrm>
              <a:off x="34000" y="18000"/>
              <a:ext cx="5200" cy="5200"/>
            </a:xfrm>
            <a:prstGeom prst="rect">
              <a:avLst/>
            </a:prstGeom>
            <a:noFill/>
            <a:ln w="4000">
              <a:solidFill>
                <a:srgbClr val="243B55"/>
              </a:solidFill>
            </a:ln>
          </p:spPr>
          <p:txBody>
            <a:bodyPr/>
            <a:lstStyle/>
            <a:p/>
          </p:txBody>
        </p:sp>
        <p:sp>
          <p:nvSpPr>
            <p:cNvPr id="1108" name="r"/>
            <p:cNvSpPr/>
            <p:nvPr/>
          </p:nvSpPr>
          <p:spPr>
            <a:xfrm>
              <a:off x="41000" y="18000"/>
              <a:ext cx="5200" cy="5200"/>
            </a:xfrm>
            <a:prstGeom prst="rect">
              <a:avLst/>
            </a:prstGeom>
            <a:noFill/>
            <a:ln w="4000">
              <a:solidFill>
                <a:srgbClr val="243B55"/>
              </a:solidFill>
            </a:ln>
          </p:spPr>
          <p:txBody>
            <a:bodyPr/>
            <a:lstStyle/>
            <a:p/>
          </p:txBody>
        </p:sp>
        <p:sp>
          <p:nvSpPr>
            <p:cNvPr id="1109" name="r"/>
            <p:cNvSpPr/>
            <p:nvPr/>
          </p:nvSpPr>
          <p:spPr>
            <a:xfrm>
              <a:off x="48000" y="18000"/>
              <a:ext cx="5200" cy="5200"/>
            </a:xfrm>
            <a:prstGeom prst="rect">
              <a:avLst/>
            </a:prstGeom>
            <a:noFill/>
            <a:ln w="4000">
              <a:solidFill>
                <a:srgbClr val="243B55"/>
              </a:solidFill>
            </a:ln>
          </p:spPr>
          <p:txBody>
            <a:bodyPr/>
            <a:lstStyle/>
            <a:p/>
          </p:txBody>
        </p:sp>
        <p:sp>
          <p:nvSpPr>
            <p:cNvPr id="1110" name="r"/>
            <p:cNvSpPr/>
            <p:nvPr/>
          </p:nvSpPr>
          <p:spPr>
            <a:xfrm>
              <a:off x="55000" y="18000"/>
              <a:ext cx="5200" cy="5200"/>
            </a:xfrm>
            <a:prstGeom prst="rect">
              <a:avLst/>
            </a:prstGeom>
            <a:noFill/>
            <a:ln w="4000">
              <a:solidFill>
                <a:srgbClr val="243B55"/>
              </a:solidFill>
            </a:ln>
          </p:spPr>
          <p:txBody>
            <a:bodyPr/>
            <a:lstStyle/>
            <a:p/>
          </p:txBody>
        </p:sp>
        <p:sp>
          <p:nvSpPr>
            <p:cNvPr id="1111" name="r"/>
            <p:cNvSpPr/>
            <p:nvPr/>
          </p:nvSpPr>
          <p:spPr>
            <a:xfrm>
              <a:off x="62000" y="18000"/>
              <a:ext cx="5200" cy="5200"/>
            </a:xfrm>
            <a:prstGeom prst="rect">
              <a:avLst/>
            </a:prstGeom>
            <a:noFill/>
            <a:ln w="4000">
              <a:solidFill>
                <a:srgbClr val="243B55"/>
              </a:solidFill>
            </a:ln>
          </p:spPr>
          <p:txBody>
            <a:bodyPr/>
            <a:lstStyle/>
            <a:p/>
          </p:txBody>
        </p:sp>
        <p:sp>
          <p:nvSpPr>
            <p:cNvPr id="1112" name="r"/>
            <p:cNvSpPr/>
            <p:nvPr/>
          </p:nvSpPr>
          <p:spPr>
            <a:xfrm>
              <a:off x="69000" y="18000"/>
              <a:ext cx="5200" cy="5200"/>
            </a:xfrm>
            <a:prstGeom prst="rect">
              <a:avLst/>
            </a:prstGeom>
            <a:noFill/>
            <a:ln w="4000">
              <a:solidFill>
                <a:srgbClr val="243B55"/>
              </a:solidFill>
            </a:ln>
          </p:spPr>
          <p:txBody>
            <a:bodyPr/>
            <a:lstStyle/>
            <a:p/>
          </p:txBody>
        </p:sp>
        <p:sp>
          <p:nvSpPr>
            <p:cNvPr id="1113" name="r"/>
            <p:cNvSpPr/>
            <p:nvPr/>
          </p:nvSpPr>
          <p:spPr>
            <a:xfrm>
              <a:off x="76000" y="18000"/>
              <a:ext cx="5200" cy="5200"/>
            </a:xfrm>
            <a:prstGeom prst="rect">
              <a:avLst/>
            </a:prstGeom>
            <a:noFill/>
            <a:ln w="4000">
              <a:solidFill>
                <a:srgbClr val="243B55"/>
              </a:solidFill>
            </a:ln>
          </p:spPr>
          <p:txBody>
            <a:bodyPr/>
            <a:lstStyle/>
            <a:p/>
          </p:txBody>
        </p:sp>
        <p:sp>
          <p:nvSpPr>
            <p:cNvPr id="1114" name="r"/>
            <p:cNvSpPr/>
            <p:nvPr/>
          </p:nvSpPr>
          <p:spPr>
            <a:xfrm>
              <a:off x="20000" y="25000"/>
              <a:ext cx="5200" cy="5200"/>
            </a:xfrm>
            <a:prstGeom prst="rect">
              <a:avLst/>
            </a:prstGeom>
            <a:noFill/>
            <a:ln w="4000">
              <a:solidFill>
                <a:srgbClr val="243B55"/>
              </a:solidFill>
            </a:ln>
          </p:spPr>
          <p:txBody>
            <a:bodyPr/>
            <a:lstStyle/>
            <a:p/>
          </p:txBody>
        </p:sp>
        <p:sp>
          <p:nvSpPr>
            <p:cNvPr id="1115" name="r"/>
            <p:cNvSpPr/>
            <p:nvPr/>
          </p:nvSpPr>
          <p:spPr>
            <a:xfrm>
              <a:off x="27000" y="25000"/>
              <a:ext cx="5200" cy="5200"/>
            </a:xfrm>
            <a:prstGeom prst="rect">
              <a:avLst/>
            </a:prstGeom>
            <a:noFill/>
            <a:ln w="4000">
              <a:solidFill>
                <a:srgbClr val="243B55"/>
              </a:solidFill>
            </a:ln>
          </p:spPr>
          <p:txBody>
            <a:bodyPr/>
            <a:lstStyle/>
            <a:p/>
          </p:txBody>
        </p:sp>
        <p:sp>
          <p:nvSpPr>
            <p:cNvPr id="1116" name="r"/>
            <p:cNvSpPr/>
            <p:nvPr/>
          </p:nvSpPr>
          <p:spPr>
            <a:xfrm>
              <a:off x="34000" y="25000"/>
              <a:ext cx="5200" cy="5200"/>
            </a:xfrm>
            <a:prstGeom prst="rect">
              <a:avLst/>
            </a:prstGeom>
            <a:solidFill>
              <a:srgbClr val="00C2D1"/>
            </a:solidFill>
            <a:ln w="4000">
              <a:solidFill>
                <a:srgbClr val="3B82F6"/>
              </a:solidFill>
            </a:ln>
          </p:spPr>
          <p:txBody>
            <a:bodyPr/>
            <a:lstStyle/>
            <a:p/>
          </p:txBody>
        </p:sp>
        <p:sp>
          <p:nvSpPr>
            <p:cNvPr id="1117" name="r"/>
            <p:cNvSpPr/>
            <p:nvPr/>
          </p:nvSpPr>
          <p:spPr>
            <a:xfrm>
              <a:off x="41000" y="25000"/>
              <a:ext cx="5200" cy="5200"/>
            </a:xfrm>
            <a:prstGeom prst="rect">
              <a:avLst/>
            </a:prstGeom>
            <a:noFill/>
            <a:ln w="4000">
              <a:solidFill>
                <a:srgbClr val="243B55"/>
              </a:solidFill>
            </a:ln>
          </p:spPr>
          <p:txBody>
            <a:bodyPr/>
            <a:lstStyle/>
            <a:p/>
          </p:txBody>
        </p:sp>
        <p:sp>
          <p:nvSpPr>
            <p:cNvPr id="1118" name="r"/>
            <p:cNvSpPr/>
            <p:nvPr/>
          </p:nvSpPr>
          <p:spPr>
            <a:xfrm>
              <a:off x="48000" y="25000"/>
              <a:ext cx="5200" cy="5200"/>
            </a:xfrm>
            <a:prstGeom prst="rect">
              <a:avLst/>
            </a:prstGeom>
            <a:solidFill>
              <a:srgbClr val="00C2D1"/>
            </a:solidFill>
            <a:ln w="4000">
              <a:solidFill>
                <a:srgbClr val="3B82F6"/>
              </a:solidFill>
            </a:ln>
          </p:spPr>
          <p:txBody>
            <a:bodyPr/>
            <a:lstStyle/>
            <a:p/>
          </p:txBody>
        </p:sp>
        <p:sp>
          <p:nvSpPr>
            <p:cNvPr id="1119" name="r"/>
            <p:cNvSpPr/>
            <p:nvPr/>
          </p:nvSpPr>
          <p:spPr>
            <a:xfrm>
              <a:off x="55000" y="25000"/>
              <a:ext cx="5200" cy="5200"/>
            </a:xfrm>
            <a:prstGeom prst="rect">
              <a:avLst/>
            </a:prstGeom>
            <a:noFill/>
            <a:ln w="4000">
              <a:solidFill>
                <a:srgbClr val="243B55"/>
              </a:solidFill>
            </a:ln>
          </p:spPr>
          <p:txBody>
            <a:bodyPr/>
            <a:lstStyle/>
            <a:p/>
          </p:txBody>
        </p:sp>
        <p:sp>
          <p:nvSpPr>
            <p:cNvPr id="1120" name="r"/>
            <p:cNvSpPr/>
            <p:nvPr/>
          </p:nvSpPr>
          <p:spPr>
            <a:xfrm>
              <a:off x="62000" y="25000"/>
              <a:ext cx="5200" cy="5200"/>
            </a:xfrm>
            <a:prstGeom prst="rect">
              <a:avLst/>
            </a:prstGeom>
            <a:solidFill>
              <a:srgbClr val="00C2D1"/>
            </a:solidFill>
            <a:ln w="4000">
              <a:solidFill>
                <a:srgbClr val="3B82F6"/>
              </a:solidFill>
            </a:ln>
          </p:spPr>
          <p:txBody>
            <a:bodyPr/>
            <a:lstStyle/>
            <a:p/>
          </p:txBody>
        </p:sp>
        <p:sp>
          <p:nvSpPr>
            <p:cNvPr id="1121" name="r"/>
            <p:cNvSpPr/>
            <p:nvPr/>
          </p:nvSpPr>
          <p:spPr>
            <a:xfrm>
              <a:off x="69000" y="25000"/>
              <a:ext cx="5200" cy="5200"/>
            </a:xfrm>
            <a:prstGeom prst="rect">
              <a:avLst/>
            </a:prstGeom>
            <a:noFill/>
            <a:ln w="4000">
              <a:solidFill>
                <a:srgbClr val="243B55"/>
              </a:solidFill>
            </a:ln>
          </p:spPr>
          <p:txBody>
            <a:bodyPr/>
            <a:lstStyle/>
            <a:p/>
          </p:txBody>
        </p:sp>
        <p:sp>
          <p:nvSpPr>
            <p:cNvPr id="1122" name="r"/>
            <p:cNvSpPr/>
            <p:nvPr/>
          </p:nvSpPr>
          <p:spPr>
            <a:xfrm>
              <a:off x="76000" y="25000"/>
              <a:ext cx="5200" cy="5200"/>
            </a:xfrm>
            <a:prstGeom prst="rect">
              <a:avLst/>
            </a:prstGeom>
            <a:noFill/>
            <a:ln w="4000">
              <a:solidFill>
                <a:srgbClr val="243B55"/>
              </a:solidFill>
            </a:ln>
          </p:spPr>
          <p:txBody>
            <a:bodyPr/>
            <a:lstStyle/>
            <a:p/>
          </p:txBody>
        </p:sp>
        <p:sp>
          <p:nvSpPr>
            <p:cNvPr id="1123" name="r"/>
            <p:cNvSpPr/>
            <p:nvPr/>
          </p:nvSpPr>
          <p:spPr>
            <a:xfrm>
              <a:off x="20000" y="32000"/>
              <a:ext cx="5200" cy="5200"/>
            </a:xfrm>
            <a:prstGeom prst="rect">
              <a:avLst/>
            </a:prstGeom>
            <a:noFill/>
            <a:ln w="4000">
              <a:solidFill>
                <a:srgbClr val="243B55"/>
              </a:solidFill>
            </a:ln>
          </p:spPr>
          <p:txBody>
            <a:bodyPr/>
            <a:lstStyle/>
            <a:p/>
          </p:txBody>
        </p:sp>
        <p:sp>
          <p:nvSpPr>
            <p:cNvPr id="1124" name="r"/>
            <p:cNvSpPr/>
            <p:nvPr/>
          </p:nvSpPr>
          <p:spPr>
            <a:xfrm>
              <a:off x="27000" y="32000"/>
              <a:ext cx="5200" cy="5200"/>
            </a:xfrm>
            <a:prstGeom prst="rect">
              <a:avLst/>
            </a:prstGeom>
            <a:noFill/>
            <a:ln w="4000">
              <a:solidFill>
                <a:srgbClr val="243B55"/>
              </a:solidFill>
            </a:ln>
          </p:spPr>
          <p:txBody>
            <a:bodyPr/>
            <a:lstStyle/>
            <a:p/>
          </p:txBody>
        </p:sp>
        <p:sp>
          <p:nvSpPr>
            <p:cNvPr id="1125" name="r"/>
            <p:cNvSpPr/>
            <p:nvPr/>
          </p:nvSpPr>
          <p:spPr>
            <a:xfrm>
              <a:off x="34000" y="32000"/>
              <a:ext cx="5200" cy="5200"/>
            </a:xfrm>
            <a:prstGeom prst="rect">
              <a:avLst/>
            </a:prstGeom>
            <a:noFill/>
            <a:ln w="4000">
              <a:solidFill>
                <a:srgbClr val="243B55"/>
              </a:solidFill>
            </a:ln>
          </p:spPr>
          <p:txBody>
            <a:bodyPr/>
            <a:lstStyle/>
            <a:p/>
          </p:txBody>
        </p:sp>
        <p:sp>
          <p:nvSpPr>
            <p:cNvPr id="1126" name="r"/>
            <p:cNvSpPr/>
            <p:nvPr/>
          </p:nvSpPr>
          <p:spPr>
            <a:xfrm>
              <a:off x="41000" y="32000"/>
              <a:ext cx="5200" cy="5200"/>
            </a:xfrm>
            <a:prstGeom prst="rect">
              <a:avLst/>
            </a:prstGeom>
            <a:solidFill>
              <a:srgbClr val="00C2D1"/>
            </a:solidFill>
            <a:ln w="4000">
              <a:solidFill>
                <a:srgbClr val="3B82F6"/>
              </a:solidFill>
            </a:ln>
          </p:spPr>
          <p:txBody>
            <a:bodyPr/>
            <a:lstStyle/>
            <a:p/>
          </p:txBody>
        </p:sp>
        <p:sp>
          <p:nvSpPr>
            <p:cNvPr id="1127" name="r"/>
            <p:cNvSpPr/>
            <p:nvPr/>
          </p:nvSpPr>
          <p:spPr>
            <a:xfrm>
              <a:off x="48000" y="32000"/>
              <a:ext cx="5200" cy="5200"/>
            </a:xfrm>
            <a:prstGeom prst="rect">
              <a:avLst/>
            </a:prstGeom>
            <a:solidFill>
              <a:srgbClr val="00C2D1"/>
            </a:solidFill>
            <a:ln w="4000">
              <a:solidFill>
                <a:srgbClr val="3B82F6"/>
              </a:solidFill>
            </a:ln>
          </p:spPr>
          <p:txBody>
            <a:bodyPr/>
            <a:lstStyle/>
            <a:p/>
          </p:txBody>
        </p:sp>
        <p:sp>
          <p:nvSpPr>
            <p:cNvPr id="1128" name="r"/>
            <p:cNvSpPr/>
            <p:nvPr/>
          </p:nvSpPr>
          <p:spPr>
            <a:xfrm>
              <a:off x="55000" y="32000"/>
              <a:ext cx="5200" cy="5200"/>
            </a:xfrm>
            <a:prstGeom prst="rect">
              <a:avLst/>
            </a:prstGeom>
            <a:solidFill>
              <a:srgbClr val="00C2D1"/>
            </a:solidFill>
            <a:ln w="4000">
              <a:solidFill>
                <a:srgbClr val="3B82F6"/>
              </a:solidFill>
            </a:ln>
          </p:spPr>
          <p:txBody>
            <a:bodyPr/>
            <a:lstStyle/>
            <a:p/>
          </p:txBody>
        </p:sp>
        <p:sp>
          <p:nvSpPr>
            <p:cNvPr id="1129" name="r"/>
            <p:cNvSpPr/>
            <p:nvPr/>
          </p:nvSpPr>
          <p:spPr>
            <a:xfrm>
              <a:off x="62000" y="32000"/>
              <a:ext cx="5200" cy="5200"/>
            </a:xfrm>
            <a:prstGeom prst="rect">
              <a:avLst/>
            </a:prstGeom>
            <a:noFill/>
            <a:ln w="4000">
              <a:solidFill>
                <a:srgbClr val="243B55"/>
              </a:solidFill>
            </a:ln>
          </p:spPr>
          <p:txBody>
            <a:bodyPr/>
            <a:lstStyle/>
            <a:p/>
          </p:txBody>
        </p:sp>
        <p:sp>
          <p:nvSpPr>
            <p:cNvPr id="1130" name="r"/>
            <p:cNvSpPr/>
            <p:nvPr/>
          </p:nvSpPr>
          <p:spPr>
            <a:xfrm>
              <a:off x="69000" y="32000"/>
              <a:ext cx="5200" cy="5200"/>
            </a:xfrm>
            <a:prstGeom prst="rect">
              <a:avLst/>
            </a:prstGeom>
            <a:noFill/>
            <a:ln w="4000">
              <a:solidFill>
                <a:srgbClr val="243B55"/>
              </a:solidFill>
            </a:ln>
          </p:spPr>
          <p:txBody>
            <a:bodyPr/>
            <a:lstStyle/>
            <a:p/>
          </p:txBody>
        </p:sp>
        <p:sp>
          <p:nvSpPr>
            <p:cNvPr id="1131" name="r"/>
            <p:cNvSpPr/>
            <p:nvPr/>
          </p:nvSpPr>
          <p:spPr>
            <a:xfrm>
              <a:off x="76000" y="32000"/>
              <a:ext cx="5200" cy="5200"/>
            </a:xfrm>
            <a:prstGeom prst="rect">
              <a:avLst/>
            </a:prstGeom>
            <a:noFill/>
            <a:ln w="4000">
              <a:solidFill>
                <a:srgbClr val="243B55"/>
              </a:solidFill>
            </a:ln>
          </p:spPr>
          <p:txBody>
            <a:bodyPr/>
            <a:lstStyle/>
            <a:p/>
          </p:txBody>
        </p:sp>
        <p:sp>
          <p:nvSpPr>
            <p:cNvPr id="1132" name="r"/>
            <p:cNvSpPr/>
            <p:nvPr/>
          </p:nvSpPr>
          <p:spPr>
            <a:xfrm>
              <a:off x="20000" y="39000"/>
              <a:ext cx="5200" cy="5200"/>
            </a:xfrm>
            <a:prstGeom prst="rect">
              <a:avLst/>
            </a:prstGeom>
            <a:noFill/>
            <a:ln w="4000">
              <a:solidFill>
                <a:srgbClr val="243B55"/>
              </a:solidFill>
            </a:ln>
          </p:spPr>
          <p:txBody>
            <a:bodyPr/>
            <a:lstStyle/>
            <a:p/>
          </p:txBody>
        </p:sp>
        <p:sp>
          <p:nvSpPr>
            <p:cNvPr id="1133" name="r"/>
            <p:cNvSpPr/>
            <p:nvPr/>
          </p:nvSpPr>
          <p:spPr>
            <a:xfrm>
              <a:off x="27000" y="39000"/>
              <a:ext cx="5200" cy="5200"/>
            </a:xfrm>
            <a:prstGeom prst="rect">
              <a:avLst/>
            </a:prstGeom>
            <a:noFill/>
            <a:ln w="4000">
              <a:solidFill>
                <a:srgbClr val="243B55"/>
              </a:solidFill>
            </a:ln>
          </p:spPr>
          <p:txBody>
            <a:bodyPr/>
            <a:lstStyle/>
            <a:p/>
          </p:txBody>
        </p:sp>
        <p:sp>
          <p:nvSpPr>
            <p:cNvPr id="1134" name="r"/>
            <p:cNvSpPr/>
            <p:nvPr/>
          </p:nvSpPr>
          <p:spPr>
            <a:xfrm>
              <a:off x="34000" y="39000"/>
              <a:ext cx="5200" cy="5200"/>
            </a:xfrm>
            <a:prstGeom prst="rect">
              <a:avLst/>
            </a:prstGeom>
            <a:noFill/>
            <a:ln w="4000">
              <a:solidFill>
                <a:srgbClr val="243B55"/>
              </a:solidFill>
            </a:ln>
          </p:spPr>
          <p:txBody>
            <a:bodyPr/>
            <a:lstStyle/>
            <a:p/>
          </p:txBody>
        </p:sp>
        <p:sp>
          <p:nvSpPr>
            <p:cNvPr id="1135" name="r"/>
            <p:cNvSpPr/>
            <p:nvPr/>
          </p:nvSpPr>
          <p:spPr>
            <a:xfrm>
              <a:off x="41000" y="39000"/>
              <a:ext cx="5200" cy="5200"/>
            </a:xfrm>
            <a:prstGeom prst="rect">
              <a:avLst/>
            </a:prstGeom>
            <a:noFill/>
            <a:ln w="4000">
              <a:solidFill>
                <a:srgbClr val="243B55"/>
              </a:solidFill>
            </a:ln>
          </p:spPr>
          <p:txBody>
            <a:bodyPr/>
            <a:lstStyle/>
            <a:p/>
          </p:txBody>
        </p:sp>
        <p:sp>
          <p:nvSpPr>
            <p:cNvPr id="1136" name="r"/>
            <p:cNvSpPr/>
            <p:nvPr/>
          </p:nvSpPr>
          <p:spPr>
            <a:xfrm>
              <a:off x="48000" y="39000"/>
              <a:ext cx="5200" cy="5200"/>
            </a:xfrm>
            <a:prstGeom prst="rect">
              <a:avLst/>
            </a:prstGeom>
            <a:noFill/>
            <a:ln w="4000">
              <a:solidFill>
                <a:srgbClr val="243B55"/>
              </a:solidFill>
            </a:ln>
          </p:spPr>
          <p:txBody>
            <a:bodyPr/>
            <a:lstStyle/>
            <a:p/>
          </p:txBody>
        </p:sp>
        <p:sp>
          <p:nvSpPr>
            <p:cNvPr id="1137" name="r"/>
            <p:cNvSpPr/>
            <p:nvPr/>
          </p:nvSpPr>
          <p:spPr>
            <a:xfrm>
              <a:off x="55000" y="39000"/>
              <a:ext cx="5200" cy="5200"/>
            </a:xfrm>
            <a:prstGeom prst="rect">
              <a:avLst/>
            </a:prstGeom>
            <a:solidFill>
              <a:srgbClr val="00C2D1"/>
            </a:solidFill>
            <a:ln w="4000">
              <a:solidFill>
                <a:srgbClr val="3B82F6"/>
              </a:solidFill>
            </a:ln>
          </p:spPr>
          <p:txBody>
            <a:bodyPr/>
            <a:lstStyle/>
            <a:p/>
          </p:txBody>
        </p:sp>
        <p:sp>
          <p:nvSpPr>
            <p:cNvPr id="1138" name="r"/>
            <p:cNvSpPr/>
            <p:nvPr/>
          </p:nvSpPr>
          <p:spPr>
            <a:xfrm>
              <a:off x="62000" y="39000"/>
              <a:ext cx="5200" cy="5200"/>
            </a:xfrm>
            <a:prstGeom prst="rect">
              <a:avLst/>
            </a:prstGeom>
            <a:solidFill>
              <a:srgbClr val="00C2D1"/>
            </a:solidFill>
            <a:ln w="4000">
              <a:solidFill>
                <a:srgbClr val="3B82F6"/>
              </a:solidFill>
            </a:ln>
          </p:spPr>
          <p:txBody>
            <a:bodyPr/>
            <a:lstStyle/>
            <a:p/>
          </p:txBody>
        </p:sp>
        <p:sp>
          <p:nvSpPr>
            <p:cNvPr id="1139" name="r"/>
            <p:cNvSpPr/>
            <p:nvPr/>
          </p:nvSpPr>
          <p:spPr>
            <a:xfrm>
              <a:off x="69000" y="39000"/>
              <a:ext cx="5200" cy="5200"/>
            </a:xfrm>
            <a:prstGeom prst="rect">
              <a:avLst/>
            </a:prstGeom>
            <a:solidFill>
              <a:srgbClr val="00C2D1"/>
            </a:solidFill>
            <a:ln w="4000">
              <a:solidFill>
                <a:srgbClr val="3B82F6"/>
              </a:solidFill>
            </a:ln>
          </p:spPr>
          <p:txBody>
            <a:bodyPr/>
            <a:lstStyle/>
            <a:p/>
          </p:txBody>
        </p:sp>
        <p:sp>
          <p:nvSpPr>
            <p:cNvPr id="1140" name="r"/>
            <p:cNvSpPr/>
            <p:nvPr/>
          </p:nvSpPr>
          <p:spPr>
            <a:xfrm>
              <a:off x="76000" y="39000"/>
              <a:ext cx="5200" cy="5200"/>
            </a:xfrm>
            <a:prstGeom prst="rect">
              <a:avLst/>
            </a:prstGeom>
            <a:solidFill>
              <a:srgbClr val="00C2D1"/>
            </a:solidFill>
            <a:ln w="4000">
              <a:solidFill>
                <a:srgbClr val="3B82F6"/>
              </a:solidFill>
            </a:ln>
          </p:spPr>
          <p:txBody>
            <a:bodyPr/>
            <a:lstStyle/>
            <a:p/>
          </p:txBody>
        </p:sp>
        <p:sp>
          <p:nvSpPr>
            <p:cNvPr id="1141" name="r"/>
            <p:cNvSpPr/>
            <p:nvPr/>
          </p:nvSpPr>
          <p:spPr>
            <a:xfrm>
              <a:off x="20000" y="46000"/>
              <a:ext cx="5200" cy="5200"/>
            </a:xfrm>
            <a:prstGeom prst="rect">
              <a:avLst/>
            </a:prstGeom>
            <a:solidFill>
              <a:srgbClr val="00C2D1"/>
            </a:solidFill>
            <a:ln w="4000">
              <a:solidFill>
                <a:srgbClr val="3B82F6"/>
              </a:solidFill>
            </a:ln>
          </p:spPr>
          <p:txBody>
            <a:bodyPr/>
            <a:lstStyle/>
            <a:p/>
          </p:txBody>
        </p:sp>
        <p:sp>
          <p:nvSpPr>
            <p:cNvPr id="1142" name="r"/>
            <p:cNvSpPr/>
            <p:nvPr/>
          </p:nvSpPr>
          <p:spPr>
            <a:xfrm>
              <a:off x="27000" y="46000"/>
              <a:ext cx="5200" cy="5200"/>
            </a:xfrm>
            <a:prstGeom prst="rect">
              <a:avLst/>
            </a:prstGeom>
            <a:solidFill>
              <a:srgbClr val="00C2D1"/>
            </a:solidFill>
            <a:ln w="4000">
              <a:solidFill>
                <a:srgbClr val="3B82F6"/>
              </a:solidFill>
            </a:ln>
          </p:spPr>
          <p:txBody>
            <a:bodyPr/>
            <a:lstStyle/>
            <a:p/>
          </p:txBody>
        </p:sp>
        <p:sp>
          <p:nvSpPr>
            <p:cNvPr id="1143" name="r"/>
            <p:cNvSpPr/>
            <p:nvPr/>
          </p:nvSpPr>
          <p:spPr>
            <a:xfrm>
              <a:off x="34000" y="46000"/>
              <a:ext cx="5200" cy="5200"/>
            </a:xfrm>
            <a:prstGeom prst="rect">
              <a:avLst/>
            </a:prstGeom>
            <a:solidFill>
              <a:srgbClr val="00C2D1"/>
            </a:solidFill>
            <a:ln w="4000">
              <a:solidFill>
                <a:srgbClr val="3B82F6"/>
              </a:solidFill>
            </a:ln>
          </p:spPr>
          <p:txBody>
            <a:bodyPr/>
            <a:lstStyle/>
            <a:p/>
          </p:txBody>
        </p:sp>
        <p:sp>
          <p:nvSpPr>
            <p:cNvPr id="1144" name="r"/>
            <p:cNvSpPr/>
            <p:nvPr/>
          </p:nvSpPr>
          <p:spPr>
            <a:xfrm>
              <a:off x="41000" y="46000"/>
              <a:ext cx="5200" cy="5200"/>
            </a:xfrm>
            <a:prstGeom prst="rect">
              <a:avLst/>
            </a:prstGeom>
            <a:solidFill>
              <a:srgbClr val="00C2D1"/>
            </a:solidFill>
            <a:ln w="4000">
              <a:solidFill>
                <a:srgbClr val="3B82F6"/>
              </a:solidFill>
            </a:ln>
          </p:spPr>
          <p:txBody>
            <a:bodyPr/>
            <a:lstStyle/>
            <a:p/>
          </p:txBody>
        </p:sp>
        <p:sp>
          <p:nvSpPr>
            <p:cNvPr id="1145" name="r"/>
            <p:cNvSpPr/>
            <p:nvPr/>
          </p:nvSpPr>
          <p:spPr>
            <a:xfrm>
              <a:off x="48000" y="46000"/>
              <a:ext cx="5200" cy="5200"/>
            </a:xfrm>
            <a:prstGeom prst="rect">
              <a:avLst/>
            </a:prstGeom>
            <a:solidFill>
              <a:srgbClr val="00C2D1"/>
            </a:solidFill>
            <a:ln w="4000">
              <a:solidFill>
                <a:srgbClr val="3B82F6"/>
              </a:solidFill>
            </a:ln>
          </p:spPr>
          <p:txBody>
            <a:bodyPr/>
            <a:lstStyle/>
            <a:p/>
          </p:txBody>
        </p:sp>
        <p:sp>
          <p:nvSpPr>
            <p:cNvPr id="1146" name="r"/>
            <p:cNvSpPr/>
            <p:nvPr/>
          </p:nvSpPr>
          <p:spPr>
            <a:xfrm>
              <a:off x="55000" y="46000"/>
              <a:ext cx="5200" cy="5200"/>
            </a:xfrm>
            <a:prstGeom prst="rect">
              <a:avLst/>
            </a:prstGeom>
            <a:solidFill>
              <a:srgbClr val="00C2D1"/>
            </a:solidFill>
            <a:ln w="4000">
              <a:solidFill>
                <a:srgbClr val="3B82F6"/>
              </a:solidFill>
            </a:ln>
          </p:spPr>
          <p:txBody>
            <a:bodyPr/>
            <a:lstStyle/>
            <a:p/>
          </p:txBody>
        </p:sp>
        <p:sp>
          <p:nvSpPr>
            <p:cNvPr id="1147" name="r"/>
            <p:cNvSpPr/>
            <p:nvPr/>
          </p:nvSpPr>
          <p:spPr>
            <a:xfrm>
              <a:off x="62000" y="46000"/>
              <a:ext cx="5200" cy="5200"/>
            </a:xfrm>
            <a:prstGeom prst="rect">
              <a:avLst/>
            </a:prstGeom>
            <a:solidFill>
              <a:srgbClr val="00C2D1"/>
            </a:solidFill>
            <a:ln w="4000">
              <a:solidFill>
                <a:srgbClr val="3B82F6"/>
              </a:solidFill>
            </a:ln>
          </p:spPr>
          <p:txBody>
            <a:bodyPr/>
            <a:lstStyle/>
            <a:p/>
          </p:txBody>
        </p:sp>
        <p:sp>
          <p:nvSpPr>
            <p:cNvPr id="1148" name="r"/>
            <p:cNvSpPr/>
            <p:nvPr/>
          </p:nvSpPr>
          <p:spPr>
            <a:xfrm>
              <a:off x="69000" y="46000"/>
              <a:ext cx="5200" cy="5200"/>
            </a:xfrm>
            <a:prstGeom prst="rect">
              <a:avLst/>
            </a:prstGeom>
            <a:solidFill>
              <a:srgbClr val="00C2D1"/>
            </a:solidFill>
            <a:ln w="4000">
              <a:solidFill>
                <a:srgbClr val="3B82F6"/>
              </a:solidFill>
            </a:ln>
          </p:spPr>
          <p:txBody>
            <a:bodyPr/>
            <a:lstStyle/>
            <a:p/>
          </p:txBody>
        </p:sp>
        <p:sp>
          <p:nvSpPr>
            <p:cNvPr id="1149" name="r"/>
            <p:cNvSpPr/>
            <p:nvPr/>
          </p:nvSpPr>
          <p:spPr>
            <a:xfrm>
              <a:off x="76000" y="46000"/>
              <a:ext cx="5200" cy="5200"/>
            </a:xfrm>
            <a:prstGeom prst="rect">
              <a:avLst/>
            </a:prstGeom>
            <a:solidFill>
              <a:srgbClr val="00C2D1"/>
            </a:solidFill>
            <a:ln w="4000">
              <a:solidFill>
                <a:srgbClr val="3B82F6"/>
              </a:solidFill>
            </a:ln>
          </p:spPr>
          <p:txBody>
            <a:bodyPr/>
            <a:lstStyle/>
            <a:p/>
          </p:txBody>
        </p:sp>
        <p:sp>
          <p:nvSpPr>
            <p:cNvPr id="1150" name="r"/>
            <p:cNvSpPr/>
            <p:nvPr/>
          </p:nvSpPr>
          <p:spPr>
            <a:xfrm>
              <a:off x="20000" y="53000"/>
              <a:ext cx="5200" cy="5200"/>
            </a:xfrm>
            <a:prstGeom prst="rect">
              <a:avLst/>
            </a:prstGeom>
            <a:solidFill>
              <a:srgbClr val="00C2D1"/>
            </a:solidFill>
            <a:ln w="4000">
              <a:solidFill>
                <a:srgbClr val="3B82F6"/>
              </a:solidFill>
            </a:ln>
          </p:spPr>
          <p:txBody>
            <a:bodyPr/>
            <a:lstStyle/>
            <a:p/>
          </p:txBody>
        </p:sp>
        <p:sp>
          <p:nvSpPr>
            <p:cNvPr id="1151" name="r"/>
            <p:cNvSpPr/>
            <p:nvPr/>
          </p:nvSpPr>
          <p:spPr>
            <a:xfrm>
              <a:off x="27000" y="53000"/>
              <a:ext cx="5200" cy="5200"/>
            </a:xfrm>
            <a:prstGeom prst="rect">
              <a:avLst/>
            </a:prstGeom>
            <a:solidFill>
              <a:srgbClr val="00C2D1"/>
            </a:solidFill>
            <a:ln w="4000">
              <a:solidFill>
                <a:srgbClr val="3B82F6"/>
              </a:solidFill>
            </a:ln>
          </p:spPr>
          <p:txBody>
            <a:bodyPr/>
            <a:lstStyle/>
            <a:p/>
          </p:txBody>
        </p:sp>
        <p:sp>
          <p:nvSpPr>
            <p:cNvPr id="1152" name="r"/>
            <p:cNvSpPr/>
            <p:nvPr/>
          </p:nvSpPr>
          <p:spPr>
            <a:xfrm>
              <a:off x="34000" y="53000"/>
              <a:ext cx="5200" cy="5200"/>
            </a:xfrm>
            <a:prstGeom prst="rect">
              <a:avLst/>
            </a:prstGeom>
            <a:solidFill>
              <a:srgbClr val="00C2D1"/>
            </a:solidFill>
            <a:ln w="4000">
              <a:solidFill>
                <a:srgbClr val="3B82F6"/>
              </a:solidFill>
            </a:ln>
          </p:spPr>
          <p:txBody>
            <a:bodyPr/>
            <a:lstStyle/>
            <a:p/>
          </p:txBody>
        </p:sp>
        <p:sp>
          <p:nvSpPr>
            <p:cNvPr id="1153" name="r"/>
            <p:cNvSpPr/>
            <p:nvPr/>
          </p:nvSpPr>
          <p:spPr>
            <a:xfrm>
              <a:off x="41000" y="53000"/>
              <a:ext cx="5200" cy="5200"/>
            </a:xfrm>
            <a:prstGeom prst="rect">
              <a:avLst/>
            </a:prstGeom>
            <a:solidFill>
              <a:srgbClr val="00C2D1"/>
            </a:solidFill>
            <a:ln w="4000">
              <a:solidFill>
                <a:srgbClr val="3B82F6"/>
              </a:solidFill>
            </a:ln>
          </p:spPr>
          <p:txBody>
            <a:bodyPr/>
            <a:lstStyle/>
            <a:p/>
          </p:txBody>
        </p:sp>
        <p:sp>
          <p:nvSpPr>
            <p:cNvPr id="1154" name="r"/>
            <p:cNvSpPr/>
            <p:nvPr/>
          </p:nvSpPr>
          <p:spPr>
            <a:xfrm>
              <a:off x="48000" y="53000"/>
              <a:ext cx="5200" cy="5200"/>
            </a:xfrm>
            <a:prstGeom prst="rect">
              <a:avLst/>
            </a:prstGeom>
            <a:solidFill>
              <a:srgbClr val="00C2D1"/>
            </a:solidFill>
            <a:ln w="4000">
              <a:solidFill>
                <a:srgbClr val="3B82F6"/>
              </a:solidFill>
            </a:ln>
          </p:spPr>
          <p:txBody>
            <a:bodyPr/>
            <a:lstStyle/>
            <a:p/>
          </p:txBody>
        </p:sp>
        <p:sp>
          <p:nvSpPr>
            <p:cNvPr id="1155" name="r"/>
            <p:cNvSpPr/>
            <p:nvPr/>
          </p:nvSpPr>
          <p:spPr>
            <a:xfrm>
              <a:off x="55000" y="53000"/>
              <a:ext cx="5200" cy="5200"/>
            </a:xfrm>
            <a:prstGeom prst="rect">
              <a:avLst/>
            </a:prstGeom>
            <a:solidFill>
              <a:srgbClr val="00C2D1"/>
            </a:solidFill>
            <a:ln w="4000">
              <a:solidFill>
                <a:srgbClr val="3B82F6"/>
              </a:solidFill>
            </a:ln>
          </p:spPr>
          <p:txBody>
            <a:bodyPr/>
            <a:lstStyle/>
            <a:p/>
          </p:txBody>
        </p:sp>
        <p:sp>
          <p:nvSpPr>
            <p:cNvPr id="1156" name="r"/>
            <p:cNvSpPr/>
            <p:nvPr/>
          </p:nvSpPr>
          <p:spPr>
            <a:xfrm>
              <a:off x="62000" y="53000"/>
              <a:ext cx="5200" cy="5200"/>
            </a:xfrm>
            <a:prstGeom prst="rect">
              <a:avLst/>
            </a:prstGeom>
            <a:solidFill>
              <a:srgbClr val="00C2D1"/>
            </a:solidFill>
            <a:ln w="4000">
              <a:solidFill>
                <a:srgbClr val="3B82F6"/>
              </a:solidFill>
            </a:ln>
          </p:spPr>
          <p:txBody>
            <a:bodyPr/>
            <a:lstStyle/>
            <a:p/>
          </p:txBody>
        </p:sp>
        <p:sp>
          <p:nvSpPr>
            <p:cNvPr id="1157" name="r"/>
            <p:cNvSpPr/>
            <p:nvPr/>
          </p:nvSpPr>
          <p:spPr>
            <a:xfrm>
              <a:off x="69000" y="53000"/>
              <a:ext cx="5200" cy="5200"/>
            </a:xfrm>
            <a:prstGeom prst="rect">
              <a:avLst/>
            </a:prstGeom>
            <a:solidFill>
              <a:srgbClr val="00C2D1"/>
            </a:solidFill>
            <a:ln w="4000">
              <a:solidFill>
                <a:srgbClr val="3B82F6"/>
              </a:solidFill>
            </a:ln>
          </p:spPr>
          <p:txBody>
            <a:bodyPr/>
            <a:lstStyle/>
            <a:p/>
          </p:txBody>
        </p:sp>
        <p:sp>
          <p:nvSpPr>
            <p:cNvPr id="1158" name="r"/>
            <p:cNvSpPr/>
            <p:nvPr/>
          </p:nvSpPr>
          <p:spPr>
            <a:xfrm>
              <a:off x="76000" y="53000"/>
              <a:ext cx="5200" cy="5200"/>
            </a:xfrm>
            <a:prstGeom prst="rect">
              <a:avLst/>
            </a:prstGeom>
            <a:solidFill>
              <a:srgbClr val="00C2D1"/>
            </a:solidFill>
            <a:ln w="4000">
              <a:solidFill>
                <a:srgbClr val="3B82F6"/>
              </a:solidFill>
            </a:ln>
          </p:spPr>
          <p:txBody>
            <a:bodyPr/>
            <a:lstStyle/>
            <a:p/>
          </p:txBody>
        </p:sp>
        <p:sp>
          <p:nvSpPr>
            <p:cNvPr id="1159" name="r"/>
            <p:cNvSpPr/>
            <p:nvPr/>
          </p:nvSpPr>
          <p:spPr>
            <a:xfrm>
              <a:off x="20000" y="60000"/>
              <a:ext cx="5200" cy="5200"/>
            </a:xfrm>
            <a:prstGeom prst="rect">
              <a:avLst/>
            </a:prstGeom>
            <a:noFill/>
            <a:ln w="4000">
              <a:solidFill>
                <a:srgbClr val="243B55"/>
              </a:solidFill>
            </a:ln>
          </p:spPr>
          <p:txBody>
            <a:bodyPr/>
            <a:lstStyle/>
            <a:p/>
          </p:txBody>
        </p:sp>
        <p:sp>
          <p:nvSpPr>
            <p:cNvPr id="1160" name="r"/>
            <p:cNvSpPr/>
            <p:nvPr/>
          </p:nvSpPr>
          <p:spPr>
            <a:xfrm>
              <a:off x="27000" y="60000"/>
              <a:ext cx="5200" cy="5200"/>
            </a:xfrm>
            <a:prstGeom prst="rect">
              <a:avLst/>
            </a:prstGeom>
            <a:noFill/>
            <a:ln w="4000">
              <a:solidFill>
                <a:srgbClr val="243B55"/>
              </a:solidFill>
            </a:ln>
          </p:spPr>
          <p:txBody>
            <a:bodyPr/>
            <a:lstStyle/>
            <a:p/>
          </p:txBody>
        </p:sp>
        <p:sp>
          <p:nvSpPr>
            <p:cNvPr id="1161" name="r"/>
            <p:cNvSpPr/>
            <p:nvPr/>
          </p:nvSpPr>
          <p:spPr>
            <a:xfrm>
              <a:off x="34000" y="60000"/>
              <a:ext cx="5200" cy="5200"/>
            </a:xfrm>
            <a:prstGeom prst="rect">
              <a:avLst/>
            </a:prstGeom>
            <a:noFill/>
            <a:ln w="4000">
              <a:solidFill>
                <a:srgbClr val="243B55"/>
              </a:solidFill>
            </a:ln>
          </p:spPr>
          <p:txBody>
            <a:bodyPr/>
            <a:lstStyle/>
            <a:p/>
          </p:txBody>
        </p:sp>
        <p:sp>
          <p:nvSpPr>
            <p:cNvPr id="1162" name="r"/>
            <p:cNvSpPr/>
            <p:nvPr/>
          </p:nvSpPr>
          <p:spPr>
            <a:xfrm>
              <a:off x="41000" y="60000"/>
              <a:ext cx="5200" cy="5200"/>
            </a:xfrm>
            <a:prstGeom prst="rect">
              <a:avLst/>
            </a:prstGeom>
            <a:noFill/>
            <a:ln w="4000">
              <a:solidFill>
                <a:srgbClr val="243B55"/>
              </a:solidFill>
            </a:ln>
          </p:spPr>
          <p:txBody>
            <a:bodyPr/>
            <a:lstStyle/>
            <a:p/>
          </p:txBody>
        </p:sp>
        <p:sp>
          <p:nvSpPr>
            <p:cNvPr id="1163" name="r"/>
            <p:cNvSpPr/>
            <p:nvPr/>
          </p:nvSpPr>
          <p:spPr>
            <a:xfrm>
              <a:off x="48000" y="60000"/>
              <a:ext cx="5200" cy="5200"/>
            </a:xfrm>
            <a:prstGeom prst="rect">
              <a:avLst/>
            </a:prstGeom>
            <a:noFill/>
            <a:ln w="4000">
              <a:solidFill>
                <a:srgbClr val="243B55"/>
              </a:solidFill>
            </a:ln>
          </p:spPr>
          <p:txBody>
            <a:bodyPr/>
            <a:lstStyle/>
            <a:p/>
          </p:txBody>
        </p:sp>
        <p:sp>
          <p:nvSpPr>
            <p:cNvPr id="1164" name="r"/>
            <p:cNvSpPr/>
            <p:nvPr/>
          </p:nvSpPr>
          <p:spPr>
            <a:xfrm>
              <a:off x="55000" y="60000"/>
              <a:ext cx="5200" cy="5200"/>
            </a:xfrm>
            <a:prstGeom prst="rect">
              <a:avLst/>
            </a:prstGeom>
            <a:solidFill>
              <a:srgbClr val="00C2D1"/>
            </a:solidFill>
            <a:ln w="4000">
              <a:solidFill>
                <a:srgbClr val="3B82F6"/>
              </a:solidFill>
            </a:ln>
          </p:spPr>
          <p:txBody>
            <a:bodyPr/>
            <a:lstStyle/>
            <a:p/>
          </p:txBody>
        </p:sp>
        <p:sp>
          <p:nvSpPr>
            <p:cNvPr id="1165" name="r"/>
            <p:cNvSpPr/>
            <p:nvPr/>
          </p:nvSpPr>
          <p:spPr>
            <a:xfrm>
              <a:off x="62000" y="60000"/>
              <a:ext cx="5200" cy="5200"/>
            </a:xfrm>
            <a:prstGeom prst="rect">
              <a:avLst/>
            </a:prstGeom>
            <a:solidFill>
              <a:srgbClr val="00C2D1"/>
            </a:solidFill>
            <a:ln w="4000">
              <a:solidFill>
                <a:srgbClr val="3B82F6"/>
              </a:solidFill>
            </a:ln>
          </p:spPr>
          <p:txBody>
            <a:bodyPr/>
            <a:lstStyle/>
            <a:p/>
          </p:txBody>
        </p:sp>
        <p:sp>
          <p:nvSpPr>
            <p:cNvPr id="1166" name="r"/>
            <p:cNvSpPr/>
            <p:nvPr/>
          </p:nvSpPr>
          <p:spPr>
            <a:xfrm>
              <a:off x="69000" y="60000"/>
              <a:ext cx="5200" cy="5200"/>
            </a:xfrm>
            <a:prstGeom prst="rect">
              <a:avLst/>
            </a:prstGeom>
            <a:solidFill>
              <a:srgbClr val="00C2D1"/>
            </a:solidFill>
            <a:ln w="4000">
              <a:solidFill>
                <a:srgbClr val="3B82F6"/>
              </a:solidFill>
            </a:ln>
          </p:spPr>
          <p:txBody>
            <a:bodyPr/>
            <a:lstStyle/>
            <a:p/>
          </p:txBody>
        </p:sp>
        <p:sp>
          <p:nvSpPr>
            <p:cNvPr id="1167" name="r"/>
            <p:cNvSpPr/>
            <p:nvPr/>
          </p:nvSpPr>
          <p:spPr>
            <a:xfrm>
              <a:off x="76000" y="60000"/>
              <a:ext cx="5200" cy="5200"/>
            </a:xfrm>
            <a:prstGeom prst="rect">
              <a:avLst/>
            </a:prstGeom>
            <a:solidFill>
              <a:srgbClr val="00C2D1"/>
            </a:solidFill>
            <a:ln w="4000">
              <a:solidFill>
                <a:srgbClr val="3B82F6"/>
              </a:solidFill>
            </a:ln>
          </p:spPr>
          <p:txBody>
            <a:bodyPr/>
            <a:lstStyle/>
            <a:p/>
          </p:txBody>
        </p:sp>
        <p:sp>
          <p:nvSpPr>
            <p:cNvPr id="1168" name="r"/>
            <p:cNvSpPr/>
            <p:nvPr/>
          </p:nvSpPr>
          <p:spPr>
            <a:xfrm>
              <a:off x="20000" y="67000"/>
              <a:ext cx="5200" cy="5200"/>
            </a:xfrm>
            <a:prstGeom prst="rect">
              <a:avLst/>
            </a:prstGeom>
            <a:noFill/>
            <a:ln w="4000">
              <a:solidFill>
                <a:srgbClr val="243B55"/>
              </a:solidFill>
            </a:ln>
          </p:spPr>
          <p:txBody>
            <a:bodyPr/>
            <a:lstStyle/>
            <a:p/>
          </p:txBody>
        </p:sp>
        <p:sp>
          <p:nvSpPr>
            <p:cNvPr id="1169" name="r"/>
            <p:cNvSpPr/>
            <p:nvPr/>
          </p:nvSpPr>
          <p:spPr>
            <a:xfrm>
              <a:off x="27000" y="67000"/>
              <a:ext cx="5200" cy="5200"/>
            </a:xfrm>
            <a:prstGeom prst="rect">
              <a:avLst/>
            </a:prstGeom>
            <a:noFill/>
            <a:ln w="4000">
              <a:solidFill>
                <a:srgbClr val="243B55"/>
              </a:solidFill>
            </a:ln>
          </p:spPr>
          <p:txBody>
            <a:bodyPr/>
            <a:lstStyle/>
            <a:p/>
          </p:txBody>
        </p:sp>
        <p:sp>
          <p:nvSpPr>
            <p:cNvPr id="1170" name="r"/>
            <p:cNvSpPr/>
            <p:nvPr/>
          </p:nvSpPr>
          <p:spPr>
            <a:xfrm>
              <a:off x="34000" y="67000"/>
              <a:ext cx="5200" cy="5200"/>
            </a:xfrm>
            <a:prstGeom prst="rect">
              <a:avLst/>
            </a:prstGeom>
            <a:noFill/>
            <a:ln w="4000">
              <a:solidFill>
                <a:srgbClr val="243B55"/>
              </a:solidFill>
            </a:ln>
          </p:spPr>
          <p:txBody>
            <a:bodyPr/>
            <a:lstStyle/>
            <a:p/>
          </p:txBody>
        </p:sp>
        <p:sp>
          <p:nvSpPr>
            <p:cNvPr id="1171" name="r"/>
            <p:cNvSpPr/>
            <p:nvPr/>
          </p:nvSpPr>
          <p:spPr>
            <a:xfrm>
              <a:off x="41000" y="67000"/>
              <a:ext cx="5200" cy="5200"/>
            </a:xfrm>
            <a:prstGeom prst="rect">
              <a:avLst/>
            </a:prstGeom>
            <a:solidFill>
              <a:srgbClr val="00C2D1"/>
            </a:solidFill>
            <a:ln w="4000">
              <a:solidFill>
                <a:srgbClr val="3B82F6"/>
              </a:solidFill>
            </a:ln>
          </p:spPr>
          <p:txBody>
            <a:bodyPr/>
            <a:lstStyle/>
            <a:p/>
          </p:txBody>
        </p:sp>
        <p:sp>
          <p:nvSpPr>
            <p:cNvPr id="1172" name="r"/>
            <p:cNvSpPr/>
            <p:nvPr/>
          </p:nvSpPr>
          <p:spPr>
            <a:xfrm>
              <a:off x="48000" y="67000"/>
              <a:ext cx="5200" cy="5200"/>
            </a:xfrm>
            <a:prstGeom prst="rect">
              <a:avLst/>
            </a:prstGeom>
            <a:solidFill>
              <a:srgbClr val="00C2D1"/>
            </a:solidFill>
            <a:ln w="4000">
              <a:solidFill>
                <a:srgbClr val="3B82F6"/>
              </a:solidFill>
            </a:ln>
          </p:spPr>
          <p:txBody>
            <a:bodyPr/>
            <a:lstStyle/>
            <a:p/>
          </p:txBody>
        </p:sp>
        <p:sp>
          <p:nvSpPr>
            <p:cNvPr id="1173" name="r"/>
            <p:cNvSpPr/>
            <p:nvPr/>
          </p:nvSpPr>
          <p:spPr>
            <a:xfrm>
              <a:off x="55000" y="67000"/>
              <a:ext cx="5200" cy="5200"/>
            </a:xfrm>
            <a:prstGeom prst="rect">
              <a:avLst/>
            </a:prstGeom>
            <a:solidFill>
              <a:srgbClr val="00C2D1"/>
            </a:solidFill>
            <a:ln w="4000">
              <a:solidFill>
                <a:srgbClr val="3B82F6"/>
              </a:solidFill>
            </a:ln>
          </p:spPr>
          <p:txBody>
            <a:bodyPr/>
            <a:lstStyle/>
            <a:p/>
          </p:txBody>
        </p:sp>
        <p:sp>
          <p:nvSpPr>
            <p:cNvPr id="1174" name="r"/>
            <p:cNvSpPr/>
            <p:nvPr/>
          </p:nvSpPr>
          <p:spPr>
            <a:xfrm>
              <a:off x="62000" y="67000"/>
              <a:ext cx="5200" cy="5200"/>
            </a:xfrm>
            <a:prstGeom prst="rect">
              <a:avLst/>
            </a:prstGeom>
            <a:noFill/>
            <a:ln w="4000">
              <a:solidFill>
                <a:srgbClr val="243B55"/>
              </a:solidFill>
            </a:ln>
          </p:spPr>
          <p:txBody>
            <a:bodyPr/>
            <a:lstStyle/>
            <a:p/>
          </p:txBody>
        </p:sp>
        <p:sp>
          <p:nvSpPr>
            <p:cNvPr id="1175" name="r"/>
            <p:cNvSpPr/>
            <p:nvPr/>
          </p:nvSpPr>
          <p:spPr>
            <a:xfrm>
              <a:off x="69000" y="67000"/>
              <a:ext cx="5200" cy="5200"/>
            </a:xfrm>
            <a:prstGeom prst="rect">
              <a:avLst/>
            </a:prstGeom>
            <a:noFill/>
            <a:ln w="4000">
              <a:solidFill>
                <a:srgbClr val="243B55"/>
              </a:solidFill>
            </a:ln>
          </p:spPr>
          <p:txBody>
            <a:bodyPr/>
            <a:lstStyle/>
            <a:p/>
          </p:txBody>
        </p:sp>
        <p:sp>
          <p:nvSpPr>
            <p:cNvPr id="1176" name="r"/>
            <p:cNvSpPr/>
            <p:nvPr/>
          </p:nvSpPr>
          <p:spPr>
            <a:xfrm>
              <a:off x="76000" y="67000"/>
              <a:ext cx="5200" cy="5200"/>
            </a:xfrm>
            <a:prstGeom prst="rect">
              <a:avLst/>
            </a:prstGeom>
            <a:noFill/>
            <a:ln w="4000">
              <a:solidFill>
                <a:srgbClr val="243B55"/>
              </a:solidFill>
            </a:ln>
          </p:spPr>
          <p:txBody>
            <a:bodyPr/>
            <a:lstStyle/>
            <a:p/>
          </p:txBody>
        </p:sp>
        <p:sp>
          <p:nvSpPr>
            <p:cNvPr id="1177" name="r"/>
            <p:cNvSpPr/>
            <p:nvPr/>
          </p:nvSpPr>
          <p:spPr>
            <a:xfrm>
              <a:off x="20000" y="74000"/>
              <a:ext cx="5200" cy="5200"/>
            </a:xfrm>
            <a:prstGeom prst="rect">
              <a:avLst/>
            </a:prstGeom>
            <a:noFill/>
            <a:ln w="4000">
              <a:solidFill>
                <a:srgbClr val="243B55"/>
              </a:solidFill>
            </a:ln>
          </p:spPr>
          <p:txBody>
            <a:bodyPr/>
            <a:lstStyle/>
            <a:p/>
          </p:txBody>
        </p:sp>
        <p:sp>
          <p:nvSpPr>
            <p:cNvPr id="1178" name="r"/>
            <p:cNvSpPr/>
            <p:nvPr/>
          </p:nvSpPr>
          <p:spPr>
            <a:xfrm>
              <a:off x="27000" y="74000"/>
              <a:ext cx="5200" cy="5200"/>
            </a:xfrm>
            <a:prstGeom prst="rect">
              <a:avLst/>
            </a:prstGeom>
            <a:noFill/>
            <a:ln w="4000">
              <a:solidFill>
                <a:srgbClr val="243B55"/>
              </a:solidFill>
            </a:ln>
          </p:spPr>
          <p:txBody>
            <a:bodyPr/>
            <a:lstStyle/>
            <a:p/>
          </p:txBody>
        </p:sp>
        <p:sp>
          <p:nvSpPr>
            <p:cNvPr id="1179" name="r"/>
            <p:cNvSpPr/>
            <p:nvPr/>
          </p:nvSpPr>
          <p:spPr>
            <a:xfrm>
              <a:off x="34000" y="74000"/>
              <a:ext cx="5200" cy="5200"/>
            </a:xfrm>
            <a:prstGeom prst="rect">
              <a:avLst/>
            </a:prstGeom>
            <a:solidFill>
              <a:srgbClr val="00C2D1"/>
            </a:solidFill>
            <a:ln w="4000">
              <a:solidFill>
                <a:srgbClr val="3B82F6"/>
              </a:solidFill>
            </a:ln>
          </p:spPr>
          <p:txBody>
            <a:bodyPr/>
            <a:lstStyle/>
            <a:p/>
          </p:txBody>
        </p:sp>
        <p:sp>
          <p:nvSpPr>
            <p:cNvPr id="1180" name="r"/>
            <p:cNvSpPr/>
            <p:nvPr/>
          </p:nvSpPr>
          <p:spPr>
            <a:xfrm>
              <a:off x="41000" y="74000"/>
              <a:ext cx="5200" cy="5200"/>
            </a:xfrm>
            <a:prstGeom prst="rect">
              <a:avLst/>
            </a:prstGeom>
            <a:noFill/>
            <a:ln w="4000">
              <a:solidFill>
                <a:srgbClr val="243B55"/>
              </a:solidFill>
            </a:ln>
          </p:spPr>
          <p:txBody>
            <a:bodyPr/>
            <a:lstStyle/>
            <a:p/>
          </p:txBody>
        </p:sp>
        <p:sp>
          <p:nvSpPr>
            <p:cNvPr id="1181" name="r"/>
            <p:cNvSpPr/>
            <p:nvPr/>
          </p:nvSpPr>
          <p:spPr>
            <a:xfrm>
              <a:off x="48000" y="74000"/>
              <a:ext cx="5200" cy="5200"/>
            </a:xfrm>
            <a:prstGeom prst="rect">
              <a:avLst/>
            </a:prstGeom>
            <a:solidFill>
              <a:srgbClr val="00C2D1"/>
            </a:solidFill>
            <a:ln w="4000">
              <a:solidFill>
                <a:srgbClr val="3B82F6"/>
              </a:solidFill>
            </a:ln>
          </p:spPr>
          <p:txBody>
            <a:bodyPr/>
            <a:lstStyle/>
            <a:p/>
          </p:txBody>
        </p:sp>
        <p:sp>
          <p:nvSpPr>
            <p:cNvPr id="1182" name="r"/>
            <p:cNvSpPr/>
            <p:nvPr/>
          </p:nvSpPr>
          <p:spPr>
            <a:xfrm>
              <a:off x="55000" y="74000"/>
              <a:ext cx="5200" cy="5200"/>
            </a:xfrm>
            <a:prstGeom prst="rect">
              <a:avLst/>
            </a:prstGeom>
            <a:noFill/>
            <a:ln w="4000">
              <a:solidFill>
                <a:srgbClr val="243B55"/>
              </a:solidFill>
            </a:ln>
          </p:spPr>
          <p:txBody>
            <a:bodyPr/>
            <a:lstStyle/>
            <a:p/>
          </p:txBody>
        </p:sp>
        <p:sp>
          <p:nvSpPr>
            <p:cNvPr id="1183" name="r"/>
            <p:cNvSpPr/>
            <p:nvPr/>
          </p:nvSpPr>
          <p:spPr>
            <a:xfrm>
              <a:off x="62000" y="74000"/>
              <a:ext cx="5200" cy="5200"/>
            </a:xfrm>
            <a:prstGeom prst="rect">
              <a:avLst/>
            </a:prstGeom>
            <a:solidFill>
              <a:srgbClr val="00C2D1"/>
            </a:solidFill>
            <a:ln w="4000">
              <a:solidFill>
                <a:srgbClr val="3B82F6"/>
              </a:solidFill>
            </a:ln>
          </p:spPr>
          <p:txBody>
            <a:bodyPr/>
            <a:lstStyle/>
            <a:p/>
          </p:txBody>
        </p:sp>
        <p:sp>
          <p:nvSpPr>
            <p:cNvPr id="1184" name="r"/>
            <p:cNvSpPr/>
            <p:nvPr/>
          </p:nvSpPr>
          <p:spPr>
            <a:xfrm>
              <a:off x="69000" y="74000"/>
              <a:ext cx="5200" cy="5200"/>
            </a:xfrm>
            <a:prstGeom prst="rect">
              <a:avLst/>
            </a:prstGeom>
            <a:noFill/>
            <a:ln w="4000">
              <a:solidFill>
                <a:srgbClr val="243B55"/>
              </a:solidFill>
            </a:ln>
          </p:spPr>
          <p:txBody>
            <a:bodyPr/>
            <a:lstStyle/>
            <a:p/>
          </p:txBody>
        </p:sp>
        <p:sp>
          <p:nvSpPr>
            <p:cNvPr id="1185" name="r"/>
            <p:cNvSpPr/>
            <p:nvPr/>
          </p:nvSpPr>
          <p:spPr>
            <a:xfrm>
              <a:off x="76000" y="74000"/>
              <a:ext cx="5200" cy="5200"/>
            </a:xfrm>
            <a:prstGeom prst="rect">
              <a:avLst/>
            </a:prstGeom>
            <a:noFill/>
            <a:ln w="4000">
              <a:solidFill>
                <a:srgbClr val="243B55"/>
              </a:solidFill>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
          <p:cNvSpPr/>
          <p:nvPr/>
        </p:nvSpPr>
        <p:spPr>
          <a:xfrm>
            <a:off x="11658600" y="3035808"/>
            <a:ext cx="109728" cy="109728"/>
          </a:xfrm>
          <a:prstGeom prst="roundRect">
            <a:avLst/>
          </a:prstGeom>
          <a:noFill/>
          <a:ln w="12700">
            <a:solidFill>
              <a:srgbClr val="2A4563"/>
            </a:solidFill>
          </a:ln>
        </p:spPr>
        <p:txBody>
          <a:bodyPr/>
          <a:lstStyle/>
          <a:p/>
        </p:txBody>
      </p:sp>
      <p:sp>
        <p:nvSpPr>
          <p:cNvPr id="20" name="dotA"/>
          <p:cNvSpPr/>
          <p:nvPr/>
        </p:nvSpPr>
        <p:spPr>
          <a:xfrm>
            <a:off x="11631168" y="3419856"/>
            <a:ext cx="164592" cy="164592"/>
          </a:xfrm>
          <a:prstGeom prst="roundRect">
            <a:avLst/>
          </a:prstGeom>
          <a:solidFill>
            <a:srgbClr val="00C2D1"/>
          </a:solidFill>
          <a:ln>
            <a:noFill/>
          </a:ln>
        </p:spPr>
        <p:txBody>
          <a:bodyPr/>
          <a:lstStyle/>
          <a:p/>
        </p:txBody>
      </p:sp>
      <p:sp>
        <p:nvSpPr>
          <p:cNvPr id="21" name="dot"/>
          <p:cNvSpPr/>
          <p:nvPr/>
        </p:nvSpPr>
        <p:spPr>
          <a:xfrm>
            <a:off x="11658600" y="3803904"/>
            <a:ext cx="109728" cy="109728"/>
          </a:xfrm>
          <a:prstGeom prst="roundRect">
            <a:avLst/>
          </a:prstGeom>
          <a:noFill/>
          <a:ln w="12700">
            <a:solidFill>
              <a:srgbClr val="2A4563"/>
            </a:solid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06 / 10</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3-REJA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3. Ultratovush (Ultrasonic) skanerlar</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Zamonaviy flagman smartfonlarda (masalan, Samsung Galaxy S seriyasi) ishlatiladigan bu texnologiya yorug'likdan emas, balki tovush to'lqinlaridan foydalanadi.</a:t>
            </a:r>
          </a:p>
          <a:p>
            <a:pPr>
              <a:lnSpc>
                <a:spcPct val="110000"/>
              </a:lnSpc>
              <a:spcAft>
                <a:spcPts val="1100"/>
              </a:spcAft>
            </a:pPr>
            <a:r>
              <a:rPr lang="uz-UZ" sz="1600" dirty="0">
                <a:solidFill>
                  <a:srgbClr val="E2E8F0"/>
                </a:solidFill>
                <a:latin typeface="Times New Roman"/>
                <a:cs typeface="Times New Roman"/>
                <a:ea typeface="Times New Roman"/>
              </a:rPr>
              <a:t>- Pyezoelektrik effekt: Skaner ostidagi datchik inson qulog'i eshitmaydigan yuqori chastotali (ultratovush) impuls tarqatadi.</a:t>
            </a:r>
          </a:p>
          <a:p>
            <a:pPr>
              <a:lnSpc>
                <a:spcPct val="110000"/>
              </a:lnSpc>
              <a:spcAft>
                <a:spcPts val="1100"/>
              </a:spcAft>
            </a:pPr>
            <a:r>
              <a:rPr lang="uz-UZ" sz="1600" dirty="0">
                <a:solidFill>
                  <a:srgbClr val="E2E8F0"/>
                </a:solidFill>
                <a:latin typeface="Times New Roman"/>
                <a:cs typeface="Times New Roman"/>
                <a:ea typeface="Times New Roman"/>
              </a:rPr>
              <a:t>- Bu to'lqinlar displey orqali o'tib, to'g'ridan-to'g'ri barmog'ingizga borib uriladi va aks-sado (Echo) bo'lib orqaga qaytadi.</a:t>
            </a:r>
          </a:p>
        </p:txBody>
      </p:sp>
      <p:grpSp>
        <p:nvGrpSpPr>
          <p:cNvPr id="1201" name="illustration"/>
          <p:cNvGrpSpPr/>
          <p:nvPr/>
        </p:nvGrpSpPr>
        <p:grpSpPr>
          <a:xfrm>
            <a:off x="7635240" y="2011680"/>
            <a:ext cx="3749039" cy="4206240"/>
            <a:chOff x="0" y="0"/>
            <a:chExt cx="100000" cy="100000"/>
          </a:xfrm>
        </p:grpSpPr>
        <p:sp>
          <p:nvSpPr>
            <p:cNvPr id="1187"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188" name="l"/>
            <p:cNvCxnSpPr/>
            <p:nvPr/>
          </p:nvCxnSpPr>
          <p:spPr>
            <a:xfrm flipH="0" flipV="0">
              <a:off x="3000" y="7000"/>
              <a:ext cx="17000" cy="1"/>
            </a:xfrm>
            <a:prstGeom prst="line">
              <a:avLst/>
            </a:prstGeom>
            <a:ln w="19050" cap="rnd">
              <a:solidFill>
                <a:srgbClr val="00C2D1"/>
              </a:solidFill>
            </a:ln>
          </p:spPr>
        </p:cxnSp>
        <p:cxnSp>
          <p:nvCxnSpPr>
            <p:cNvPr id="1189" name="l"/>
            <p:cNvCxnSpPr/>
            <p:nvPr/>
          </p:nvCxnSpPr>
          <p:spPr>
            <a:xfrm flipH="0" flipV="0">
              <a:off x="3000" y="7000"/>
              <a:ext cx="1" cy="17000"/>
            </a:xfrm>
            <a:prstGeom prst="line">
              <a:avLst/>
            </a:prstGeom>
            <a:ln w="19050" cap="rnd">
              <a:solidFill>
                <a:srgbClr val="00C2D1"/>
              </a:solidFill>
            </a:ln>
          </p:spPr>
        </p:cxnSp>
        <p:cxnSp>
          <p:nvCxnSpPr>
            <p:cNvPr id="1190" name="l"/>
            <p:cNvCxnSpPr/>
            <p:nvPr/>
          </p:nvCxnSpPr>
          <p:spPr>
            <a:xfrm flipH="0" flipV="0">
              <a:off x="80000" y="93000"/>
              <a:ext cx="17000" cy="1"/>
            </a:xfrm>
            <a:prstGeom prst="line">
              <a:avLst/>
            </a:prstGeom>
            <a:ln w="19050" cap="rnd">
              <a:solidFill>
                <a:srgbClr val="3B82F6"/>
              </a:solidFill>
            </a:ln>
          </p:spPr>
        </p:cxnSp>
        <p:cxnSp>
          <p:nvCxnSpPr>
            <p:cNvPr id="1191" name="l"/>
            <p:cNvCxnSpPr/>
            <p:nvPr/>
          </p:nvCxnSpPr>
          <p:spPr>
            <a:xfrm flipH="0" flipV="0">
              <a:off x="97000" y="76000"/>
              <a:ext cx="1" cy="17000"/>
            </a:xfrm>
            <a:prstGeom prst="line">
              <a:avLst/>
            </a:prstGeom>
            <a:ln w="19050" cap="rnd">
              <a:solidFill>
                <a:srgbClr val="3B82F6"/>
              </a:solidFill>
            </a:ln>
          </p:spPr>
        </p:cxnSp>
        <p:sp>
          <p:nvSpPr>
            <p:cNvPr id="1192" name="r"/>
            <p:cNvSpPr/>
            <p:nvPr/>
          </p:nvSpPr>
          <p:spPr>
            <a:xfrm>
              <a:off x="14000" y="40000"/>
              <a:ext cx="10000" cy="20000"/>
            </a:xfrm>
            <a:prstGeom prst="roundRect">
              <a:avLst/>
            </a:prstGeom>
            <a:solidFill>
              <a:srgbClr val="3B82F6"/>
            </a:solidFill>
            <a:ln>
              <a:noFill/>
            </a:ln>
          </p:spPr>
          <p:txBody>
            <a:bodyPr/>
            <a:lstStyle/>
            <a:p/>
          </p:txBody>
        </p:sp>
        <p:sp>
          <p:nvSpPr>
            <p:cNvPr id="1193" name="f"/>
            <p:cNvSpPr/>
            <p:nvPr/>
          </p:nvSpPr>
          <p:spPr>
            <a:xfrm>
              <a:off x="0" y="0"/>
              <a:ext cx="7521" cy="27137"/>
            </a:xfrm>
            <a:custGeom>
              <a:avLst/>
              <a:gdLst/>
              <a:ahLst/>
              <a:cxnLst/>
              <a:rect l="0" t="0" r="7521" b="27137"/>
              <a:pathLst>
                <a:path w="7521" h="27137">
                  <a:moveTo>
                    <a:pt x="0" y="0"/>
                  </a:moveTo>
                  <a:lnTo>
                    <a:pt x="958" y="647"/>
                  </a:lnTo>
                  <a:lnTo>
                    <a:pt x="1866" y="1363"/>
                  </a:lnTo>
                  <a:lnTo>
                    <a:pt x="2721" y="2142"/>
                  </a:lnTo>
                  <a:lnTo>
                    <a:pt x="3517" y="2981"/>
                  </a:lnTo>
                  <a:lnTo>
                    <a:pt x="4251" y="3876"/>
                  </a:lnTo>
                  <a:lnTo>
                    <a:pt x="4918" y="4821"/>
                  </a:lnTo>
                  <a:lnTo>
                    <a:pt x="5515" y="5811"/>
                  </a:lnTo>
                  <a:lnTo>
                    <a:pt x="6039" y="6843"/>
                  </a:lnTo>
                  <a:lnTo>
                    <a:pt x="6486" y="7909"/>
                  </a:lnTo>
                  <a:lnTo>
                    <a:pt x="6856" y="9005"/>
                  </a:lnTo>
                  <a:lnTo>
                    <a:pt x="7146" y="10125"/>
                  </a:lnTo>
                  <a:lnTo>
                    <a:pt x="7354" y="11263"/>
                  </a:lnTo>
                  <a:lnTo>
                    <a:pt x="7479" y="12412"/>
                  </a:lnTo>
                  <a:lnTo>
                    <a:pt x="7521" y="13568"/>
                  </a:lnTo>
                  <a:lnTo>
                    <a:pt x="7479" y="14724"/>
                  </a:lnTo>
                  <a:lnTo>
                    <a:pt x="7354" y="15874"/>
                  </a:lnTo>
                  <a:lnTo>
                    <a:pt x="7146" y="17012"/>
                  </a:lnTo>
                  <a:lnTo>
                    <a:pt x="6856" y="18132"/>
                  </a:lnTo>
                  <a:lnTo>
                    <a:pt x="6486" y="19228"/>
                  </a:lnTo>
                  <a:lnTo>
                    <a:pt x="6039" y="20294"/>
                  </a:lnTo>
                  <a:lnTo>
                    <a:pt x="5515" y="21325"/>
                  </a:lnTo>
                  <a:lnTo>
                    <a:pt x="4918" y="22316"/>
                  </a:lnTo>
                  <a:lnTo>
                    <a:pt x="4251" y="23261"/>
                  </a:lnTo>
                  <a:lnTo>
                    <a:pt x="3517" y="24155"/>
                  </a:lnTo>
                  <a:lnTo>
                    <a:pt x="2721" y="24994"/>
                  </a:lnTo>
                  <a:lnTo>
                    <a:pt x="1866" y="25774"/>
                  </a:lnTo>
                  <a:lnTo>
                    <a:pt x="958" y="26489"/>
                  </a:lnTo>
                  <a:lnTo>
                    <a:pt x="0" y="27137"/>
                  </a:lnTo>
                </a:path>
              </a:pathLst>
            </a:custGeom>
            <a:noFill/>
            <a:ln w="4200" cap="rnd">
              <a:solidFill>
                <a:srgbClr val="00C2D1"/>
              </a:solidFill>
              <a:round/>
            </a:ln>
          </p:spPr>
          <p:txBody>
            <a:bodyPr/>
            <a:lstStyle/>
            <a:p/>
          </p:txBody>
        </p:sp>
        <p:sp>
          <p:nvSpPr>
            <p:cNvPr id="1194" name="f"/>
            <p:cNvSpPr/>
            <p:nvPr/>
          </p:nvSpPr>
          <p:spPr>
            <a:xfrm>
              <a:off x="0" y="0"/>
              <a:ext cx="12692" cy="45794"/>
            </a:xfrm>
            <a:custGeom>
              <a:avLst/>
              <a:gdLst/>
              <a:ahLst/>
              <a:cxnLst/>
              <a:rect l="0" t="0" r="12692" b="45794"/>
              <a:pathLst>
                <a:path w="12692" h="45794">
                  <a:moveTo>
                    <a:pt x="0" y="0"/>
                  </a:moveTo>
                  <a:lnTo>
                    <a:pt x="1616" y="1093"/>
                  </a:lnTo>
                  <a:lnTo>
                    <a:pt x="3150" y="2300"/>
                  </a:lnTo>
                  <a:lnTo>
                    <a:pt x="4592" y="3615"/>
                  </a:lnTo>
                  <a:lnTo>
                    <a:pt x="5936" y="5031"/>
                  </a:lnTo>
                  <a:lnTo>
                    <a:pt x="7174" y="6540"/>
                  </a:lnTo>
                  <a:lnTo>
                    <a:pt x="8299" y="8135"/>
                  </a:lnTo>
                  <a:lnTo>
                    <a:pt x="9306" y="9807"/>
                  </a:lnTo>
                  <a:lnTo>
                    <a:pt x="10190" y="11547"/>
                  </a:lnTo>
                  <a:lnTo>
                    <a:pt x="10946" y="13347"/>
                  </a:lnTo>
                  <a:lnTo>
                    <a:pt x="11570" y="15196"/>
                  </a:lnTo>
                  <a:lnTo>
                    <a:pt x="12059" y="17086"/>
                  </a:lnTo>
                  <a:lnTo>
                    <a:pt x="12410" y="19006"/>
                  </a:lnTo>
                  <a:lnTo>
                    <a:pt x="12621" y="20946"/>
                  </a:lnTo>
                  <a:lnTo>
                    <a:pt x="12692" y="22897"/>
                  </a:lnTo>
                  <a:lnTo>
                    <a:pt x="12621" y="24847"/>
                  </a:lnTo>
                  <a:lnTo>
                    <a:pt x="12410" y="26788"/>
                  </a:lnTo>
                  <a:lnTo>
                    <a:pt x="12059" y="28708"/>
                  </a:lnTo>
                  <a:lnTo>
                    <a:pt x="11570" y="30597"/>
                  </a:lnTo>
                  <a:lnTo>
                    <a:pt x="10946" y="32447"/>
                  </a:lnTo>
                  <a:lnTo>
                    <a:pt x="10190" y="34246"/>
                  </a:lnTo>
                  <a:lnTo>
                    <a:pt x="9306" y="35987"/>
                  </a:lnTo>
                  <a:lnTo>
                    <a:pt x="8299" y="37658"/>
                  </a:lnTo>
                  <a:lnTo>
                    <a:pt x="7174" y="39253"/>
                  </a:lnTo>
                  <a:lnTo>
                    <a:pt x="5936" y="40762"/>
                  </a:lnTo>
                  <a:lnTo>
                    <a:pt x="4592" y="42178"/>
                  </a:lnTo>
                  <a:lnTo>
                    <a:pt x="3150" y="43493"/>
                  </a:lnTo>
                  <a:lnTo>
                    <a:pt x="1616" y="44701"/>
                  </a:lnTo>
                  <a:lnTo>
                    <a:pt x="0" y="45794"/>
                  </a:lnTo>
                </a:path>
              </a:pathLst>
            </a:custGeom>
            <a:noFill/>
            <a:ln w="4200" cap="rnd">
              <a:solidFill>
                <a:srgbClr val="3B82F6"/>
              </a:solidFill>
              <a:round/>
            </a:ln>
          </p:spPr>
          <p:txBody>
            <a:bodyPr/>
            <a:lstStyle/>
            <a:p/>
          </p:txBody>
        </p:sp>
        <p:sp>
          <p:nvSpPr>
            <p:cNvPr id="1195" name="f"/>
            <p:cNvSpPr/>
            <p:nvPr/>
          </p:nvSpPr>
          <p:spPr>
            <a:xfrm>
              <a:off x="0" y="0"/>
              <a:ext cx="17863" cy="64451"/>
            </a:xfrm>
            <a:custGeom>
              <a:avLst/>
              <a:gdLst/>
              <a:ahLst/>
              <a:cxnLst/>
              <a:rect l="0" t="0" r="17863" b="64451"/>
              <a:pathLst>
                <a:path w="17863" h="64451">
                  <a:moveTo>
                    <a:pt x="0" y="0"/>
                  </a:moveTo>
                  <a:lnTo>
                    <a:pt x="2275" y="1538"/>
                  </a:lnTo>
                  <a:lnTo>
                    <a:pt x="4433" y="3238"/>
                  </a:lnTo>
                  <a:lnTo>
                    <a:pt x="6463" y="5089"/>
                  </a:lnTo>
                  <a:lnTo>
                    <a:pt x="8354" y="7081"/>
                  </a:lnTo>
                  <a:lnTo>
                    <a:pt x="10096" y="9205"/>
                  </a:lnTo>
                  <a:lnTo>
                    <a:pt x="11680" y="11450"/>
                  </a:lnTo>
                  <a:lnTo>
                    <a:pt x="13098" y="13803"/>
                  </a:lnTo>
                  <a:lnTo>
                    <a:pt x="14342" y="16252"/>
                  </a:lnTo>
                  <a:lnTo>
                    <a:pt x="15406" y="18784"/>
                  </a:lnTo>
                  <a:lnTo>
                    <a:pt x="16284" y="21387"/>
                  </a:lnTo>
                  <a:lnTo>
                    <a:pt x="16972" y="24047"/>
                  </a:lnTo>
                  <a:lnTo>
                    <a:pt x="17466" y="26749"/>
                  </a:lnTo>
                  <a:lnTo>
                    <a:pt x="17763" y="29480"/>
                  </a:lnTo>
                  <a:lnTo>
                    <a:pt x="17863" y="32225"/>
                  </a:lnTo>
                  <a:lnTo>
                    <a:pt x="17763" y="34971"/>
                  </a:lnTo>
                  <a:lnTo>
                    <a:pt x="17466" y="37701"/>
                  </a:lnTo>
                  <a:lnTo>
                    <a:pt x="16972" y="40404"/>
                  </a:lnTo>
                  <a:lnTo>
                    <a:pt x="16284" y="43063"/>
                  </a:lnTo>
                  <a:lnTo>
                    <a:pt x="15406" y="45666"/>
                  </a:lnTo>
                  <a:lnTo>
                    <a:pt x="14342" y="48199"/>
                  </a:lnTo>
                  <a:lnTo>
                    <a:pt x="13098" y="50648"/>
                  </a:lnTo>
                  <a:lnTo>
                    <a:pt x="11680" y="53001"/>
                  </a:lnTo>
                  <a:lnTo>
                    <a:pt x="10096" y="55245"/>
                  </a:lnTo>
                  <a:lnTo>
                    <a:pt x="8354" y="57369"/>
                  </a:lnTo>
                  <a:lnTo>
                    <a:pt x="6463" y="59362"/>
                  </a:lnTo>
                  <a:lnTo>
                    <a:pt x="4433" y="61213"/>
                  </a:lnTo>
                  <a:lnTo>
                    <a:pt x="2275" y="62912"/>
                  </a:lnTo>
                  <a:lnTo>
                    <a:pt x="0" y="64451"/>
                  </a:lnTo>
                </a:path>
              </a:pathLst>
            </a:custGeom>
            <a:noFill/>
            <a:ln w="4200" cap="rnd">
              <a:solidFill>
                <a:srgbClr val="00C2D1"/>
              </a:solidFill>
              <a:round/>
            </a:ln>
          </p:spPr>
          <p:txBody>
            <a:bodyPr/>
            <a:lstStyle/>
            <a:p/>
          </p:txBody>
        </p:sp>
        <p:sp>
          <p:nvSpPr>
            <p:cNvPr id="1196" name="f"/>
            <p:cNvSpPr/>
            <p:nvPr/>
          </p:nvSpPr>
          <p:spPr>
            <a:xfrm>
              <a:off x="0" y="0"/>
              <a:ext cx="23033" cy="83108"/>
            </a:xfrm>
            <a:custGeom>
              <a:avLst/>
              <a:gdLst/>
              <a:ahLst/>
              <a:cxnLst/>
              <a:rect l="0" t="0" r="23033" b="83108"/>
              <a:pathLst>
                <a:path w="23033" h="83108">
                  <a:moveTo>
                    <a:pt x="0" y="0"/>
                  </a:moveTo>
                  <a:lnTo>
                    <a:pt x="2934" y="1984"/>
                  </a:lnTo>
                  <a:lnTo>
                    <a:pt x="5717" y="4175"/>
                  </a:lnTo>
                  <a:lnTo>
                    <a:pt x="8334" y="6562"/>
                  </a:lnTo>
                  <a:lnTo>
                    <a:pt x="10773" y="9131"/>
                  </a:lnTo>
                  <a:lnTo>
                    <a:pt x="13019" y="11870"/>
                  </a:lnTo>
                  <a:lnTo>
                    <a:pt x="15062" y="14764"/>
                  </a:lnTo>
                  <a:lnTo>
                    <a:pt x="16890" y="17798"/>
                  </a:lnTo>
                  <a:lnTo>
                    <a:pt x="18494" y="20956"/>
                  </a:lnTo>
                  <a:lnTo>
                    <a:pt x="19866" y="24222"/>
                  </a:lnTo>
                  <a:lnTo>
                    <a:pt x="20998" y="27579"/>
                  </a:lnTo>
                  <a:lnTo>
                    <a:pt x="21885" y="31008"/>
                  </a:lnTo>
                  <a:lnTo>
                    <a:pt x="22522" y="34492"/>
                  </a:lnTo>
                  <a:lnTo>
                    <a:pt x="22905" y="38014"/>
                  </a:lnTo>
                  <a:lnTo>
                    <a:pt x="23033" y="41554"/>
                  </a:lnTo>
                  <a:lnTo>
                    <a:pt x="22905" y="45094"/>
                  </a:lnTo>
                  <a:lnTo>
                    <a:pt x="22522" y="48615"/>
                  </a:lnTo>
                  <a:lnTo>
                    <a:pt x="21885" y="52100"/>
                  </a:lnTo>
                  <a:lnTo>
                    <a:pt x="20998" y="55529"/>
                  </a:lnTo>
                  <a:lnTo>
                    <a:pt x="19866" y="58886"/>
                  </a:lnTo>
                  <a:lnTo>
                    <a:pt x="18494" y="62151"/>
                  </a:lnTo>
                  <a:lnTo>
                    <a:pt x="16890" y="65310"/>
                  </a:lnTo>
                  <a:lnTo>
                    <a:pt x="15062" y="68344"/>
                  </a:lnTo>
                  <a:lnTo>
                    <a:pt x="13019" y="71238"/>
                  </a:lnTo>
                  <a:lnTo>
                    <a:pt x="10773" y="73976"/>
                  </a:lnTo>
                  <a:lnTo>
                    <a:pt x="8334" y="76546"/>
                  </a:lnTo>
                  <a:lnTo>
                    <a:pt x="5717" y="78933"/>
                  </a:lnTo>
                  <a:lnTo>
                    <a:pt x="2934" y="81124"/>
                  </a:lnTo>
                  <a:lnTo>
                    <a:pt x="0" y="83108"/>
                  </a:lnTo>
                </a:path>
              </a:pathLst>
            </a:custGeom>
            <a:noFill/>
            <a:ln w="4200" cap="rnd">
              <a:solidFill>
                <a:srgbClr val="3B82F6"/>
              </a:solidFill>
              <a:round/>
            </a:ln>
          </p:spPr>
          <p:txBody>
            <a:bodyPr/>
            <a:lstStyle/>
            <a:p/>
          </p:txBody>
        </p:sp>
        <p:sp>
          <p:nvSpPr>
            <p:cNvPr id="1197" name="f"/>
            <p:cNvSpPr/>
            <p:nvPr/>
          </p:nvSpPr>
          <p:spPr>
            <a:xfrm>
              <a:off x="0" y="0"/>
              <a:ext cx="28204" cy="101765"/>
            </a:xfrm>
            <a:custGeom>
              <a:avLst/>
              <a:gdLst/>
              <a:ahLst/>
              <a:cxnLst/>
              <a:rect l="0" t="0" r="28204" b="101765"/>
              <a:pathLst>
                <a:path w="28204" h="101765">
                  <a:moveTo>
                    <a:pt x="0" y="0"/>
                  </a:moveTo>
                  <a:lnTo>
                    <a:pt x="3592" y="2429"/>
                  </a:lnTo>
                  <a:lnTo>
                    <a:pt x="7000" y="5113"/>
                  </a:lnTo>
                  <a:lnTo>
                    <a:pt x="10206" y="8035"/>
                  </a:lnTo>
                  <a:lnTo>
                    <a:pt x="13191" y="11181"/>
                  </a:lnTo>
                  <a:lnTo>
                    <a:pt x="15942" y="14535"/>
                  </a:lnTo>
                  <a:lnTo>
                    <a:pt x="18443" y="18079"/>
                  </a:lnTo>
                  <a:lnTo>
                    <a:pt x="20682" y="21794"/>
                  </a:lnTo>
                  <a:lnTo>
                    <a:pt x="22646" y="25661"/>
                  </a:lnTo>
                  <a:lnTo>
                    <a:pt x="24326" y="29660"/>
                  </a:lnTo>
                  <a:lnTo>
                    <a:pt x="25712" y="33770"/>
                  </a:lnTo>
                  <a:lnTo>
                    <a:pt x="26798" y="37969"/>
                  </a:lnTo>
                  <a:lnTo>
                    <a:pt x="27578" y="42236"/>
                  </a:lnTo>
                  <a:lnTo>
                    <a:pt x="28048" y="46548"/>
                  </a:lnTo>
                  <a:lnTo>
                    <a:pt x="28204" y="50882"/>
                  </a:lnTo>
                  <a:lnTo>
                    <a:pt x="28048" y="55217"/>
                  </a:lnTo>
                  <a:lnTo>
                    <a:pt x="27578" y="59529"/>
                  </a:lnTo>
                  <a:lnTo>
                    <a:pt x="26798" y="63796"/>
                  </a:lnTo>
                  <a:lnTo>
                    <a:pt x="25712" y="67995"/>
                  </a:lnTo>
                  <a:lnTo>
                    <a:pt x="24326" y="72105"/>
                  </a:lnTo>
                  <a:lnTo>
                    <a:pt x="22646" y="76104"/>
                  </a:lnTo>
                  <a:lnTo>
                    <a:pt x="20682" y="79971"/>
                  </a:lnTo>
                  <a:lnTo>
                    <a:pt x="18443" y="83686"/>
                  </a:lnTo>
                  <a:lnTo>
                    <a:pt x="15942" y="87230"/>
                  </a:lnTo>
                  <a:lnTo>
                    <a:pt x="13191" y="90584"/>
                  </a:lnTo>
                  <a:lnTo>
                    <a:pt x="10206" y="93730"/>
                  </a:lnTo>
                  <a:lnTo>
                    <a:pt x="7000" y="96652"/>
                  </a:lnTo>
                  <a:lnTo>
                    <a:pt x="3592" y="99335"/>
                  </a:lnTo>
                  <a:lnTo>
                    <a:pt x="0" y="101765"/>
                  </a:lnTo>
                </a:path>
              </a:pathLst>
            </a:custGeom>
            <a:noFill/>
            <a:ln w="4200" cap="rnd">
              <a:solidFill>
                <a:srgbClr val="00C2D1"/>
              </a:solidFill>
              <a:round/>
            </a:ln>
          </p:spPr>
          <p:txBody>
            <a:bodyPr/>
            <a:lstStyle/>
            <a:p/>
          </p:txBody>
        </p:sp>
        <p:sp>
          <p:nvSpPr>
            <p:cNvPr id="1198" name="f"/>
            <p:cNvSpPr/>
            <p:nvPr/>
          </p:nvSpPr>
          <p:spPr>
            <a:xfrm>
              <a:off x="0" y="0"/>
              <a:ext cx="13577" cy="13953"/>
            </a:xfrm>
            <a:custGeom>
              <a:avLst/>
              <a:gdLst/>
              <a:ahLst/>
              <a:cxnLst/>
              <a:rect l="0" t="0" r="13577" b="13953"/>
              <a:pathLst>
                <a:path w="13577" h="13953">
                  <a:moveTo>
                    <a:pt x="0" y="4582"/>
                  </a:moveTo>
                  <a:lnTo>
                    <a:pt x="556" y="3406"/>
                  </a:lnTo>
                  <a:lnTo>
                    <a:pt x="1321" y="2353"/>
                  </a:lnTo>
                  <a:lnTo>
                    <a:pt x="2268" y="1460"/>
                  </a:lnTo>
                  <a:lnTo>
                    <a:pt x="3363" y="758"/>
                  </a:lnTo>
                  <a:lnTo>
                    <a:pt x="4570" y="270"/>
                  </a:lnTo>
                  <a:lnTo>
                    <a:pt x="5846" y="15"/>
                  </a:lnTo>
                  <a:lnTo>
                    <a:pt x="7147" y="0"/>
                  </a:lnTo>
                  <a:lnTo>
                    <a:pt x="8428" y="225"/>
                  </a:lnTo>
                  <a:lnTo>
                    <a:pt x="9646" y="685"/>
                  </a:lnTo>
                  <a:lnTo>
                    <a:pt x="10757" y="1361"/>
                  </a:lnTo>
                  <a:lnTo>
                    <a:pt x="11725" y="2232"/>
                  </a:lnTo>
                  <a:lnTo>
                    <a:pt x="12514" y="3267"/>
                  </a:lnTo>
                  <a:lnTo>
                    <a:pt x="13098" y="4430"/>
                  </a:lnTo>
                  <a:lnTo>
                    <a:pt x="13456" y="5681"/>
                  </a:lnTo>
                  <a:lnTo>
                    <a:pt x="13577" y="6976"/>
                  </a:lnTo>
                  <a:lnTo>
                    <a:pt x="13456" y="8272"/>
                  </a:lnTo>
                  <a:lnTo>
                    <a:pt x="13098" y="9523"/>
                  </a:lnTo>
                  <a:lnTo>
                    <a:pt x="12514" y="10686"/>
                  </a:lnTo>
                  <a:lnTo>
                    <a:pt x="11725" y="11720"/>
                  </a:lnTo>
                  <a:lnTo>
                    <a:pt x="10757" y="12591"/>
                  </a:lnTo>
                  <a:lnTo>
                    <a:pt x="9646" y="13268"/>
                  </a:lnTo>
                  <a:lnTo>
                    <a:pt x="8428" y="13727"/>
                  </a:lnTo>
                  <a:lnTo>
                    <a:pt x="7147" y="13953"/>
                  </a:lnTo>
                  <a:lnTo>
                    <a:pt x="5846" y="13938"/>
                  </a:lnTo>
                  <a:lnTo>
                    <a:pt x="4570" y="13682"/>
                  </a:lnTo>
                  <a:lnTo>
                    <a:pt x="3363" y="13195"/>
                  </a:lnTo>
                  <a:lnTo>
                    <a:pt x="2268" y="12492"/>
                  </a:lnTo>
                  <a:lnTo>
                    <a:pt x="1321" y="11599"/>
                  </a:lnTo>
                  <a:lnTo>
                    <a:pt x="556" y="10547"/>
                  </a:lnTo>
                  <a:lnTo>
                    <a:pt x="0" y="9370"/>
                  </a:lnTo>
                </a:path>
              </a:pathLst>
            </a:custGeom>
            <a:noFill/>
            <a:ln w="3200" cap="rnd">
              <a:solidFill>
                <a:srgbClr val="FFFFFF"/>
              </a:solidFill>
              <a:round/>
            </a:ln>
          </p:spPr>
          <p:txBody>
            <a:bodyPr/>
            <a:lstStyle/>
            <a:p/>
          </p:txBody>
        </p:sp>
        <p:sp>
          <p:nvSpPr>
            <p:cNvPr id="1199" name="f"/>
            <p:cNvSpPr/>
            <p:nvPr/>
          </p:nvSpPr>
          <p:spPr>
            <a:xfrm>
              <a:off x="0" y="0"/>
              <a:ext cx="25216" cy="25913"/>
            </a:xfrm>
            <a:custGeom>
              <a:avLst/>
              <a:gdLst/>
              <a:ahLst/>
              <a:cxnLst/>
              <a:rect l="0" t="0" r="25216" b="25913"/>
              <a:pathLst>
                <a:path w="25216" h="25913">
                  <a:moveTo>
                    <a:pt x="0" y="8510"/>
                  </a:moveTo>
                  <a:lnTo>
                    <a:pt x="1034" y="6326"/>
                  </a:lnTo>
                  <a:lnTo>
                    <a:pt x="2454" y="4371"/>
                  </a:lnTo>
                  <a:lnTo>
                    <a:pt x="4212" y="2712"/>
                  </a:lnTo>
                  <a:lnTo>
                    <a:pt x="6246" y="1408"/>
                  </a:lnTo>
                  <a:lnTo>
                    <a:pt x="8487" y="503"/>
                  </a:lnTo>
                  <a:lnTo>
                    <a:pt x="10857" y="28"/>
                  </a:lnTo>
                  <a:lnTo>
                    <a:pt x="13273" y="0"/>
                  </a:lnTo>
                  <a:lnTo>
                    <a:pt x="15653" y="419"/>
                  </a:lnTo>
                  <a:lnTo>
                    <a:pt x="17914" y="1272"/>
                  </a:lnTo>
                  <a:lnTo>
                    <a:pt x="19979" y="2529"/>
                  </a:lnTo>
                  <a:lnTo>
                    <a:pt x="21775" y="4146"/>
                  </a:lnTo>
                  <a:lnTo>
                    <a:pt x="23240" y="6067"/>
                  </a:lnTo>
                  <a:lnTo>
                    <a:pt x="24325" y="8227"/>
                  </a:lnTo>
                  <a:lnTo>
                    <a:pt x="24991" y="10550"/>
                  </a:lnTo>
                  <a:lnTo>
                    <a:pt x="25216" y="12956"/>
                  </a:lnTo>
                  <a:lnTo>
                    <a:pt x="24991" y="15363"/>
                  </a:lnTo>
                  <a:lnTo>
                    <a:pt x="24325" y="17686"/>
                  </a:lnTo>
                  <a:lnTo>
                    <a:pt x="23240" y="19845"/>
                  </a:lnTo>
                  <a:lnTo>
                    <a:pt x="21775" y="21767"/>
                  </a:lnTo>
                  <a:lnTo>
                    <a:pt x="19979" y="23384"/>
                  </a:lnTo>
                  <a:lnTo>
                    <a:pt x="17914" y="24641"/>
                  </a:lnTo>
                  <a:lnTo>
                    <a:pt x="15653" y="25494"/>
                  </a:lnTo>
                  <a:lnTo>
                    <a:pt x="13273" y="25913"/>
                  </a:lnTo>
                  <a:lnTo>
                    <a:pt x="10857" y="25885"/>
                  </a:lnTo>
                  <a:lnTo>
                    <a:pt x="8487" y="25410"/>
                  </a:lnTo>
                  <a:lnTo>
                    <a:pt x="6246" y="24505"/>
                  </a:lnTo>
                  <a:lnTo>
                    <a:pt x="4212" y="23201"/>
                  </a:lnTo>
                  <a:lnTo>
                    <a:pt x="2454" y="21542"/>
                  </a:lnTo>
                  <a:lnTo>
                    <a:pt x="1034" y="19587"/>
                  </a:lnTo>
                  <a:lnTo>
                    <a:pt x="0" y="17403"/>
                  </a:lnTo>
                </a:path>
              </a:pathLst>
            </a:custGeom>
            <a:noFill/>
            <a:ln w="3200" cap="rnd">
              <a:solidFill>
                <a:srgbClr val="FFFFFF"/>
              </a:solidFill>
              <a:round/>
            </a:ln>
          </p:spPr>
          <p:txBody>
            <a:bodyPr/>
            <a:lstStyle/>
            <a:p/>
          </p:txBody>
        </p:sp>
        <p:sp>
          <p:nvSpPr>
            <p:cNvPr id="1200" name="f"/>
            <p:cNvSpPr/>
            <p:nvPr/>
          </p:nvSpPr>
          <p:spPr>
            <a:xfrm>
              <a:off x="0" y="0"/>
              <a:ext cx="36854" cy="37874"/>
            </a:xfrm>
            <a:custGeom>
              <a:avLst/>
              <a:gdLst/>
              <a:ahLst/>
              <a:cxnLst/>
              <a:rect l="0" t="0" r="36854" b="37874"/>
              <a:pathLst>
                <a:path w="36854" h="37874">
                  <a:moveTo>
                    <a:pt x="0" y="12438"/>
                  </a:moveTo>
                  <a:lnTo>
                    <a:pt x="1511" y="9246"/>
                  </a:lnTo>
                  <a:lnTo>
                    <a:pt x="3587" y="6388"/>
                  </a:lnTo>
                  <a:lnTo>
                    <a:pt x="6156" y="3964"/>
                  </a:lnTo>
                  <a:lnTo>
                    <a:pt x="9129" y="2058"/>
                  </a:lnTo>
                  <a:lnTo>
                    <a:pt x="12404" y="735"/>
                  </a:lnTo>
                  <a:lnTo>
                    <a:pt x="15868" y="41"/>
                  </a:lnTo>
                  <a:lnTo>
                    <a:pt x="19399" y="0"/>
                  </a:lnTo>
                  <a:lnTo>
                    <a:pt x="22878" y="613"/>
                  </a:lnTo>
                  <a:lnTo>
                    <a:pt x="26183" y="1859"/>
                  </a:lnTo>
                  <a:lnTo>
                    <a:pt x="29200" y="3696"/>
                  </a:lnTo>
                  <a:lnTo>
                    <a:pt x="31825" y="6060"/>
                  </a:lnTo>
                  <a:lnTo>
                    <a:pt x="33967" y="8868"/>
                  </a:lnTo>
                  <a:lnTo>
                    <a:pt x="35552" y="12024"/>
                  </a:lnTo>
                  <a:lnTo>
                    <a:pt x="36525" y="15420"/>
                  </a:lnTo>
                  <a:lnTo>
                    <a:pt x="36854" y="18937"/>
                  </a:lnTo>
                  <a:lnTo>
                    <a:pt x="36525" y="22453"/>
                  </a:lnTo>
                  <a:lnTo>
                    <a:pt x="35552" y="25849"/>
                  </a:lnTo>
                  <a:lnTo>
                    <a:pt x="33967" y="29005"/>
                  </a:lnTo>
                  <a:lnTo>
                    <a:pt x="31825" y="31813"/>
                  </a:lnTo>
                  <a:lnTo>
                    <a:pt x="29200" y="34177"/>
                  </a:lnTo>
                  <a:lnTo>
                    <a:pt x="26183" y="36014"/>
                  </a:lnTo>
                  <a:lnTo>
                    <a:pt x="22878" y="37260"/>
                  </a:lnTo>
                  <a:lnTo>
                    <a:pt x="19399" y="37874"/>
                  </a:lnTo>
                  <a:lnTo>
                    <a:pt x="15868" y="37832"/>
                  </a:lnTo>
                  <a:lnTo>
                    <a:pt x="12404" y="37138"/>
                  </a:lnTo>
                  <a:lnTo>
                    <a:pt x="9129" y="35815"/>
                  </a:lnTo>
                  <a:lnTo>
                    <a:pt x="6156" y="33909"/>
                  </a:lnTo>
                  <a:lnTo>
                    <a:pt x="3587" y="31485"/>
                  </a:lnTo>
                  <a:lnTo>
                    <a:pt x="1511" y="28627"/>
                  </a:lnTo>
                  <a:lnTo>
                    <a:pt x="0" y="25435"/>
                  </a:lnTo>
                </a:path>
              </a:pathLst>
            </a:custGeom>
            <a:noFill/>
            <a:ln w="3200" cap="rnd">
              <a:solidFill>
                <a:srgbClr val="FFFFFF"/>
              </a:solidFill>
              <a:round/>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
          <p:cNvSpPr/>
          <p:nvPr/>
        </p:nvSpPr>
        <p:spPr>
          <a:xfrm>
            <a:off x="11658600" y="3035808"/>
            <a:ext cx="109728" cy="109728"/>
          </a:xfrm>
          <a:prstGeom prst="roundRect">
            <a:avLst/>
          </a:prstGeom>
          <a:noFill/>
          <a:ln w="12700">
            <a:solidFill>
              <a:srgbClr val="2A4563"/>
            </a:solidFill>
          </a:ln>
        </p:spPr>
        <p:txBody>
          <a:bodyPr/>
          <a:lstStyle/>
          <a:p/>
        </p:txBody>
      </p:sp>
      <p:sp>
        <p:nvSpPr>
          <p:cNvPr id="20" name="dot"/>
          <p:cNvSpPr/>
          <p:nvPr/>
        </p:nvSpPr>
        <p:spPr>
          <a:xfrm>
            <a:off x="11658600" y="3419856"/>
            <a:ext cx="109728" cy="109728"/>
          </a:xfrm>
          <a:prstGeom prst="roundRect">
            <a:avLst/>
          </a:prstGeom>
          <a:noFill/>
          <a:ln w="12700">
            <a:solidFill>
              <a:srgbClr val="2A4563"/>
            </a:solidFill>
          </a:ln>
        </p:spPr>
        <p:txBody>
          <a:bodyPr/>
          <a:lstStyle/>
          <a:p/>
        </p:txBody>
      </p:sp>
      <p:sp>
        <p:nvSpPr>
          <p:cNvPr id="21" name="dotA"/>
          <p:cNvSpPr/>
          <p:nvPr/>
        </p:nvSpPr>
        <p:spPr>
          <a:xfrm>
            <a:off x="11631168" y="3803904"/>
            <a:ext cx="164592" cy="164592"/>
          </a:xfrm>
          <a:prstGeom prst="roundRect">
            <a:avLst/>
          </a:prstGeom>
          <a:solidFill>
            <a:srgbClr val="00C2D1"/>
          </a:solidFill>
          <a:ln>
            <a:no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07 / 10</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3-REJA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Ovoz to'lqinlari orqali 3D xarita (Ekolokatsiya)</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Ultratovush to'lqinlarining qaytish vaqti fizikaning ajoyib qonuniyatiga bo'ysunadi.</a:t>
            </a:r>
          </a:p>
          <a:p>
            <a:pPr>
              <a:lnSpc>
                <a:spcPct val="110000"/>
              </a:lnSpc>
              <a:spcAft>
                <a:spcPts val="1100"/>
              </a:spcAft>
            </a:pPr>
            <a:r>
              <a:rPr lang="uz-UZ" sz="1600" dirty="0">
                <a:solidFill>
                  <a:srgbClr val="E2E8F0"/>
                </a:solidFill>
                <a:latin typeface="Times New Roman"/>
                <a:cs typeface="Times New Roman"/>
                <a:ea typeface="Times New Roman"/>
              </a:rPr>
              <a:t>- Qaytish farqi: To'lqin barmoqning bo'rtib chiqqan qismiga urilsa tezroq qaytadi, chuqurlik (havo bo'shlig'i) qismiga urilsa kechroq qaytadi.</a:t>
            </a:r>
          </a:p>
          <a:p>
            <a:pPr>
              <a:lnSpc>
                <a:spcPct val="110000"/>
              </a:lnSpc>
              <a:spcAft>
                <a:spcPts val="1100"/>
              </a:spcAft>
            </a:pPr>
            <a:r>
              <a:rPr lang="uz-UZ" sz="1600" dirty="0">
                <a:solidFill>
                  <a:srgbClr val="E2E8F0"/>
                </a:solidFill>
                <a:latin typeface="Times New Roman"/>
                <a:cs typeface="Times New Roman"/>
                <a:ea typeface="Times New Roman"/>
              </a:rPr>
              <a:t>- 3D Model: Sensor ushbu vaqt farqlarini (millisoniyalarni) o'lchab, barmoq izining o'ta aniq 3D relyef xaritasini tuzadi. Bu usul qorong'ida ham, barmoq nam yoki kirlangan bo'lsa ham mukammal ishlaydi va uni rasmlar bilan aldab bo'lmaydi.</a:t>
            </a:r>
          </a:p>
        </p:txBody>
      </p:sp>
      <p:grpSp>
        <p:nvGrpSpPr>
          <p:cNvPr id="1220" name="illustration"/>
          <p:cNvGrpSpPr/>
          <p:nvPr/>
        </p:nvGrpSpPr>
        <p:grpSpPr>
          <a:xfrm>
            <a:off x="7635240" y="2011680"/>
            <a:ext cx="3749039" cy="4206240"/>
            <a:chOff x="0" y="0"/>
            <a:chExt cx="100000" cy="100000"/>
          </a:xfrm>
        </p:grpSpPr>
        <p:sp>
          <p:nvSpPr>
            <p:cNvPr id="1202"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203" name="l"/>
            <p:cNvCxnSpPr/>
            <p:nvPr/>
          </p:nvCxnSpPr>
          <p:spPr>
            <a:xfrm flipH="0" flipV="0">
              <a:off x="3000" y="7000"/>
              <a:ext cx="17000" cy="1"/>
            </a:xfrm>
            <a:prstGeom prst="line">
              <a:avLst/>
            </a:prstGeom>
            <a:ln w="19050" cap="rnd">
              <a:solidFill>
                <a:srgbClr val="00C2D1"/>
              </a:solidFill>
            </a:ln>
          </p:spPr>
        </p:cxnSp>
        <p:cxnSp>
          <p:nvCxnSpPr>
            <p:cNvPr id="1204" name="l"/>
            <p:cNvCxnSpPr/>
            <p:nvPr/>
          </p:nvCxnSpPr>
          <p:spPr>
            <a:xfrm flipH="0" flipV="0">
              <a:off x="3000" y="7000"/>
              <a:ext cx="1" cy="17000"/>
            </a:xfrm>
            <a:prstGeom prst="line">
              <a:avLst/>
            </a:prstGeom>
            <a:ln w="19050" cap="rnd">
              <a:solidFill>
                <a:srgbClr val="00C2D1"/>
              </a:solidFill>
            </a:ln>
          </p:spPr>
        </p:cxnSp>
        <p:cxnSp>
          <p:nvCxnSpPr>
            <p:cNvPr id="1205" name="l"/>
            <p:cNvCxnSpPr/>
            <p:nvPr/>
          </p:nvCxnSpPr>
          <p:spPr>
            <a:xfrm flipH="0" flipV="0">
              <a:off x="80000" y="93000"/>
              <a:ext cx="17000" cy="1"/>
            </a:xfrm>
            <a:prstGeom prst="line">
              <a:avLst/>
            </a:prstGeom>
            <a:ln w="19050" cap="rnd">
              <a:solidFill>
                <a:srgbClr val="3B82F6"/>
              </a:solidFill>
            </a:ln>
          </p:spPr>
        </p:cxnSp>
        <p:cxnSp>
          <p:nvCxnSpPr>
            <p:cNvPr id="1206" name="l"/>
            <p:cNvCxnSpPr/>
            <p:nvPr/>
          </p:nvCxnSpPr>
          <p:spPr>
            <a:xfrm flipH="0" flipV="0">
              <a:off x="97000" y="76000"/>
              <a:ext cx="1" cy="17000"/>
            </a:xfrm>
            <a:prstGeom prst="line">
              <a:avLst/>
            </a:prstGeom>
            <a:ln w="19050" cap="rnd">
              <a:solidFill>
                <a:srgbClr val="3B82F6"/>
              </a:solidFill>
            </a:ln>
          </p:spPr>
        </p:cxnSp>
        <p:sp>
          <p:nvSpPr>
            <p:cNvPr id="1207" name="f"/>
            <p:cNvSpPr/>
            <p:nvPr/>
          </p:nvSpPr>
          <p:spPr>
            <a:xfrm>
              <a:off x="0" y="0"/>
              <a:ext cx="7895" cy="22552"/>
            </a:xfrm>
            <a:custGeom>
              <a:avLst/>
              <a:gdLst/>
              <a:ahLst/>
              <a:cxnLst/>
              <a:rect l="0" t="0" r="7895" b="22552"/>
              <a:pathLst>
                <a:path w="7895" h="22552">
                  <a:moveTo>
                    <a:pt x="0" y="0"/>
                  </a:moveTo>
                  <a:lnTo>
                    <a:pt x="967" y="400"/>
                  </a:lnTo>
                  <a:lnTo>
                    <a:pt x="1895" y="884"/>
                  </a:lnTo>
                  <a:lnTo>
                    <a:pt x="2778" y="1446"/>
                  </a:lnTo>
                  <a:lnTo>
                    <a:pt x="3609" y="2083"/>
                  </a:lnTo>
                  <a:lnTo>
                    <a:pt x="4381" y="2791"/>
                  </a:lnTo>
                  <a:lnTo>
                    <a:pt x="5088" y="3562"/>
                  </a:lnTo>
                  <a:lnTo>
                    <a:pt x="5725" y="4393"/>
                  </a:lnTo>
                  <a:lnTo>
                    <a:pt x="6288" y="5276"/>
                  </a:lnTo>
                  <a:lnTo>
                    <a:pt x="6771" y="6204"/>
                  </a:lnTo>
                  <a:lnTo>
                    <a:pt x="7172" y="7172"/>
                  </a:lnTo>
                  <a:lnTo>
                    <a:pt x="7486" y="8170"/>
                  </a:lnTo>
                  <a:lnTo>
                    <a:pt x="7713" y="9192"/>
                  </a:lnTo>
                  <a:lnTo>
                    <a:pt x="7850" y="10230"/>
                  </a:lnTo>
                  <a:lnTo>
                    <a:pt x="7895" y="11276"/>
                  </a:lnTo>
                  <a:lnTo>
                    <a:pt x="7850" y="12322"/>
                  </a:lnTo>
                  <a:lnTo>
                    <a:pt x="7713" y="13360"/>
                  </a:lnTo>
                  <a:lnTo>
                    <a:pt x="7486" y="14382"/>
                  </a:lnTo>
                  <a:lnTo>
                    <a:pt x="7172" y="15380"/>
                  </a:lnTo>
                  <a:lnTo>
                    <a:pt x="6771" y="16347"/>
                  </a:lnTo>
                  <a:lnTo>
                    <a:pt x="6288" y="17276"/>
                  </a:lnTo>
                  <a:lnTo>
                    <a:pt x="5725" y="18159"/>
                  </a:lnTo>
                  <a:lnTo>
                    <a:pt x="5088" y="18989"/>
                  </a:lnTo>
                  <a:lnTo>
                    <a:pt x="4381" y="19761"/>
                  </a:lnTo>
                  <a:lnTo>
                    <a:pt x="3609" y="20468"/>
                  </a:lnTo>
                  <a:lnTo>
                    <a:pt x="2778" y="21106"/>
                  </a:lnTo>
                  <a:lnTo>
                    <a:pt x="1895" y="21668"/>
                  </a:lnTo>
                  <a:lnTo>
                    <a:pt x="967" y="22152"/>
                  </a:lnTo>
                  <a:lnTo>
                    <a:pt x="0" y="22552"/>
                  </a:lnTo>
                </a:path>
              </a:pathLst>
            </a:custGeom>
            <a:noFill/>
            <a:ln w="3600" cap="rnd">
              <a:solidFill>
                <a:srgbClr val="00C2D1"/>
              </a:solidFill>
              <a:round/>
            </a:ln>
          </p:spPr>
          <p:txBody>
            <a:bodyPr/>
            <a:lstStyle/>
            <a:p/>
          </p:txBody>
        </p:sp>
        <p:sp>
          <p:nvSpPr>
            <p:cNvPr id="1208" name="f"/>
            <p:cNvSpPr/>
            <p:nvPr/>
          </p:nvSpPr>
          <p:spPr>
            <a:xfrm>
              <a:off x="0" y="0"/>
              <a:ext cx="14475" cy="41346"/>
            </a:xfrm>
            <a:custGeom>
              <a:avLst/>
              <a:gdLst/>
              <a:ahLst/>
              <a:cxnLst/>
              <a:rect l="0" t="0" r="14475" b="41346"/>
              <a:pathLst>
                <a:path w="14475" h="41346">
                  <a:moveTo>
                    <a:pt x="0" y="0"/>
                  </a:moveTo>
                  <a:lnTo>
                    <a:pt x="1773" y="734"/>
                  </a:lnTo>
                  <a:lnTo>
                    <a:pt x="3475" y="1620"/>
                  </a:lnTo>
                  <a:lnTo>
                    <a:pt x="5094" y="2651"/>
                  </a:lnTo>
                  <a:lnTo>
                    <a:pt x="6616" y="3820"/>
                  </a:lnTo>
                  <a:lnTo>
                    <a:pt x="8031" y="5116"/>
                  </a:lnTo>
                  <a:lnTo>
                    <a:pt x="9328" y="6531"/>
                  </a:lnTo>
                  <a:lnTo>
                    <a:pt x="10496" y="8054"/>
                  </a:lnTo>
                  <a:lnTo>
                    <a:pt x="11528" y="9673"/>
                  </a:lnTo>
                  <a:lnTo>
                    <a:pt x="12414" y="11375"/>
                  </a:lnTo>
                  <a:lnTo>
                    <a:pt x="13148" y="13148"/>
                  </a:lnTo>
                  <a:lnTo>
                    <a:pt x="13725" y="14979"/>
                  </a:lnTo>
                  <a:lnTo>
                    <a:pt x="14141" y="16852"/>
                  </a:lnTo>
                  <a:lnTo>
                    <a:pt x="14391" y="18755"/>
                  </a:lnTo>
                  <a:lnTo>
                    <a:pt x="14475" y="20673"/>
                  </a:lnTo>
                  <a:lnTo>
                    <a:pt x="14391" y="22590"/>
                  </a:lnTo>
                  <a:lnTo>
                    <a:pt x="14141" y="24493"/>
                  </a:lnTo>
                  <a:lnTo>
                    <a:pt x="13725" y="26367"/>
                  </a:lnTo>
                  <a:lnTo>
                    <a:pt x="13148" y="28197"/>
                  </a:lnTo>
                  <a:lnTo>
                    <a:pt x="12414" y="29970"/>
                  </a:lnTo>
                  <a:lnTo>
                    <a:pt x="11528" y="31673"/>
                  </a:lnTo>
                  <a:lnTo>
                    <a:pt x="10496" y="33291"/>
                  </a:lnTo>
                  <a:lnTo>
                    <a:pt x="9328" y="34814"/>
                  </a:lnTo>
                  <a:lnTo>
                    <a:pt x="8031" y="36229"/>
                  </a:lnTo>
                  <a:lnTo>
                    <a:pt x="6616" y="37526"/>
                  </a:lnTo>
                  <a:lnTo>
                    <a:pt x="5094" y="38694"/>
                  </a:lnTo>
                  <a:lnTo>
                    <a:pt x="3475" y="39725"/>
                  </a:lnTo>
                  <a:lnTo>
                    <a:pt x="1773" y="40612"/>
                  </a:lnTo>
                  <a:lnTo>
                    <a:pt x="0" y="41346"/>
                  </a:lnTo>
                </a:path>
              </a:pathLst>
            </a:custGeom>
            <a:noFill/>
            <a:ln w="3600" cap="rnd">
              <a:solidFill>
                <a:srgbClr val="3B82F6"/>
              </a:solidFill>
              <a:round/>
            </a:ln>
          </p:spPr>
          <p:txBody>
            <a:bodyPr/>
            <a:lstStyle/>
            <a:p/>
          </p:txBody>
        </p:sp>
        <p:sp>
          <p:nvSpPr>
            <p:cNvPr id="1209" name="f"/>
            <p:cNvSpPr/>
            <p:nvPr/>
          </p:nvSpPr>
          <p:spPr>
            <a:xfrm>
              <a:off x="0" y="0"/>
              <a:ext cx="21055" cy="60140"/>
            </a:xfrm>
            <a:custGeom>
              <a:avLst/>
              <a:gdLst/>
              <a:ahLst/>
              <a:cxnLst/>
              <a:rect l="0" t="0" r="21055" b="60140"/>
              <a:pathLst>
                <a:path w="21055" h="60140">
                  <a:moveTo>
                    <a:pt x="0" y="0"/>
                  </a:moveTo>
                  <a:lnTo>
                    <a:pt x="2579" y="1068"/>
                  </a:lnTo>
                  <a:lnTo>
                    <a:pt x="5055" y="2357"/>
                  </a:lnTo>
                  <a:lnTo>
                    <a:pt x="7409" y="3857"/>
                  </a:lnTo>
                  <a:lnTo>
                    <a:pt x="9624" y="5556"/>
                  </a:lnTo>
                  <a:lnTo>
                    <a:pt x="11682" y="7442"/>
                  </a:lnTo>
                  <a:lnTo>
                    <a:pt x="13568" y="9500"/>
                  </a:lnTo>
                  <a:lnTo>
                    <a:pt x="15268" y="11715"/>
                  </a:lnTo>
                  <a:lnTo>
                    <a:pt x="16768" y="14070"/>
                  </a:lnTo>
                  <a:lnTo>
                    <a:pt x="18057" y="16546"/>
                  </a:lnTo>
                  <a:lnTo>
                    <a:pt x="19125" y="19125"/>
                  </a:lnTo>
                  <a:lnTo>
                    <a:pt x="19964" y="21787"/>
                  </a:lnTo>
                  <a:lnTo>
                    <a:pt x="20569" y="24513"/>
                  </a:lnTo>
                  <a:lnTo>
                    <a:pt x="20933" y="27281"/>
                  </a:lnTo>
                  <a:lnTo>
                    <a:pt x="21055" y="30070"/>
                  </a:lnTo>
                  <a:lnTo>
                    <a:pt x="20933" y="32859"/>
                  </a:lnTo>
                  <a:lnTo>
                    <a:pt x="20569" y="35626"/>
                  </a:lnTo>
                  <a:lnTo>
                    <a:pt x="19964" y="38352"/>
                  </a:lnTo>
                  <a:lnTo>
                    <a:pt x="19125" y="41014"/>
                  </a:lnTo>
                  <a:lnTo>
                    <a:pt x="18057" y="43593"/>
                  </a:lnTo>
                  <a:lnTo>
                    <a:pt x="16768" y="46070"/>
                  </a:lnTo>
                  <a:lnTo>
                    <a:pt x="15268" y="48424"/>
                  </a:lnTo>
                  <a:lnTo>
                    <a:pt x="13568" y="50639"/>
                  </a:lnTo>
                  <a:lnTo>
                    <a:pt x="11682" y="52697"/>
                  </a:lnTo>
                  <a:lnTo>
                    <a:pt x="9624" y="54583"/>
                  </a:lnTo>
                  <a:lnTo>
                    <a:pt x="7409" y="56283"/>
                  </a:lnTo>
                  <a:lnTo>
                    <a:pt x="5055" y="57782"/>
                  </a:lnTo>
                  <a:lnTo>
                    <a:pt x="2579" y="59072"/>
                  </a:lnTo>
                  <a:lnTo>
                    <a:pt x="0" y="60140"/>
                  </a:lnTo>
                </a:path>
              </a:pathLst>
            </a:custGeom>
            <a:noFill/>
            <a:ln w="3600" cap="rnd">
              <a:solidFill>
                <a:srgbClr val="00C2D1"/>
              </a:solidFill>
              <a:round/>
            </a:ln>
          </p:spPr>
          <p:txBody>
            <a:bodyPr/>
            <a:lstStyle/>
            <a:p/>
          </p:txBody>
        </p:sp>
        <p:sp>
          <p:nvSpPr>
            <p:cNvPr id="1210" name="f"/>
            <p:cNvSpPr/>
            <p:nvPr/>
          </p:nvSpPr>
          <p:spPr>
            <a:xfrm>
              <a:off x="0" y="0"/>
              <a:ext cx="27635" cy="78934"/>
            </a:xfrm>
            <a:custGeom>
              <a:avLst/>
              <a:gdLst/>
              <a:ahLst/>
              <a:cxnLst/>
              <a:rect l="0" t="0" r="27635" b="78934"/>
              <a:pathLst>
                <a:path w="27635" h="78934">
                  <a:moveTo>
                    <a:pt x="0" y="0"/>
                  </a:moveTo>
                  <a:lnTo>
                    <a:pt x="3385" y="1402"/>
                  </a:lnTo>
                  <a:lnTo>
                    <a:pt x="6635" y="3094"/>
                  </a:lnTo>
                  <a:lnTo>
                    <a:pt x="9725" y="5062"/>
                  </a:lnTo>
                  <a:lnTo>
                    <a:pt x="12632" y="7293"/>
                  </a:lnTo>
                  <a:lnTo>
                    <a:pt x="15333" y="9768"/>
                  </a:lnTo>
                  <a:lnTo>
                    <a:pt x="17809" y="12470"/>
                  </a:lnTo>
                  <a:lnTo>
                    <a:pt x="20039" y="15376"/>
                  </a:lnTo>
                  <a:lnTo>
                    <a:pt x="22008" y="18467"/>
                  </a:lnTo>
                  <a:lnTo>
                    <a:pt x="23700" y="21717"/>
                  </a:lnTo>
                  <a:lnTo>
                    <a:pt x="25102" y="25102"/>
                  </a:lnTo>
                  <a:lnTo>
                    <a:pt x="26204" y="28596"/>
                  </a:lnTo>
                  <a:lnTo>
                    <a:pt x="26997" y="32173"/>
                  </a:lnTo>
                  <a:lnTo>
                    <a:pt x="27475" y="35806"/>
                  </a:lnTo>
                  <a:lnTo>
                    <a:pt x="27635" y="39467"/>
                  </a:lnTo>
                  <a:lnTo>
                    <a:pt x="27475" y="43127"/>
                  </a:lnTo>
                  <a:lnTo>
                    <a:pt x="26997" y="46760"/>
                  </a:lnTo>
                  <a:lnTo>
                    <a:pt x="26204" y="50337"/>
                  </a:lnTo>
                  <a:lnTo>
                    <a:pt x="25102" y="53831"/>
                  </a:lnTo>
                  <a:lnTo>
                    <a:pt x="23700" y="57217"/>
                  </a:lnTo>
                  <a:lnTo>
                    <a:pt x="22008" y="60467"/>
                  </a:lnTo>
                  <a:lnTo>
                    <a:pt x="20039" y="63557"/>
                  </a:lnTo>
                  <a:lnTo>
                    <a:pt x="17809" y="66464"/>
                  </a:lnTo>
                  <a:lnTo>
                    <a:pt x="15333" y="69165"/>
                  </a:lnTo>
                  <a:lnTo>
                    <a:pt x="12632" y="71640"/>
                  </a:lnTo>
                  <a:lnTo>
                    <a:pt x="9725" y="73871"/>
                  </a:lnTo>
                  <a:lnTo>
                    <a:pt x="6635" y="75840"/>
                  </a:lnTo>
                  <a:lnTo>
                    <a:pt x="3385" y="77532"/>
                  </a:lnTo>
                  <a:lnTo>
                    <a:pt x="0" y="78934"/>
                  </a:lnTo>
                </a:path>
              </a:pathLst>
            </a:custGeom>
            <a:noFill/>
            <a:ln w="3600" cap="rnd">
              <a:solidFill>
                <a:srgbClr val="3B82F6"/>
              </a:solidFill>
              <a:round/>
            </a:ln>
          </p:spPr>
          <p:txBody>
            <a:bodyPr/>
            <a:lstStyle/>
            <a:p/>
          </p:txBody>
        </p:sp>
        <p:sp>
          <p:nvSpPr>
            <p:cNvPr id="1211" name="f"/>
            <p:cNvSpPr/>
            <p:nvPr/>
          </p:nvSpPr>
          <p:spPr>
            <a:xfrm>
              <a:off x="0" y="0"/>
              <a:ext cx="72000" cy="9000"/>
            </a:xfrm>
            <a:custGeom>
              <a:avLst/>
              <a:gdLst/>
              <a:ahLst/>
              <a:cxnLst/>
              <a:rect l="0" t="0" r="72000" b="9000"/>
              <a:pathLst>
                <a:path w="72000" h="9000">
                  <a:moveTo>
                    <a:pt x="0" y="9000"/>
                  </a:moveTo>
                  <a:lnTo>
                    <a:pt x="3600" y="0"/>
                  </a:lnTo>
                  <a:lnTo>
                    <a:pt x="7200" y="7500"/>
                  </a:lnTo>
                  <a:lnTo>
                    <a:pt x="10800" y="6000"/>
                  </a:lnTo>
                  <a:lnTo>
                    <a:pt x="14400" y="7500"/>
                  </a:lnTo>
                  <a:lnTo>
                    <a:pt x="18000" y="0"/>
                  </a:lnTo>
                  <a:lnTo>
                    <a:pt x="21600" y="7500"/>
                  </a:lnTo>
                  <a:lnTo>
                    <a:pt x="25200" y="6000"/>
                  </a:lnTo>
                  <a:lnTo>
                    <a:pt x="28800" y="7500"/>
                  </a:lnTo>
                  <a:lnTo>
                    <a:pt x="32400" y="0"/>
                  </a:lnTo>
                  <a:lnTo>
                    <a:pt x="36000" y="7500"/>
                  </a:lnTo>
                  <a:lnTo>
                    <a:pt x="39600" y="6000"/>
                  </a:lnTo>
                  <a:lnTo>
                    <a:pt x="43200" y="7500"/>
                  </a:lnTo>
                  <a:lnTo>
                    <a:pt x="46800" y="0"/>
                  </a:lnTo>
                  <a:lnTo>
                    <a:pt x="50400" y="7500"/>
                  </a:lnTo>
                  <a:lnTo>
                    <a:pt x="54000" y="6000"/>
                  </a:lnTo>
                  <a:lnTo>
                    <a:pt x="57600" y="7500"/>
                  </a:lnTo>
                  <a:lnTo>
                    <a:pt x="61200" y="0"/>
                  </a:lnTo>
                  <a:lnTo>
                    <a:pt x="64800" y="7500"/>
                  </a:lnTo>
                  <a:lnTo>
                    <a:pt x="68400" y="6000"/>
                  </a:lnTo>
                  <a:lnTo>
                    <a:pt x="72000" y="7500"/>
                  </a:lnTo>
                  <a:lnTo>
                    <a:pt x="72000" y="9000"/>
                  </a:lnTo>
                  <a:close/>
                </a:path>
              </a:pathLst>
            </a:custGeom>
            <a:solidFill>
              <a:srgbClr val="0B1E33"/>
            </a:solidFill>
            <a:ln w="4200" cap="rnd">
              <a:solidFill>
                <a:srgbClr val="FFFFFF"/>
              </a:solidFill>
              <a:round/>
            </a:ln>
          </p:spPr>
          <p:txBody>
            <a:bodyPr/>
            <a:lstStyle/>
            <a:p/>
          </p:txBody>
        </p:sp>
        <p:sp>
          <p:nvSpPr>
            <p:cNvPr id="1212" name="r"/>
            <p:cNvSpPr/>
            <p:nvPr/>
          </p:nvSpPr>
          <p:spPr>
            <a:xfrm>
              <a:off x="20000" y="48000"/>
              <a:ext cx="5000" cy="22000"/>
            </a:xfrm>
            <a:prstGeom prst="rect">
              <a:avLst/>
            </a:prstGeom>
            <a:solidFill>
              <a:srgbClr val="00C2D1"/>
            </a:solidFill>
            <a:ln>
              <a:noFill/>
            </a:ln>
          </p:spPr>
          <p:txBody>
            <a:bodyPr/>
            <a:lstStyle/>
            <a:p/>
          </p:txBody>
        </p:sp>
        <p:sp>
          <p:nvSpPr>
            <p:cNvPr id="1213" name="r"/>
            <p:cNvSpPr/>
            <p:nvPr/>
          </p:nvSpPr>
          <p:spPr>
            <a:xfrm>
              <a:off x="28000" y="51000"/>
              <a:ext cx="5000" cy="19000"/>
            </a:xfrm>
            <a:prstGeom prst="rect">
              <a:avLst/>
            </a:prstGeom>
            <a:solidFill>
              <a:srgbClr val="3B82F6"/>
            </a:solidFill>
            <a:ln>
              <a:noFill/>
            </a:ln>
          </p:spPr>
          <p:txBody>
            <a:bodyPr/>
            <a:lstStyle/>
            <a:p/>
          </p:txBody>
        </p:sp>
        <p:sp>
          <p:nvSpPr>
            <p:cNvPr id="1214" name="r"/>
            <p:cNvSpPr/>
            <p:nvPr/>
          </p:nvSpPr>
          <p:spPr>
            <a:xfrm>
              <a:off x="36000" y="54000"/>
              <a:ext cx="5000" cy="16000"/>
            </a:xfrm>
            <a:prstGeom prst="rect">
              <a:avLst/>
            </a:prstGeom>
            <a:solidFill>
              <a:srgbClr val="00C2D1"/>
            </a:solidFill>
            <a:ln>
              <a:noFill/>
            </a:ln>
          </p:spPr>
          <p:txBody>
            <a:bodyPr/>
            <a:lstStyle/>
            <a:p/>
          </p:txBody>
        </p:sp>
        <p:sp>
          <p:nvSpPr>
            <p:cNvPr id="1215" name="r"/>
            <p:cNvSpPr/>
            <p:nvPr/>
          </p:nvSpPr>
          <p:spPr>
            <a:xfrm>
              <a:off x="44000" y="57000"/>
              <a:ext cx="5000" cy="13000"/>
            </a:xfrm>
            <a:prstGeom prst="rect">
              <a:avLst/>
            </a:prstGeom>
            <a:solidFill>
              <a:srgbClr val="3B82F6"/>
            </a:solidFill>
            <a:ln>
              <a:noFill/>
            </a:ln>
          </p:spPr>
          <p:txBody>
            <a:bodyPr/>
            <a:lstStyle/>
            <a:p/>
          </p:txBody>
        </p:sp>
        <p:sp>
          <p:nvSpPr>
            <p:cNvPr id="1216" name="r"/>
            <p:cNvSpPr/>
            <p:nvPr/>
          </p:nvSpPr>
          <p:spPr>
            <a:xfrm>
              <a:off x="52000" y="60000"/>
              <a:ext cx="5000" cy="10000"/>
            </a:xfrm>
            <a:prstGeom prst="rect">
              <a:avLst/>
            </a:prstGeom>
            <a:solidFill>
              <a:srgbClr val="00C2D1"/>
            </a:solidFill>
            <a:ln>
              <a:noFill/>
            </a:ln>
          </p:spPr>
          <p:txBody>
            <a:bodyPr/>
            <a:lstStyle/>
            <a:p/>
          </p:txBody>
        </p:sp>
        <p:sp>
          <p:nvSpPr>
            <p:cNvPr id="1217" name="r"/>
            <p:cNvSpPr/>
            <p:nvPr/>
          </p:nvSpPr>
          <p:spPr>
            <a:xfrm>
              <a:off x="60000" y="57000"/>
              <a:ext cx="5000" cy="13000"/>
            </a:xfrm>
            <a:prstGeom prst="rect">
              <a:avLst/>
            </a:prstGeom>
            <a:solidFill>
              <a:srgbClr val="3B82F6"/>
            </a:solidFill>
            <a:ln>
              <a:noFill/>
            </a:ln>
          </p:spPr>
          <p:txBody>
            <a:bodyPr/>
            <a:lstStyle/>
            <a:p/>
          </p:txBody>
        </p:sp>
        <p:sp>
          <p:nvSpPr>
            <p:cNvPr id="1218" name="r"/>
            <p:cNvSpPr/>
            <p:nvPr/>
          </p:nvSpPr>
          <p:spPr>
            <a:xfrm>
              <a:off x="68000" y="54000"/>
              <a:ext cx="5000" cy="16000"/>
            </a:xfrm>
            <a:prstGeom prst="rect">
              <a:avLst/>
            </a:prstGeom>
            <a:solidFill>
              <a:srgbClr val="00C2D1"/>
            </a:solidFill>
            <a:ln>
              <a:noFill/>
            </a:ln>
          </p:spPr>
          <p:txBody>
            <a:bodyPr/>
            <a:lstStyle/>
            <a:p/>
          </p:txBody>
        </p:sp>
        <p:sp>
          <p:nvSpPr>
            <p:cNvPr id="1219" name="r"/>
            <p:cNvSpPr/>
            <p:nvPr/>
          </p:nvSpPr>
          <p:spPr>
            <a:xfrm>
              <a:off x="76000" y="51000"/>
              <a:ext cx="5000" cy="19000"/>
            </a:xfrm>
            <a:prstGeom prst="rect">
              <a:avLst/>
            </a:prstGeom>
            <a:solidFill>
              <a:srgbClr val="3B82F6"/>
            </a:solidFill>
            <a:ln>
              <a:noFill/>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
          <p:cNvSpPr/>
          <p:nvPr/>
        </p:nvSpPr>
        <p:spPr>
          <a:xfrm>
            <a:off x="11658600" y="3035808"/>
            <a:ext cx="109728" cy="109728"/>
          </a:xfrm>
          <a:prstGeom prst="roundRect">
            <a:avLst/>
          </a:prstGeom>
          <a:noFill/>
          <a:ln w="12700">
            <a:solidFill>
              <a:srgbClr val="2A4563"/>
            </a:solidFill>
          </a:ln>
        </p:spPr>
        <p:txBody>
          <a:bodyPr/>
          <a:lstStyle/>
          <a:p/>
        </p:txBody>
      </p:sp>
      <p:sp>
        <p:nvSpPr>
          <p:cNvPr id="20" name="dot"/>
          <p:cNvSpPr/>
          <p:nvPr/>
        </p:nvSpPr>
        <p:spPr>
          <a:xfrm>
            <a:off x="11658600" y="3419856"/>
            <a:ext cx="109728" cy="109728"/>
          </a:xfrm>
          <a:prstGeom prst="roundRect">
            <a:avLst/>
          </a:prstGeom>
          <a:noFill/>
          <a:ln w="12700">
            <a:solidFill>
              <a:srgbClr val="2A4563"/>
            </a:solidFill>
          </a:ln>
        </p:spPr>
        <p:txBody>
          <a:bodyPr/>
          <a:lstStyle/>
          <a:p/>
        </p:txBody>
      </p:sp>
      <p:sp>
        <p:nvSpPr>
          <p:cNvPr id="21" name="dotA"/>
          <p:cNvSpPr/>
          <p:nvPr/>
        </p:nvSpPr>
        <p:spPr>
          <a:xfrm>
            <a:off x="11631168" y="3803904"/>
            <a:ext cx="164592" cy="164592"/>
          </a:xfrm>
          <a:prstGeom prst="roundRect">
            <a:avLst/>
          </a:prstGeom>
          <a:solidFill>
            <a:srgbClr val="00C2D1"/>
          </a:solidFill>
          <a:ln>
            <a:noFill/>
          </a:ln>
        </p:spPr>
        <p:txBody>
          <a:bodyPr/>
          <a:lstStyle/>
          <a:p/>
        </p:txBody>
      </p:sp>
      <p:sp>
        <p:nvSpPr>
          <p:cNvPr id="22" name="dot"/>
          <p:cNvSpPr/>
          <p:nvPr/>
        </p:nvSpPr>
        <p:spPr>
          <a:xfrm>
            <a:off x="11658600" y="4187952"/>
            <a:ext cx="109728" cy="109728"/>
          </a:xfrm>
          <a:prstGeom prst="roundRect">
            <a:avLst/>
          </a:prstGeom>
          <a:noFill/>
          <a:ln w="12700">
            <a:solidFill>
              <a:srgbClr val="2A4563"/>
            </a:solid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08 / 10</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sp>
        <p:nvSpPr>
          <p:cNvPr id="12" name="pill"/>
          <p:cNvSpPr/>
          <p:nvPr/>
        </p:nvSpPr>
        <p:spPr>
          <a:xfrm>
            <a:off x="822960" y="384048"/>
            <a:ext cx="1600200" cy="384048"/>
          </a:xfrm>
          <a:prstGeom prst="roundRect">
            <a:avLst/>
          </a:prstGeom>
          <a:solidFill>
            <a:srgbClr val="3B82F6"/>
          </a:solidFill>
          <a:ln>
            <a:noFill/>
          </a:ln>
        </p:spPr>
        <p:txBody>
          <a:bodyPr/>
          <a:lstStyle/>
          <a:p/>
        </p:txBody>
      </p:sp>
      <p:sp>
        <p:nvSpPr>
          <p:cNvPr id="13" name="pilltxt"/>
          <p:cNvSpPr txBox="1"/>
          <p:nvPr/>
        </p:nvSpPr>
        <p:spPr>
          <a:xfrm>
            <a:off x="822960" y="384048"/>
            <a:ext cx="1600200" cy="384048"/>
          </a:xfrm>
          <a:prstGeom prst="rect">
            <a:avLst/>
          </a:prstGeom>
          <a:noFill/>
        </p:spPr>
        <p:txBody>
          <a:bodyPr wrap="square" anchor="ctr" lIns="91440" rIns="91440">
            <a:normAutofit/>
          </a:bodyPr>
          <a:lstStyle/>
          <a:p>
            <a:pPr algn="ctr"/>
            <a:r>
              <a:rPr lang="uz-UZ" sz="1400" b="1" dirty="0">
                <a:solidFill>
                  <a:srgbClr val="FFFFFF"/>
                </a:solidFill>
                <a:latin typeface="Times New Roman"/>
                <a:cs typeface="Times New Roman"/>
                <a:ea typeface="Times New Roman"/>
              </a:rPr>
              <a:t>XULOSA</a:t>
            </a:r>
          </a:p>
        </p:txBody>
      </p:sp>
      <p:sp>
        <p:nvSpPr>
          <p:cNvPr id="14" name="title"/>
          <p:cNvSpPr txBox="1"/>
          <p:nvPr/>
        </p:nvSpPr>
        <p:spPr>
          <a:xfrm>
            <a:off x="777240" y="868680"/>
            <a:ext cx="10515600" cy="868680"/>
          </a:xfrm>
          <a:prstGeom prst="rect">
            <a:avLst/>
          </a:prstGeom>
          <a:noFill/>
        </p:spPr>
        <p:txBody>
          <a:bodyPr wrap="square" anchor="ctr" lIns="91440" rIns="91440">
            <a:normAutofit/>
          </a:bodyPr>
          <a:lstStyle/>
          <a:p>
            <a:pPr>
              <a:lnSpc>
                <a:spcPct val="104000"/>
              </a:lnSpc>
            </a:pPr>
            <a:r>
              <a:rPr lang="uz-UZ" sz="3200" b="1" dirty="0">
                <a:solidFill>
                  <a:srgbClr val="FFFFFF"/>
                </a:solidFill>
                <a:latin typeface="Times New Roman"/>
                <a:cs typeface="Times New Roman"/>
                <a:ea typeface="Times New Roman"/>
              </a:rPr>
              <a:t>Xulosa</a:t>
            </a:r>
          </a:p>
        </p:txBody>
      </p:sp>
      <p:sp>
        <p:nvSpPr>
          <p:cNvPr id="15" name="uline"/>
          <p:cNvSpPr/>
          <p:nvPr/>
        </p:nvSpPr>
        <p:spPr>
          <a:xfrm>
            <a:off x="822960" y="1783080"/>
            <a:ext cx="2377440" cy="45720"/>
          </a:xfrm>
          <a:prstGeom prst="rect">
            <a:avLst/>
          </a:prstGeom>
          <a:solidFill>
            <a:srgbClr val="00C2D1"/>
          </a:solidFill>
          <a:ln>
            <a:noFill/>
          </a:ln>
        </p:spPr>
        <p:txBody>
          <a:bodyPr/>
          <a:lstStyle/>
          <a:p/>
        </p:txBody>
      </p:sp>
      <p:sp>
        <p:nvSpPr>
          <p:cNvPr id="16" name="panel"/>
          <p:cNvSpPr/>
          <p:nvPr/>
        </p:nvSpPr>
        <p:spPr>
          <a:xfrm>
            <a:off x="548640" y="2011680"/>
            <a:ext cx="6766560" cy="4206240"/>
          </a:xfrm>
          <a:prstGeom prst="roundRect">
            <a:avLst/>
          </a:prstGeom>
          <a:solidFill>
            <a:srgbClr val="122A45"/>
          </a:solidFill>
          <a:ln w="9525">
            <a:solidFill>
              <a:srgbClr val="243B55"/>
            </a:solidFill>
          </a:ln>
        </p:spPr>
        <p:txBody>
          <a:bodyPr/>
          <a:lstStyle/>
          <a:p/>
        </p:txBody>
      </p:sp>
      <p:sp>
        <p:nvSpPr>
          <p:cNvPr id="17" name="body"/>
          <p:cNvSpPr txBox="1"/>
          <p:nvPr/>
        </p:nvSpPr>
        <p:spPr>
          <a:xfrm>
            <a:off x="822960" y="2194560"/>
            <a:ext cx="6309360" cy="3931920"/>
          </a:xfrm>
          <a:prstGeom prst="rect">
            <a:avLst/>
          </a:prstGeom>
          <a:noFill/>
        </p:spPr>
        <p:txBody>
          <a:bodyPr wrap="square" anchor="t" lIns="91440" rIns="91440">
            <a:normAutofit/>
          </a:bodyPr>
          <a:lstStyle/>
          <a:p>
            <a:pPr>
              <a:lnSpc>
                <a:spcPct val="110000"/>
              </a:lnSpc>
              <a:spcAft>
                <a:spcPts val="1100"/>
              </a:spcAft>
            </a:pPr>
            <a:r>
              <a:rPr lang="uz-UZ" sz="1800" b="1" dirty="0">
                <a:solidFill>
                  <a:srgbClr val="00C2D1"/>
                </a:solidFill>
                <a:latin typeface="Times New Roman"/>
                <a:cs typeface="Times New Roman"/>
                <a:ea typeface="Times New Roman"/>
              </a:rPr>
              <a:t>Xulosa qilib aytganda, barmoq izi skanerlari inson biologiyasi va fizika qonunlarining IT bilan mukammal uyg'unligidir.</a:t>
            </a:r>
          </a:p>
          <a:p>
            <a:pPr>
              <a:lnSpc>
                <a:spcPct val="110000"/>
              </a:lnSpc>
              <a:spcAft>
                <a:spcPts val="1100"/>
              </a:spcAft>
            </a:pPr>
            <a:r>
              <a:rPr lang="uz-UZ" sz="1800" b="1" dirty="0">
                <a:solidFill>
                  <a:srgbClr val="00C2D1"/>
                </a:solidFill>
                <a:latin typeface="Times New Roman"/>
                <a:cs typeface="Times New Roman"/>
                <a:ea typeface="Times New Roman"/>
              </a:rPr>
              <a:t>Optik skanerlar yorug'lik nurlari (fotonlar) yordamida vizual xarita tuzsa, ultratovush skanerlar ovoz to'lqinlarining aks-sadosi yordamida o'ta aniq 3D model yaratadi. Bu texnologiyalar shaxsiy ma'lumotlarimiz va axborot tizimlarining xavfsizligini ta'minlashda eng ishonchli biometrik qulf bo'lib xizmat qilmoqda.</a:t>
            </a:r>
          </a:p>
        </p:txBody>
      </p:sp>
      <p:grpSp>
        <p:nvGrpSpPr>
          <p:cNvPr id="1231" name="illustration"/>
          <p:cNvGrpSpPr/>
          <p:nvPr/>
        </p:nvGrpSpPr>
        <p:grpSpPr>
          <a:xfrm>
            <a:off x="7635240" y="2011680"/>
            <a:ext cx="3749039" cy="4206240"/>
            <a:chOff x="0" y="0"/>
            <a:chExt cx="100000" cy="100000"/>
          </a:xfrm>
        </p:grpSpPr>
        <p:sp>
          <p:nvSpPr>
            <p:cNvPr id="1221"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222" name="l"/>
            <p:cNvCxnSpPr/>
            <p:nvPr/>
          </p:nvCxnSpPr>
          <p:spPr>
            <a:xfrm flipH="0" flipV="0">
              <a:off x="3000" y="7000"/>
              <a:ext cx="17000" cy="1"/>
            </a:xfrm>
            <a:prstGeom prst="line">
              <a:avLst/>
            </a:prstGeom>
            <a:ln w="19050" cap="rnd">
              <a:solidFill>
                <a:srgbClr val="00C2D1"/>
              </a:solidFill>
            </a:ln>
          </p:spPr>
        </p:cxnSp>
        <p:cxnSp>
          <p:nvCxnSpPr>
            <p:cNvPr id="1223" name="l"/>
            <p:cNvCxnSpPr/>
            <p:nvPr/>
          </p:nvCxnSpPr>
          <p:spPr>
            <a:xfrm flipH="0" flipV="0">
              <a:off x="3000" y="7000"/>
              <a:ext cx="1" cy="17000"/>
            </a:xfrm>
            <a:prstGeom prst="line">
              <a:avLst/>
            </a:prstGeom>
            <a:ln w="19050" cap="rnd">
              <a:solidFill>
                <a:srgbClr val="00C2D1"/>
              </a:solidFill>
            </a:ln>
          </p:spPr>
        </p:cxnSp>
        <p:cxnSp>
          <p:nvCxnSpPr>
            <p:cNvPr id="1224" name="l"/>
            <p:cNvCxnSpPr/>
            <p:nvPr/>
          </p:nvCxnSpPr>
          <p:spPr>
            <a:xfrm flipH="0" flipV="0">
              <a:off x="80000" y="93000"/>
              <a:ext cx="17000" cy="1"/>
            </a:xfrm>
            <a:prstGeom prst="line">
              <a:avLst/>
            </a:prstGeom>
            <a:ln w="19050" cap="rnd">
              <a:solidFill>
                <a:srgbClr val="3B82F6"/>
              </a:solidFill>
            </a:ln>
          </p:spPr>
        </p:cxnSp>
        <p:cxnSp>
          <p:nvCxnSpPr>
            <p:cNvPr id="1225" name="l"/>
            <p:cNvCxnSpPr/>
            <p:nvPr/>
          </p:nvCxnSpPr>
          <p:spPr>
            <a:xfrm flipH="0" flipV="0">
              <a:off x="97000" y="76000"/>
              <a:ext cx="1" cy="17000"/>
            </a:xfrm>
            <a:prstGeom prst="line">
              <a:avLst/>
            </a:prstGeom>
            <a:ln w="19050" cap="rnd">
              <a:solidFill>
                <a:srgbClr val="3B82F6"/>
              </a:solidFill>
            </a:ln>
          </p:spPr>
        </p:cxnSp>
        <p:sp>
          <p:nvSpPr>
            <p:cNvPr id="1226" name="f"/>
            <p:cNvSpPr/>
            <p:nvPr/>
          </p:nvSpPr>
          <p:spPr>
            <a:xfrm>
              <a:off x="0" y="0"/>
              <a:ext cx="60000" cy="72000"/>
            </a:xfrm>
            <a:custGeom>
              <a:avLst/>
              <a:gdLst/>
              <a:ahLst/>
              <a:cxnLst/>
              <a:rect l="0" t="0" r="60000" b="72000"/>
              <a:pathLst>
                <a:path w="60000" h="72000">
                  <a:moveTo>
                    <a:pt x="30000" y="0"/>
                  </a:moveTo>
                  <a:lnTo>
                    <a:pt x="60000" y="10000"/>
                  </a:lnTo>
                  <a:lnTo>
                    <a:pt x="60000" y="40000"/>
                  </a:lnTo>
                  <a:lnTo>
                    <a:pt x="30000" y="72000"/>
                  </a:lnTo>
                  <a:lnTo>
                    <a:pt x="0" y="40000"/>
                  </a:lnTo>
                  <a:lnTo>
                    <a:pt x="0" y="10000"/>
                  </a:lnTo>
                  <a:close/>
                </a:path>
              </a:pathLst>
            </a:custGeom>
            <a:solidFill>
              <a:srgbClr val="0B1E33"/>
            </a:solidFill>
            <a:ln w="6000" cap="rnd">
              <a:solidFill>
                <a:srgbClr val="00C2D1"/>
              </a:solidFill>
              <a:round/>
            </a:ln>
          </p:spPr>
          <p:txBody>
            <a:bodyPr/>
            <a:lstStyle/>
            <a:p/>
          </p:txBody>
        </p:sp>
        <p:sp>
          <p:nvSpPr>
            <p:cNvPr id="1227" name="r"/>
            <p:cNvSpPr/>
            <p:nvPr/>
          </p:nvSpPr>
          <p:spPr>
            <a:xfrm>
              <a:off x="40000" y="50000"/>
              <a:ext cx="20000" cy="18000"/>
            </a:xfrm>
            <a:prstGeom prst="roundRect">
              <a:avLst/>
            </a:prstGeom>
            <a:solidFill>
              <a:srgbClr val="3B82F6"/>
            </a:solidFill>
            <a:ln>
              <a:noFill/>
            </a:ln>
          </p:spPr>
          <p:txBody>
            <a:bodyPr/>
            <a:lstStyle/>
            <a:p/>
          </p:txBody>
        </p:sp>
        <p:sp>
          <p:nvSpPr>
            <p:cNvPr id="1228" name="f"/>
            <p:cNvSpPr/>
            <p:nvPr/>
          </p:nvSpPr>
          <p:spPr>
            <a:xfrm>
              <a:off x="0" y="0"/>
              <a:ext cx="18000" cy="9000"/>
            </a:xfrm>
            <a:custGeom>
              <a:avLst/>
              <a:gdLst/>
              <a:ahLst/>
              <a:cxnLst/>
              <a:rect l="0" t="0" r="18000" b="9000"/>
              <a:pathLst>
                <a:path w="18000" h="9000">
                  <a:moveTo>
                    <a:pt x="0" y="9000"/>
                  </a:moveTo>
                  <a:lnTo>
                    <a:pt x="56" y="7992"/>
                  </a:lnTo>
                  <a:lnTo>
                    <a:pt x="225" y="6997"/>
                  </a:lnTo>
                  <a:lnTo>
                    <a:pt x="505" y="6027"/>
                  </a:lnTo>
                  <a:lnTo>
                    <a:pt x="891" y="5095"/>
                  </a:lnTo>
                  <a:lnTo>
                    <a:pt x="1379" y="4211"/>
                  </a:lnTo>
                  <a:lnTo>
                    <a:pt x="1963" y="3388"/>
                  </a:lnTo>
                  <a:lnTo>
                    <a:pt x="2636" y="2636"/>
                  </a:lnTo>
                  <a:lnTo>
                    <a:pt x="3388" y="1963"/>
                  </a:lnTo>
                  <a:lnTo>
                    <a:pt x="4211" y="1379"/>
                  </a:lnTo>
                  <a:lnTo>
                    <a:pt x="5095" y="891"/>
                  </a:lnTo>
                  <a:lnTo>
                    <a:pt x="6027" y="505"/>
                  </a:lnTo>
                  <a:lnTo>
                    <a:pt x="6997" y="225"/>
                  </a:lnTo>
                  <a:lnTo>
                    <a:pt x="7992" y="56"/>
                  </a:lnTo>
                  <a:lnTo>
                    <a:pt x="9000" y="0"/>
                  </a:lnTo>
                  <a:lnTo>
                    <a:pt x="10007" y="56"/>
                  </a:lnTo>
                  <a:lnTo>
                    <a:pt x="11002" y="225"/>
                  </a:lnTo>
                  <a:lnTo>
                    <a:pt x="11972" y="505"/>
                  </a:lnTo>
                  <a:lnTo>
                    <a:pt x="12904" y="891"/>
                  </a:lnTo>
                  <a:lnTo>
                    <a:pt x="13788" y="1379"/>
                  </a:lnTo>
                  <a:lnTo>
                    <a:pt x="14611" y="1963"/>
                  </a:lnTo>
                  <a:lnTo>
                    <a:pt x="15363" y="2636"/>
                  </a:lnTo>
                  <a:lnTo>
                    <a:pt x="16036" y="3388"/>
                  </a:lnTo>
                  <a:lnTo>
                    <a:pt x="16620" y="4211"/>
                  </a:lnTo>
                  <a:lnTo>
                    <a:pt x="17108" y="5095"/>
                  </a:lnTo>
                  <a:lnTo>
                    <a:pt x="17494" y="6027"/>
                  </a:lnTo>
                  <a:lnTo>
                    <a:pt x="17774" y="6997"/>
                  </a:lnTo>
                  <a:lnTo>
                    <a:pt x="17943" y="7992"/>
                  </a:lnTo>
                  <a:lnTo>
                    <a:pt x="18000" y="9000"/>
                  </a:lnTo>
                </a:path>
              </a:pathLst>
            </a:custGeom>
            <a:noFill/>
            <a:ln w="6000" cap="rnd">
              <a:solidFill>
                <a:srgbClr val="FFFFFF"/>
              </a:solidFill>
              <a:round/>
            </a:ln>
          </p:spPr>
          <p:txBody>
            <a:bodyPr/>
            <a:lstStyle/>
            <a:p/>
          </p:txBody>
        </p:sp>
        <p:cxnSp>
          <p:nvCxnSpPr>
            <p:cNvPr id="1229" name="l"/>
            <p:cNvCxnSpPr/>
            <p:nvPr/>
          </p:nvCxnSpPr>
          <p:spPr>
            <a:xfrm flipH="0" flipV="0">
              <a:off x="14000" y="20000"/>
              <a:ext cx="16000" cy="16000"/>
            </a:xfrm>
            <a:prstGeom prst="line">
              <a:avLst/>
            </a:prstGeom>
            <a:ln w="4000" cap="rnd">
              <a:solidFill>
                <a:srgbClr val="00C2D1"/>
              </a:solidFill>
            </a:ln>
          </p:spPr>
        </p:cxnSp>
        <p:sp>
          <p:nvSpPr>
            <p:cNvPr id="1230" name="f"/>
            <p:cNvSpPr/>
            <p:nvPr/>
          </p:nvSpPr>
          <p:spPr>
            <a:xfrm>
              <a:off x="0" y="0"/>
              <a:ext cx="10000" cy="20000"/>
            </a:xfrm>
            <a:custGeom>
              <a:avLst/>
              <a:gdLst/>
              <a:ahLst/>
              <a:cxnLst/>
              <a:rect l="0" t="0" r="10000" b="20000"/>
              <a:pathLst>
                <a:path w="10000" h="20000">
                  <a:moveTo>
                    <a:pt x="10000" y="20000"/>
                  </a:moveTo>
                  <a:lnTo>
                    <a:pt x="8880" y="19937"/>
                  </a:lnTo>
                  <a:lnTo>
                    <a:pt x="7774" y="19749"/>
                  </a:lnTo>
                  <a:lnTo>
                    <a:pt x="6697" y="19438"/>
                  </a:lnTo>
                  <a:lnTo>
                    <a:pt x="5661" y="19009"/>
                  </a:lnTo>
                  <a:lnTo>
                    <a:pt x="4679" y="18467"/>
                  </a:lnTo>
                  <a:lnTo>
                    <a:pt x="3765" y="17818"/>
                  </a:lnTo>
                  <a:lnTo>
                    <a:pt x="2928" y="17071"/>
                  </a:lnTo>
                  <a:lnTo>
                    <a:pt x="2181" y="16234"/>
                  </a:lnTo>
                  <a:lnTo>
                    <a:pt x="1532" y="15320"/>
                  </a:lnTo>
                  <a:lnTo>
                    <a:pt x="990" y="14338"/>
                  </a:lnTo>
                  <a:lnTo>
                    <a:pt x="561" y="13302"/>
                  </a:lnTo>
                  <a:lnTo>
                    <a:pt x="250" y="12225"/>
                  </a:lnTo>
                  <a:lnTo>
                    <a:pt x="62" y="11119"/>
                  </a:lnTo>
                  <a:lnTo>
                    <a:pt x="0" y="10000"/>
                  </a:lnTo>
                  <a:lnTo>
                    <a:pt x="62" y="8880"/>
                  </a:lnTo>
                  <a:lnTo>
                    <a:pt x="250" y="7774"/>
                  </a:lnTo>
                  <a:lnTo>
                    <a:pt x="561" y="6697"/>
                  </a:lnTo>
                  <a:lnTo>
                    <a:pt x="990" y="5661"/>
                  </a:lnTo>
                  <a:lnTo>
                    <a:pt x="1532" y="4679"/>
                  </a:lnTo>
                  <a:lnTo>
                    <a:pt x="2181" y="3765"/>
                  </a:lnTo>
                  <a:lnTo>
                    <a:pt x="2928" y="2928"/>
                  </a:lnTo>
                  <a:lnTo>
                    <a:pt x="3765" y="2181"/>
                  </a:lnTo>
                  <a:lnTo>
                    <a:pt x="4679" y="1532"/>
                  </a:lnTo>
                  <a:lnTo>
                    <a:pt x="5661" y="990"/>
                  </a:lnTo>
                  <a:lnTo>
                    <a:pt x="6697" y="561"/>
                  </a:lnTo>
                  <a:lnTo>
                    <a:pt x="7774" y="250"/>
                  </a:lnTo>
                  <a:lnTo>
                    <a:pt x="8880" y="62"/>
                  </a:lnTo>
                  <a:lnTo>
                    <a:pt x="10000" y="0"/>
                  </a:lnTo>
                </a:path>
              </a:pathLst>
            </a:custGeom>
            <a:noFill/>
            <a:ln w="4000" cap="rnd">
              <a:solidFill>
                <a:srgbClr val="00C2D1"/>
              </a:solidFill>
              <a:round/>
            </a:ln>
          </p:spPr>
          <p:txBody>
            <a:bodyPr/>
            <a:lstStyle/>
            <a:p/>
          </p:txBody>
        </p:sp>
      </p:grpSp>
      <p:sp>
        <p:nvSpPr>
          <p:cNvPr id="18" name="dot"/>
          <p:cNvSpPr/>
          <p:nvPr/>
        </p:nvSpPr>
        <p:spPr>
          <a:xfrm>
            <a:off x="11658600" y="2651760"/>
            <a:ext cx="109728" cy="109728"/>
          </a:xfrm>
          <a:prstGeom prst="roundRect">
            <a:avLst/>
          </a:prstGeom>
          <a:noFill/>
          <a:ln w="12700">
            <a:solidFill>
              <a:srgbClr val="2A4563"/>
            </a:solidFill>
          </a:ln>
        </p:spPr>
        <p:txBody>
          <a:bodyPr/>
          <a:lstStyle/>
          <a:p/>
        </p:txBody>
      </p:sp>
      <p:sp>
        <p:nvSpPr>
          <p:cNvPr id="19" name="dot"/>
          <p:cNvSpPr/>
          <p:nvPr/>
        </p:nvSpPr>
        <p:spPr>
          <a:xfrm>
            <a:off x="11658600" y="3035808"/>
            <a:ext cx="109728" cy="109728"/>
          </a:xfrm>
          <a:prstGeom prst="roundRect">
            <a:avLst/>
          </a:prstGeom>
          <a:noFill/>
          <a:ln w="12700">
            <a:solidFill>
              <a:srgbClr val="2A4563"/>
            </a:solidFill>
          </a:ln>
        </p:spPr>
        <p:txBody>
          <a:bodyPr/>
          <a:lstStyle/>
          <a:p/>
        </p:txBody>
      </p:sp>
      <p:sp>
        <p:nvSpPr>
          <p:cNvPr id="20" name="dot"/>
          <p:cNvSpPr/>
          <p:nvPr/>
        </p:nvSpPr>
        <p:spPr>
          <a:xfrm>
            <a:off x="11658600" y="3419856"/>
            <a:ext cx="109728" cy="109728"/>
          </a:xfrm>
          <a:prstGeom prst="roundRect">
            <a:avLst/>
          </a:prstGeom>
          <a:noFill/>
          <a:ln w="12700">
            <a:solidFill>
              <a:srgbClr val="2A4563"/>
            </a:solidFill>
          </a:ln>
        </p:spPr>
        <p:txBody>
          <a:bodyPr/>
          <a:lstStyle/>
          <a:p/>
        </p:txBody>
      </p:sp>
      <p:sp>
        <p:nvSpPr>
          <p:cNvPr id="21" name="dot"/>
          <p:cNvSpPr/>
          <p:nvPr/>
        </p:nvSpPr>
        <p:spPr>
          <a:xfrm>
            <a:off x="11658600" y="3803904"/>
            <a:ext cx="109728" cy="109728"/>
          </a:xfrm>
          <a:prstGeom prst="roundRect">
            <a:avLst/>
          </a:prstGeom>
          <a:noFill/>
          <a:ln w="12700">
            <a:solidFill>
              <a:srgbClr val="2A4563"/>
            </a:solidFill>
          </a:ln>
        </p:spPr>
        <p:txBody>
          <a:bodyPr/>
          <a:lstStyle/>
          <a:p/>
        </p:txBody>
      </p:sp>
      <p:sp>
        <p:nvSpPr>
          <p:cNvPr id="22" name="dotA"/>
          <p:cNvSpPr/>
          <p:nvPr/>
        </p:nvSpPr>
        <p:spPr>
          <a:xfrm>
            <a:off x="11631168" y="4187952"/>
            <a:ext cx="164592" cy="164592"/>
          </a:xfrm>
          <a:prstGeom prst="roundRect">
            <a:avLst/>
          </a:prstGeom>
          <a:solidFill>
            <a:srgbClr val="00C2D1"/>
          </a:solidFill>
          <a:ln>
            <a:noFill/>
          </a:ln>
        </p:spPr>
        <p:txBody>
          <a:bodyPr/>
          <a:lstStyle/>
          <a:p/>
        </p:txBody>
      </p:sp>
      <p:sp>
        <p:nvSpPr>
          <p:cNvPr id="23" name="fline"/>
          <p:cNvSpPr/>
          <p:nvPr/>
        </p:nvSpPr>
        <p:spPr>
          <a:xfrm>
            <a:off x="548640" y="6419088"/>
            <a:ext cx="11091672" cy="14630"/>
          </a:xfrm>
          <a:prstGeom prst="rect">
            <a:avLst/>
          </a:prstGeom>
          <a:solidFill>
            <a:srgbClr val="243B55"/>
          </a:solidFill>
          <a:ln>
            <a:noFill/>
          </a:ln>
        </p:spPr>
        <p:txBody>
          <a:bodyPr/>
          <a:lstStyle/>
          <a:p/>
        </p:txBody>
      </p:sp>
      <p:sp>
        <p:nvSpPr>
          <p:cNvPr id="24"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25"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09 / 10</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gradFill>
            <a:gsLst>
              <a:gs pos="0">
                <a:srgbClr val="0B1E33"/>
              </a:gs>
              <a:gs pos="100000">
                <a:srgbClr val="122A45"/>
              </a:gs>
            </a:gsLst>
            <a:lin ang="2700000" scaled="1"/>
          </a:gradFill>
          <a:ln>
            <a:noFill/>
          </a:ln>
        </p:spPr>
        <p:txBody>
          <a:bodyPr/>
          <a:lstStyle/>
          <a:p/>
        </p:txBody>
      </p:sp>
      <p:grpSp>
        <p:nvGrpSpPr>
          <p:cNvPr id="1244" name="illustration"/>
          <p:cNvGrpSpPr/>
          <p:nvPr/>
        </p:nvGrpSpPr>
        <p:grpSpPr>
          <a:xfrm>
            <a:off x="4572000" y="685800"/>
            <a:ext cx="3044952" cy="3017520"/>
            <a:chOff x="0" y="0"/>
            <a:chExt cx="100000" cy="100000"/>
          </a:xfrm>
        </p:grpSpPr>
        <p:sp>
          <p:nvSpPr>
            <p:cNvPr id="1232" name="r"/>
            <p:cNvSpPr/>
            <p:nvPr/>
          </p:nvSpPr>
          <p:spPr>
            <a:xfrm>
              <a:off x="0" y="0"/>
              <a:ext cx="100000" cy="100000"/>
            </a:xfrm>
            <a:prstGeom prst="roundRect">
              <a:avLst/>
            </a:prstGeom>
            <a:solidFill>
              <a:srgbClr val="122A45"/>
            </a:solidFill>
            <a:ln w="12700">
              <a:solidFill>
                <a:srgbClr val="00C2D1"/>
              </a:solidFill>
            </a:ln>
          </p:spPr>
          <p:txBody>
            <a:bodyPr/>
            <a:lstStyle/>
            <a:p/>
          </p:txBody>
        </p:sp>
        <p:cxnSp>
          <p:nvCxnSpPr>
            <p:cNvPr id="1233" name="l"/>
            <p:cNvCxnSpPr/>
            <p:nvPr/>
          </p:nvCxnSpPr>
          <p:spPr>
            <a:xfrm flipH="0" flipV="0">
              <a:off x="3000" y="7000"/>
              <a:ext cx="17000" cy="1"/>
            </a:xfrm>
            <a:prstGeom prst="line">
              <a:avLst/>
            </a:prstGeom>
            <a:ln w="19050" cap="rnd">
              <a:solidFill>
                <a:srgbClr val="00C2D1"/>
              </a:solidFill>
            </a:ln>
          </p:spPr>
        </p:cxnSp>
        <p:cxnSp>
          <p:nvCxnSpPr>
            <p:cNvPr id="1234" name="l"/>
            <p:cNvCxnSpPr/>
            <p:nvPr/>
          </p:nvCxnSpPr>
          <p:spPr>
            <a:xfrm flipH="0" flipV="0">
              <a:off x="3000" y="7000"/>
              <a:ext cx="1" cy="17000"/>
            </a:xfrm>
            <a:prstGeom prst="line">
              <a:avLst/>
            </a:prstGeom>
            <a:ln w="19050" cap="rnd">
              <a:solidFill>
                <a:srgbClr val="00C2D1"/>
              </a:solidFill>
            </a:ln>
          </p:spPr>
        </p:cxnSp>
        <p:cxnSp>
          <p:nvCxnSpPr>
            <p:cNvPr id="1235" name="l"/>
            <p:cNvCxnSpPr/>
            <p:nvPr/>
          </p:nvCxnSpPr>
          <p:spPr>
            <a:xfrm flipH="0" flipV="0">
              <a:off x="80000" y="93000"/>
              <a:ext cx="17000" cy="1"/>
            </a:xfrm>
            <a:prstGeom prst="line">
              <a:avLst/>
            </a:prstGeom>
            <a:ln w="19050" cap="rnd">
              <a:solidFill>
                <a:srgbClr val="3B82F6"/>
              </a:solidFill>
            </a:ln>
          </p:spPr>
        </p:cxnSp>
        <p:cxnSp>
          <p:nvCxnSpPr>
            <p:cNvPr id="1236" name="l"/>
            <p:cNvCxnSpPr/>
            <p:nvPr/>
          </p:nvCxnSpPr>
          <p:spPr>
            <a:xfrm flipH="0" flipV="0">
              <a:off x="97000" y="76000"/>
              <a:ext cx="1" cy="17000"/>
            </a:xfrm>
            <a:prstGeom prst="line">
              <a:avLst/>
            </a:prstGeom>
            <a:ln w="19050" cap="rnd">
              <a:solidFill>
                <a:srgbClr val="3B82F6"/>
              </a:solidFill>
            </a:ln>
          </p:spPr>
        </p:cxnSp>
        <p:sp>
          <p:nvSpPr>
            <p:cNvPr id="1237" name="e"/>
            <p:cNvSpPr/>
            <p:nvPr/>
          </p:nvSpPr>
          <p:spPr>
            <a:xfrm>
              <a:off x="24000" y="20000"/>
              <a:ext cx="52000" cy="52000"/>
            </a:xfrm>
            <a:prstGeom prst="ellipse">
              <a:avLst/>
            </a:prstGeom>
            <a:noFill/>
            <a:ln w="9000">
              <a:solidFill>
                <a:srgbClr val="3B82F6"/>
              </a:solidFill>
            </a:ln>
          </p:spPr>
          <p:txBody>
            <a:bodyPr/>
            <a:lstStyle/>
            <a:p/>
          </p:txBody>
        </p:sp>
        <p:sp>
          <p:nvSpPr>
            <p:cNvPr id="1238" name="f"/>
            <p:cNvSpPr/>
            <p:nvPr/>
          </p:nvSpPr>
          <p:spPr>
            <a:xfrm>
              <a:off x="0" y="0"/>
              <a:ext cx="13577" cy="13953"/>
            </a:xfrm>
            <a:custGeom>
              <a:avLst/>
              <a:gdLst/>
              <a:ahLst/>
              <a:cxnLst/>
              <a:rect l="0" t="0" r="13577" b="13953"/>
              <a:pathLst>
                <a:path w="13577" h="13953">
                  <a:moveTo>
                    <a:pt x="0" y="4582"/>
                  </a:moveTo>
                  <a:lnTo>
                    <a:pt x="556" y="3406"/>
                  </a:lnTo>
                  <a:lnTo>
                    <a:pt x="1321" y="2353"/>
                  </a:lnTo>
                  <a:lnTo>
                    <a:pt x="2268" y="1460"/>
                  </a:lnTo>
                  <a:lnTo>
                    <a:pt x="3363" y="758"/>
                  </a:lnTo>
                  <a:lnTo>
                    <a:pt x="4570" y="270"/>
                  </a:lnTo>
                  <a:lnTo>
                    <a:pt x="5846" y="15"/>
                  </a:lnTo>
                  <a:lnTo>
                    <a:pt x="7147" y="0"/>
                  </a:lnTo>
                  <a:lnTo>
                    <a:pt x="8428" y="225"/>
                  </a:lnTo>
                  <a:lnTo>
                    <a:pt x="9646" y="685"/>
                  </a:lnTo>
                  <a:lnTo>
                    <a:pt x="10757" y="1361"/>
                  </a:lnTo>
                  <a:lnTo>
                    <a:pt x="11725" y="2232"/>
                  </a:lnTo>
                  <a:lnTo>
                    <a:pt x="12514" y="3267"/>
                  </a:lnTo>
                  <a:lnTo>
                    <a:pt x="13098" y="4430"/>
                  </a:lnTo>
                  <a:lnTo>
                    <a:pt x="13456" y="5681"/>
                  </a:lnTo>
                  <a:lnTo>
                    <a:pt x="13577" y="6976"/>
                  </a:lnTo>
                  <a:lnTo>
                    <a:pt x="13456" y="8272"/>
                  </a:lnTo>
                  <a:lnTo>
                    <a:pt x="13098" y="9523"/>
                  </a:lnTo>
                  <a:lnTo>
                    <a:pt x="12514" y="10686"/>
                  </a:lnTo>
                  <a:lnTo>
                    <a:pt x="11725" y="11720"/>
                  </a:lnTo>
                  <a:lnTo>
                    <a:pt x="10757" y="12591"/>
                  </a:lnTo>
                  <a:lnTo>
                    <a:pt x="9646" y="13268"/>
                  </a:lnTo>
                  <a:lnTo>
                    <a:pt x="8428" y="13727"/>
                  </a:lnTo>
                  <a:lnTo>
                    <a:pt x="7147" y="13953"/>
                  </a:lnTo>
                  <a:lnTo>
                    <a:pt x="5846" y="13938"/>
                  </a:lnTo>
                  <a:lnTo>
                    <a:pt x="4570" y="13682"/>
                  </a:lnTo>
                  <a:lnTo>
                    <a:pt x="3363" y="13195"/>
                  </a:lnTo>
                  <a:lnTo>
                    <a:pt x="2268" y="12492"/>
                  </a:lnTo>
                  <a:lnTo>
                    <a:pt x="1321" y="11599"/>
                  </a:lnTo>
                  <a:lnTo>
                    <a:pt x="556" y="10547"/>
                  </a:lnTo>
                  <a:lnTo>
                    <a:pt x="0" y="9370"/>
                  </a:lnTo>
                </a:path>
              </a:pathLst>
            </a:custGeom>
            <a:noFill/>
            <a:ln w="3600" cap="rnd">
              <a:solidFill>
                <a:srgbClr val="00C2D1"/>
              </a:solidFill>
              <a:round/>
            </a:ln>
          </p:spPr>
          <p:txBody>
            <a:bodyPr/>
            <a:lstStyle/>
            <a:p/>
          </p:txBody>
        </p:sp>
        <p:sp>
          <p:nvSpPr>
            <p:cNvPr id="1239" name="f"/>
            <p:cNvSpPr/>
            <p:nvPr/>
          </p:nvSpPr>
          <p:spPr>
            <a:xfrm>
              <a:off x="0" y="0"/>
              <a:ext cx="25216" cy="25913"/>
            </a:xfrm>
            <a:custGeom>
              <a:avLst/>
              <a:gdLst/>
              <a:ahLst/>
              <a:cxnLst/>
              <a:rect l="0" t="0" r="25216" b="25913"/>
              <a:pathLst>
                <a:path w="25216" h="25913">
                  <a:moveTo>
                    <a:pt x="0" y="8510"/>
                  </a:moveTo>
                  <a:lnTo>
                    <a:pt x="1034" y="6326"/>
                  </a:lnTo>
                  <a:lnTo>
                    <a:pt x="2454" y="4371"/>
                  </a:lnTo>
                  <a:lnTo>
                    <a:pt x="4212" y="2712"/>
                  </a:lnTo>
                  <a:lnTo>
                    <a:pt x="6246" y="1408"/>
                  </a:lnTo>
                  <a:lnTo>
                    <a:pt x="8487" y="503"/>
                  </a:lnTo>
                  <a:lnTo>
                    <a:pt x="10857" y="28"/>
                  </a:lnTo>
                  <a:lnTo>
                    <a:pt x="13273" y="0"/>
                  </a:lnTo>
                  <a:lnTo>
                    <a:pt x="15653" y="419"/>
                  </a:lnTo>
                  <a:lnTo>
                    <a:pt x="17914" y="1272"/>
                  </a:lnTo>
                  <a:lnTo>
                    <a:pt x="19979" y="2529"/>
                  </a:lnTo>
                  <a:lnTo>
                    <a:pt x="21775" y="4146"/>
                  </a:lnTo>
                  <a:lnTo>
                    <a:pt x="23240" y="6067"/>
                  </a:lnTo>
                  <a:lnTo>
                    <a:pt x="24325" y="8227"/>
                  </a:lnTo>
                  <a:lnTo>
                    <a:pt x="24991" y="10550"/>
                  </a:lnTo>
                  <a:lnTo>
                    <a:pt x="25216" y="12956"/>
                  </a:lnTo>
                  <a:lnTo>
                    <a:pt x="24991" y="15363"/>
                  </a:lnTo>
                  <a:lnTo>
                    <a:pt x="24325" y="17686"/>
                  </a:lnTo>
                  <a:lnTo>
                    <a:pt x="23240" y="19845"/>
                  </a:lnTo>
                  <a:lnTo>
                    <a:pt x="21775" y="21767"/>
                  </a:lnTo>
                  <a:lnTo>
                    <a:pt x="19979" y="23384"/>
                  </a:lnTo>
                  <a:lnTo>
                    <a:pt x="17914" y="24641"/>
                  </a:lnTo>
                  <a:lnTo>
                    <a:pt x="15653" y="25494"/>
                  </a:lnTo>
                  <a:lnTo>
                    <a:pt x="13273" y="25913"/>
                  </a:lnTo>
                  <a:lnTo>
                    <a:pt x="10857" y="25885"/>
                  </a:lnTo>
                  <a:lnTo>
                    <a:pt x="8487" y="25410"/>
                  </a:lnTo>
                  <a:lnTo>
                    <a:pt x="6246" y="24505"/>
                  </a:lnTo>
                  <a:lnTo>
                    <a:pt x="4212" y="23201"/>
                  </a:lnTo>
                  <a:lnTo>
                    <a:pt x="2454" y="21542"/>
                  </a:lnTo>
                  <a:lnTo>
                    <a:pt x="1034" y="19587"/>
                  </a:lnTo>
                  <a:lnTo>
                    <a:pt x="0" y="17403"/>
                  </a:lnTo>
                </a:path>
              </a:pathLst>
            </a:custGeom>
            <a:noFill/>
            <a:ln w="3600" cap="rnd">
              <a:solidFill>
                <a:srgbClr val="00C2D1"/>
              </a:solidFill>
              <a:round/>
            </a:ln>
          </p:spPr>
          <p:txBody>
            <a:bodyPr/>
            <a:lstStyle/>
            <a:p/>
          </p:txBody>
        </p:sp>
        <p:sp>
          <p:nvSpPr>
            <p:cNvPr id="1240" name="f"/>
            <p:cNvSpPr/>
            <p:nvPr/>
          </p:nvSpPr>
          <p:spPr>
            <a:xfrm>
              <a:off x="0" y="0"/>
              <a:ext cx="36854" cy="37874"/>
            </a:xfrm>
            <a:custGeom>
              <a:avLst/>
              <a:gdLst/>
              <a:ahLst/>
              <a:cxnLst/>
              <a:rect l="0" t="0" r="36854" b="37874"/>
              <a:pathLst>
                <a:path w="36854" h="37874">
                  <a:moveTo>
                    <a:pt x="0" y="12438"/>
                  </a:moveTo>
                  <a:lnTo>
                    <a:pt x="1511" y="9246"/>
                  </a:lnTo>
                  <a:lnTo>
                    <a:pt x="3587" y="6388"/>
                  </a:lnTo>
                  <a:lnTo>
                    <a:pt x="6156" y="3964"/>
                  </a:lnTo>
                  <a:lnTo>
                    <a:pt x="9129" y="2058"/>
                  </a:lnTo>
                  <a:lnTo>
                    <a:pt x="12404" y="735"/>
                  </a:lnTo>
                  <a:lnTo>
                    <a:pt x="15868" y="41"/>
                  </a:lnTo>
                  <a:lnTo>
                    <a:pt x="19399" y="0"/>
                  </a:lnTo>
                  <a:lnTo>
                    <a:pt x="22878" y="613"/>
                  </a:lnTo>
                  <a:lnTo>
                    <a:pt x="26183" y="1859"/>
                  </a:lnTo>
                  <a:lnTo>
                    <a:pt x="29200" y="3696"/>
                  </a:lnTo>
                  <a:lnTo>
                    <a:pt x="31825" y="6060"/>
                  </a:lnTo>
                  <a:lnTo>
                    <a:pt x="33967" y="8868"/>
                  </a:lnTo>
                  <a:lnTo>
                    <a:pt x="35552" y="12024"/>
                  </a:lnTo>
                  <a:lnTo>
                    <a:pt x="36525" y="15420"/>
                  </a:lnTo>
                  <a:lnTo>
                    <a:pt x="36854" y="18937"/>
                  </a:lnTo>
                  <a:lnTo>
                    <a:pt x="36525" y="22453"/>
                  </a:lnTo>
                  <a:lnTo>
                    <a:pt x="35552" y="25849"/>
                  </a:lnTo>
                  <a:lnTo>
                    <a:pt x="33967" y="29005"/>
                  </a:lnTo>
                  <a:lnTo>
                    <a:pt x="31825" y="31813"/>
                  </a:lnTo>
                  <a:lnTo>
                    <a:pt x="29200" y="34177"/>
                  </a:lnTo>
                  <a:lnTo>
                    <a:pt x="26183" y="36014"/>
                  </a:lnTo>
                  <a:lnTo>
                    <a:pt x="22878" y="37260"/>
                  </a:lnTo>
                  <a:lnTo>
                    <a:pt x="19399" y="37874"/>
                  </a:lnTo>
                  <a:lnTo>
                    <a:pt x="15868" y="37832"/>
                  </a:lnTo>
                  <a:lnTo>
                    <a:pt x="12404" y="37138"/>
                  </a:lnTo>
                  <a:lnTo>
                    <a:pt x="9129" y="35815"/>
                  </a:lnTo>
                  <a:lnTo>
                    <a:pt x="6156" y="33909"/>
                  </a:lnTo>
                  <a:lnTo>
                    <a:pt x="3587" y="31485"/>
                  </a:lnTo>
                  <a:lnTo>
                    <a:pt x="1511" y="28627"/>
                  </a:lnTo>
                  <a:lnTo>
                    <a:pt x="0" y="25435"/>
                  </a:lnTo>
                </a:path>
              </a:pathLst>
            </a:custGeom>
            <a:noFill/>
            <a:ln w="3600" cap="rnd">
              <a:solidFill>
                <a:srgbClr val="00C2D1"/>
              </a:solidFill>
              <a:round/>
            </a:ln>
          </p:spPr>
          <p:txBody>
            <a:bodyPr/>
            <a:lstStyle/>
            <a:p/>
          </p:txBody>
        </p:sp>
        <p:sp>
          <p:nvSpPr>
            <p:cNvPr id="1241" name="f"/>
            <p:cNvSpPr/>
            <p:nvPr/>
          </p:nvSpPr>
          <p:spPr>
            <a:xfrm>
              <a:off x="0" y="0"/>
              <a:ext cx="48492" cy="49834"/>
            </a:xfrm>
            <a:custGeom>
              <a:avLst/>
              <a:gdLst/>
              <a:ahLst/>
              <a:cxnLst/>
              <a:rect l="0" t="0" r="48492" b="49834"/>
              <a:pathLst>
                <a:path w="48492" h="49834">
                  <a:moveTo>
                    <a:pt x="0" y="16366"/>
                  </a:moveTo>
                  <a:lnTo>
                    <a:pt x="1988" y="12166"/>
                  </a:lnTo>
                  <a:lnTo>
                    <a:pt x="4720" y="8406"/>
                  </a:lnTo>
                  <a:lnTo>
                    <a:pt x="8100" y="5216"/>
                  </a:lnTo>
                  <a:lnTo>
                    <a:pt x="12013" y="2708"/>
                  </a:lnTo>
                  <a:lnTo>
                    <a:pt x="16322" y="967"/>
                  </a:lnTo>
                  <a:lnTo>
                    <a:pt x="20879" y="54"/>
                  </a:lnTo>
                  <a:lnTo>
                    <a:pt x="25526" y="0"/>
                  </a:lnTo>
                  <a:lnTo>
                    <a:pt x="30103" y="807"/>
                  </a:lnTo>
                  <a:lnTo>
                    <a:pt x="34451" y="2447"/>
                  </a:lnTo>
                  <a:lnTo>
                    <a:pt x="38421" y="4864"/>
                  </a:lnTo>
                  <a:lnTo>
                    <a:pt x="41875" y="7973"/>
                  </a:lnTo>
                  <a:lnTo>
                    <a:pt x="44693" y="11669"/>
                  </a:lnTo>
                  <a:lnTo>
                    <a:pt x="46779" y="15822"/>
                  </a:lnTo>
                  <a:lnTo>
                    <a:pt x="48060" y="20289"/>
                  </a:lnTo>
                  <a:lnTo>
                    <a:pt x="48492" y="24917"/>
                  </a:lnTo>
                  <a:lnTo>
                    <a:pt x="48060" y="29544"/>
                  </a:lnTo>
                  <a:lnTo>
                    <a:pt x="46779" y="34011"/>
                  </a:lnTo>
                  <a:lnTo>
                    <a:pt x="44693" y="38165"/>
                  </a:lnTo>
                  <a:lnTo>
                    <a:pt x="41875" y="41860"/>
                  </a:lnTo>
                  <a:lnTo>
                    <a:pt x="38421" y="44970"/>
                  </a:lnTo>
                  <a:lnTo>
                    <a:pt x="34451" y="47386"/>
                  </a:lnTo>
                  <a:lnTo>
                    <a:pt x="30103" y="49027"/>
                  </a:lnTo>
                  <a:lnTo>
                    <a:pt x="25526" y="49834"/>
                  </a:lnTo>
                  <a:lnTo>
                    <a:pt x="20879" y="49780"/>
                  </a:lnTo>
                  <a:lnTo>
                    <a:pt x="16322" y="48866"/>
                  </a:lnTo>
                  <a:lnTo>
                    <a:pt x="12013" y="47125"/>
                  </a:lnTo>
                  <a:lnTo>
                    <a:pt x="8100" y="44617"/>
                  </a:lnTo>
                  <a:lnTo>
                    <a:pt x="4720" y="41428"/>
                  </a:lnTo>
                  <a:lnTo>
                    <a:pt x="1988" y="37668"/>
                  </a:lnTo>
                  <a:lnTo>
                    <a:pt x="0" y="33467"/>
                  </a:lnTo>
                </a:path>
              </a:pathLst>
            </a:custGeom>
            <a:noFill/>
            <a:ln w="3600" cap="rnd">
              <a:solidFill>
                <a:srgbClr val="00C2D1"/>
              </a:solidFill>
              <a:round/>
            </a:ln>
          </p:spPr>
          <p:txBody>
            <a:bodyPr/>
            <a:lstStyle/>
            <a:p/>
          </p:txBody>
        </p:sp>
        <p:sp>
          <p:nvSpPr>
            <p:cNvPr id="1242" name="r"/>
            <p:cNvSpPr/>
            <p:nvPr/>
          </p:nvSpPr>
          <p:spPr>
            <a:xfrm>
              <a:off x="44000" y="80000"/>
              <a:ext cx="12000" cy="9000"/>
            </a:xfrm>
            <a:prstGeom prst="roundRect">
              <a:avLst/>
            </a:prstGeom>
            <a:solidFill>
              <a:srgbClr val="3B82F6"/>
            </a:solidFill>
            <a:ln>
              <a:noFill/>
            </a:ln>
          </p:spPr>
          <p:txBody>
            <a:bodyPr/>
            <a:lstStyle/>
            <a:p/>
          </p:txBody>
        </p:sp>
        <p:sp>
          <p:nvSpPr>
            <p:cNvPr id="1243" name="f"/>
            <p:cNvSpPr/>
            <p:nvPr/>
          </p:nvSpPr>
          <p:spPr>
            <a:xfrm>
              <a:off x="0" y="0"/>
              <a:ext cx="9000" cy="4500"/>
            </a:xfrm>
            <a:custGeom>
              <a:avLst/>
              <a:gdLst/>
              <a:ahLst/>
              <a:cxnLst/>
              <a:rect l="0" t="0" r="9000" b="4500"/>
              <a:pathLst>
                <a:path w="9000" h="4500">
                  <a:moveTo>
                    <a:pt x="0" y="4500"/>
                  </a:moveTo>
                  <a:lnTo>
                    <a:pt x="28" y="3996"/>
                  </a:lnTo>
                  <a:lnTo>
                    <a:pt x="112" y="3498"/>
                  </a:lnTo>
                  <a:lnTo>
                    <a:pt x="252" y="3013"/>
                  </a:lnTo>
                  <a:lnTo>
                    <a:pt x="445" y="2547"/>
                  </a:lnTo>
                  <a:lnTo>
                    <a:pt x="689" y="2105"/>
                  </a:lnTo>
                  <a:lnTo>
                    <a:pt x="981" y="1694"/>
                  </a:lnTo>
                  <a:lnTo>
                    <a:pt x="1318" y="1318"/>
                  </a:lnTo>
                  <a:lnTo>
                    <a:pt x="1694" y="981"/>
                  </a:lnTo>
                  <a:lnTo>
                    <a:pt x="2105" y="689"/>
                  </a:lnTo>
                  <a:lnTo>
                    <a:pt x="2547" y="445"/>
                  </a:lnTo>
                  <a:lnTo>
                    <a:pt x="3013" y="252"/>
                  </a:lnTo>
                  <a:lnTo>
                    <a:pt x="3498" y="112"/>
                  </a:lnTo>
                  <a:lnTo>
                    <a:pt x="3996" y="28"/>
                  </a:lnTo>
                  <a:lnTo>
                    <a:pt x="4500" y="0"/>
                  </a:lnTo>
                  <a:lnTo>
                    <a:pt x="5003" y="28"/>
                  </a:lnTo>
                  <a:lnTo>
                    <a:pt x="5501" y="112"/>
                  </a:lnTo>
                  <a:lnTo>
                    <a:pt x="5986" y="252"/>
                  </a:lnTo>
                  <a:lnTo>
                    <a:pt x="6452" y="445"/>
                  </a:lnTo>
                  <a:lnTo>
                    <a:pt x="6894" y="689"/>
                  </a:lnTo>
                  <a:lnTo>
                    <a:pt x="7305" y="981"/>
                  </a:lnTo>
                  <a:lnTo>
                    <a:pt x="7681" y="1318"/>
                  </a:lnTo>
                  <a:lnTo>
                    <a:pt x="8018" y="1694"/>
                  </a:lnTo>
                  <a:lnTo>
                    <a:pt x="8310" y="2105"/>
                  </a:lnTo>
                  <a:lnTo>
                    <a:pt x="8554" y="2547"/>
                  </a:lnTo>
                  <a:lnTo>
                    <a:pt x="8747" y="3013"/>
                  </a:lnTo>
                  <a:lnTo>
                    <a:pt x="8887" y="3498"/>
                  </a:lnTo>
                  <a:lnTo>
                    <a:pt x="8971" y="3996"/>
                  </a:lnTo>
                  <a:lnTo>
                    <a:pt x="9000" y="4500"/>
                  </a:lnTo>
                </a:path>
              </a:pathLst>
            </a:custGeom>
            <a:noFill/>
            <a:ln w="4000" cap="rnd">
              <a:solidFill>
                <a:srgbClr val="FFFFFF"/>
              </a:solidFill>
              <a:round/>
            </a:ln>
          </p:spPr>
          <p:txBody>
            <a:bodyPr/>
            <a:lstStyle/>
            <a:p/>
          </p:txBody>
        </p:sp>
      </p:grpSp>
      <p:sp>
        <p:nvSpPr>
          <p:cNvPr id="12" name="panel"/>
          <p:cNvSpPr/>
          <p:nvPr/>
        </p:nvSpPr>
        <p:spPr>
          <a:xfrm>
            <a:off x="1463040" y="3840480"/>
            <a:ext cx="9262872" cy="2286000"/>
          </a:xfrm>
          <a:prstGeom prst="roundRect">
            <a:avLst/>
          </a:prstGeom>
          <a:solidFill>
            <a:srgbClr val="0B1E33"/>
          </a:solidFill>
          <a:ln w="15875">
            <a:solidFill>
              <a:srgbClr val="00C2D1"/>
            </a:solidFill>
          </a:ln>
        </p:spPr>
        <p:txBody>
          <a:bodyPr/>
          <a:lstStyle/>
          <a:p/>
        </p:txBody>
      </p:sp>
      <p:sp>
        <p:nvSpPr>
          <p:cNvPr id="13" name="ctext"/>
          <p:cNvSpPr txBox="1"/>
          <p:nvPr/>
        </p:nvSpPr>
        <p:spPr>
          <a:xfrm>
            <a:off x="1737360" y="3977639"/>
            <a:ext cx="8686800" cy="2011680"/>
          </a:xfrm>
          <a:prstGeom prst="rect">
            <a:avLst/>
          </a:prstGeom>
          <a:noFill/>
        </p:spPr>
        <p:txBody>
          <a:bodyPr wrap="square" anchor="ctr" lIns="91440" rIns="91440">
            <a:normAutofit/>
          </a:bodyPr>
          <a:lstStyle/>
          <a:p>
            <a:pPr algn="ctr"/>
            <a:r>
              <a:rPr lang="uz-UZ" sz="4000" b="1" dirty="0">
                <a:solidFill>
                  <a:srgbClr val="00C2D1"/>
                </a:solidFill>
                <a:latin typeface="Times New Roman"/>
                <a:cs typeface="Times New Roman"/>
                <a:ea typeface="Times New Roman"/>
              </a:rPr>
              <a:t>E'tiboringiz uchun rahmat!</a:t>
            </a:r>
          </a:p>
          <a:p>
            <a:pPr algn="ctr">
              <a:spcBef>
                <a:spcPts val="900"/>
              </a:spcBef>
            </a:pPr>
            <a:r>
              <a:rPr lang="uz-UZ" sz="1400" dirty="0">
                <a:solidFill>
                  <a:srgbClr val="E2E8F0"/>
                </a:solidFill>
                <a:latin typeface="Times New Roman"/>
                <a:cs typeface="Times New Roman"/>
                <a:ea typeface="Times New Roman"/>
              </a:rPr>
              <a:t>Mavzu: Barmoq izi skanerlari (Optika va Ultratovush)</a:t>
            </a:r>
          </a:p>
          <a:p>
            <a:pPr algn="ctr">
              <a:spcBef>
                <a:spcPts val="900"/>
              </a:spcBef>
            </a:pPr>
            <a:r>
              <a:rPr lang="uz-UZ" sz="1400" dirty="0">
                <a:solidFill>
                  <a:srgbClr val="E2E8F0"/>
                </a:solidFill>
                <a:latin typeface="Times New Roman"/>
                <a:cs typeface="Times New Roman"/>
                <a:ea typeface="Times New Roman"/>
              </a:rPr>
              <a:t>Taqdimotchi: Toshboʻriyeva Marjona (242_26 - guruh)</a:t>
            </a:r>
          </a:p>
          <a:p>
            <a:pPr algn="ctr">
              <a:spcBef>
                <a:spcPts val="900"/>
              </a:spcBef>
            </a:pPr>
            <a:r>
              <a:rPr lang="uz-UZ" sz="1400" dirty="0">
                <a:solidFill>
                  <a:srgbClr val="E2E8F0"/>
                </a:solidFill>
                <a:latin typeface="Times New Roman"/>
                <a:cs typeface="Times New Roman"/>
                <a:ea typeface="Times New Roman"/>
              </a:rPr>
              <a:t>Jizzax davlat pedagogika universiteti - Axborot tizimlari fani.</a:t>
            </a:r>
          </a:p>
        </p:txBody>
      </p:sp>
      <p:sp>
        <p:nvSpPr>
          <p:cNvPr id="14" name="fline"/>
          <p:cNvSpPr/>
          <p:nvPr/>
        </p:nvSpPr>
        <p:spPr>
          <a:xfrm>
            <a:off x="548640" y="6419088"/>
            <a:ext cx="11091672" cy="14630"/>
          </a:xfrm>
          <a:prstGeom prst="rect">
            <a:avLst/>
          </a:prstGeom>
          <a:solidFill>
            <a:srgbClr val="243B55"/>
          </a:solidFill>
          <a:ln>
            <a:noFill/>
          </a:ln>
        </p:spPr>
        <p:txBody>
          <a:bodyPr/>
          <a:lstStyle/>
          <a:p/>
        </p:txBody>
      </p:sp>
      <p:sp>
        <p:nvSpPr>
          <p:cNvPr id="15" name="fl"/>
          <p:cNvSpPr txBox="1"/>
          <p:nvPr/>
        </p:nvSpPr>
        <p:spPr>
          <a:xfrm>
            <a:off x="548640" y="6446520"/>
            <a:ext cx="7315200" cy="365760"/>
          </a:xfrm>
          <a:prstGeom prst="rect">
            <a:avLst/>
          </a:prstGeom>
          <a:noFill/>
        </p:spPr>
        <p:txBody>
          <a:bodyPr wrap="square" anchor="t" lIns="91440" rIns="91440">
            <a:normAutofit/>
          </a:bodyPr>
          <a:lstStyle/>
          <a:p>
            <a:r>
              <a:rPr lang="uz-UZ" sz="1400" dirty="0">
                <a:solidFill>
                  <a:srgbClr val="7A93AD"/>
                </a:solidFill>
                <a:latin typeface="Times New Roman"/>
                <a:cs typeface="Times New Roman"/>
                <a:ea typeface="Times New Roman"/>
              </a:rPr>
              <a:t>Barmoq izi skanerlari — Optika va Ultratovush</a:t>
            </a:r>
          </a:p>
        </p:txBody>
      </p:sp>
      <p:sp>
        <p:nvSpPr>
          <p:cNvPr id="16" name="fr"/>
          <p:cNvSpPr txBox="1"/>
          <p:nvPr/>
        </p:nvSpPr>
        <p:spPr>
          <a:xfrm>
            <a:off x="8686800" y="6446520"/>
            <a:ext cx="2953512" cy="365760"/>
          </a:xfrm>
          <a:prstGeom prst="rect">
            <a:avLst/>
          </a:prstGeom>
          <a:noFill/>
        </p:spPr>
        <p:txBody>
          <a:bodyPr wrap="square" anchor="t" lIns="91440" rIns="91440">
            <a:normAutofit/>
          </a:bodyPr>
          <a:lstStyle/>
          <a:p>
            <a:pPr algn="r"/>
            <a:r>
              <a:rPr lang="uz-UZ" sz="1400" b="1" dirty="0">
                <a:solidFill>
                  <a:srgbClr val="00C2D1"/>
                </a:solidFill>
                <a:latin typeface="Times New Roman"/>
                <a:cs typeface="Times New Roman"/>
                <a:ea typeface="Times New Roman"/>
              </a:rPr>
              <a:t>10 / 10</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B1E33"/>
      </a:dk2>
      <a:lt2>
        <a:srgbClr val="E7E6E6"/>
      </a:lt2>
      <a:accent1>
        <a:srgbClr val="00C2D1"/>
      </a:accent1>
      <a:accent2>
        <a:srgbClr val="3B82F6"/>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majorFont>
      <a:minorFont>
        <a:latin typeface="Times New Roman"/>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python-pptx-fallback</Application>
  <Slides>10</Slides>
</Properties>
</file>

<file path=docProps/core.xml><?xml version="1.0" encoding="utf-8"?>
<cp:coreProperties xmlns:cp="http://schemas.openxmlformats.org/package/2006/metadata/core-properties" xmlns:dc="http://purl.org/dc/elements/1.1/" xmlns:dcterms="http://purl.org/dc/terms/" xmlns:xsi="http://www.w3.org/2001/XMLSchema-instance">
  <dc:title>Barmoq izi skanerlari qanday ishlaydi?</dc:title>
  <dc:creator>Toshboʻriyeva Marjona</dc:creator>
  <cp:lastModifiedBy>Toshboʻriyeva Marjona</cp:lastModifiedBy>
</cp:coreProperties>
</file>