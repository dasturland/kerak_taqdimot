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1"/>
  </p:sldMasterIdLst>
  <p:sldIdLst>
    <p:sldId id="256" r:id="rId1"/>
    <p:sldId id="257" r:id="rId2"/>
    <p:sldId id="258" r:id="rId3"/>
    <p:sldId id="259" r:id="rId4"/>
    <p:sldId id="260" r:id="rId5"/>
    <p:sldId id="261" r:id="rId6"/>
    <p:sldId id="262" r:id="rId7"/>
    <p:sldId id="263" r:id="rId8"/>
    <p:sldId id="264" r:id="rId9"/>
    <p:sldId id="265" r:id="rId10"/>
  </p:sldIdLst>
  <p:sldSz cx="12191695" cy="6858000" type="screen16x9"/>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Master" Target="slideMasters/slideMaster1.xml"/><Relationship Id="rId1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1E33"/>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4000">
          <a:latin typeface="Times New Roman"/>
        </a:defRPr>
      </a:lvl1pPr>
    </p:titleStyle>
    <p:bodyStyle>
      <a:lvl1pPr>
        <a:defRPr sz="1600">
          <a:latin typeface="Times New Roman"/>
        </a:defRPr>
      </a:lvl1pPr>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pic>
        <p:nvPicPr>
          <p:cNvPr id="12" name="img"/>
          <p:cNvPicPr>
            <a:picLocks noChangeAspect="0"/>
          </p:cNvPicPr>
          <p:nvPr/>
        </p:nvPicPr>
        <p:blipFill>
          <a:blip r:embed="rId2"/>
          <a:stretch>
            <a:fillRect/>
          </a:stretch>
        </p:blipFill>
        <p:spPr>
          <a:xfrm>
            <a:off x="6766560" y="0"/>
            <a:ext cx="5425135" cy="6858000"/>
          </a:xfrm>
          <a:prstGeom prst="rect">
            <a:avLst/>
          </a:prstGeom>
        </p:spPr>
      </p:pic>
      <p:sp>
        <p:nvSpPr>
          <p:cNvPr id="13" name="accent"/>
          <p:cNvSpPr/>
          <p:nvPr/>
        </p:nvSpPr>
        <p:spPr>
          <a:xfrm>
            <a:off x="548640" y="1097280"/>
            <a:ext cx="109728" cy="2194560"/>
          </a:xfrm>
          <a:prstGeom prst="rect">
            <a:avLst/>
          </a:prstGeom>
          <a:solidFill>
            <a:srgbClr val="00C2D1"/>
          </a:solidFill>
          <a:ln>
            <a:noFill/>
          </a:ln>
        </p:spPr>
        <p:txBody>
          <a:bodyPr/>
          <a:lstStyle/>
          <a:p/>
        </p:txBody>
      </p:sp>
      <p:sp>
        <p:nvSpPr>
          <p:cNvPr id="14" name="title"/>
          <p:cNvSpPr txBox="1"/>
          <p:nvPr/>
        </p:nvSpPr>
        <p:spPr>
          <a:xfrm>
            <a:off x="822960" y="1005840"/>
            <a:ext cx="5577840" cy="2560320"/>
          </a:xfrm>
          <a:prstGeom prst="rect">
            <a:avLst/>
          </a:prstGeom>
          <a:noFill/>
        </p:spPr>
        <p:txBody>
          <a:bodyPr wrap="square" anchor="t">
            <a:normAutofit/>
          </a:bodyPr>
          <a:lstStyle/>
          <a:p>
            <a:r>
              <a:rPr lang="uz-UZ" sz="4000" b="1" dirty="0">
                <a:solidFill>
                  <a:srgbClr val="FFFFFF"/>
                </a:solidFill>
                <a:latin typeface="Times New Roman"/>
                <a:cs typeface="Times New Roman"/>
                <a:ea typeface="Times New Roman"/>
              </a:rPr>
              <a:t>Barmoq izi skanerlari qanday ishlaydi?</a:t>
            </a:r>
          </a:p>
          <a:p>
            <a:pPr>
              <a:spcBef>
                <a:spcPts val="1400"/>
              </a:spcBef>
            </a:pPr>
            <a:r>
              <a:rPr lang="uz-UZ" sz="2400" i="1" dirty="0">
                <a:solidFill>
                  <a:srgbClr val="00C2D1"/>
                </a:solidFill>
                <a:latin typeface="Times New Roman"/>
                <a:cs typeface="Times New Roman"/>
                <a:ea typeface="Times New Roman"/>
              </a:rPr>
              <a:t>Optik va ultratovush to'lqinlari yordamida biometrik axborotni tanib olish fizikasi.</a:t>
            </a:r>
          </a:p>
        </p:txBody>
      </p:sp>
      <p:sp>
        <p:nvSpPr>
          <p:cNvPr id="15" name="meta"/>
          <p:cNvSpPr txBox="1"/>
          <p:nvPr/>
        </p:nvSpPr>
        <p:spPr>
          <a:xfrm>
            <a:off x="822960" y="3931920"/>
            <a:ext cx="5577840" cy="2560320"/>
          </a:xfrm>
          <a:prstGeom prst="rect">
            <a:avLst/>
          </a:prstGeom>
          <a:noFill/>
        </p:spPr>
        <p:txBody>
          <a:bodyPr wrap="square" anchor="t">
            <a:normAutofit/>
          </a:bodyPr>
          <a:lstStyle/>
          <a:p>
            <a:pPr>
              <a:spcAft>
                <a:spcPts val="600"/>
              </a:spcAft>
            </a:pPr>
            <a:r>
              <a:rPr lang="uz-UZ" sz="1400" dirty="0">
                <a:solidFill>
                  <a:srgbClr val="E2E8F0"/>
                </a:solidFill>
                <a:latin typeface="Times New Roman"/>
                <a:cs typeface="Times New Roman"/>
                <a:ea typeface="Times New Roman"/>
              </a:rPr>
              <a:t>Universitet: Jizzax davlat pedagogika universiteti tabiiy fanlar oliy maktabi</a:t>
            </a:r>
          </a:p>
          <a:p>
            <a:pPr>
              <a:spcAft>
                <a:spcPts val="600"/>
              </a:spcAft>
            </a:pPr>
            <a:r>
              <a:rPr lang="uz-UZ" sz="1400" dirty="0">
                <a:solidFill>
                  <a:srgbClr val="E2E8F0"/>
                </a:solidFill>
                <a:latin typeface="Times New Roman"/>
                <a:cs typeface="Times New Roman"/>
                <a:ea typeface="Times New Roman"/>
              </a:rPr>
              <a:t>Fan: Axborot tizimlari</a:t>
            </a:r>
          </a:p>
          <a:p>
            <a:pPr>
              <a:spcAft>
                <a:spcPts val="600"/>
              </a:spcAft>
            </a:pPr>
            <a:r>
              <a:rPr lang="uz-UZ" sz="1400" dirty="0">
                <a:solidFill>
                  <a:srgbClr val="E2E8F0"/>
                </a:solidFill>
                <a:latin typeface="Times New Roman"/>
                <a:cs typeface="Times New Roman"/>
                <a:ea typeface="Times New Roman"/>
              </a:rPr>
              <a:t>Guruh: 242_26</a:t>
            </a:r>
          </a:p>
          <a:p>
            <a:pPr>
              <a:spcAft>
                <a:spcPts val="600"/>
              </a:spcAft>
            </a:pPr>
            <a:r>
              <a:rPr lang="uz-UZ" sz="1400" dirty="0">
                <a:solidFill>
                  <a:srgbClr val="E2E8F0"/>
                </a:solidFill>
                <a:latin typeface="Times New Roman"/>
                <a:cs typeface="Times New Roman"/>
                <a:ea typeface="Times New Roman"/>
              </a:rPr>
              <a:t>Talaba: Toshboʻriyeva Marjona</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Taqdimot rejasi</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1-reja. Barmoq izi biologiyasi va uni raqamlashtirish (Minutiae nuqtalari).</a:t>
            </a:r>
          </a:p>
          <a:p>
            <a:pPr>
              <a:spcAft>
                <a:spcPts val="1000"/>
              </a:spcAft>
            </a:pPr>
            <a:r>
              <a:rPr lang="uz-UZ" sz="1800" b="1" dirty="0">
                <a:solidFill>
                  <a:srgbClr val="00C2D1"/>
                </a:solidFill>
                <a:latin typeface="Times New Roman"/>
                <a:cs typeface="Times New Roman"/>
                <a:ea typeface="Times New Roman"/>
              </a:rPr>
              <a:t>2-reja. Optik skanerlar fizikasi: Yorug'lik nurlari va 2D tasvir.</a:t>
            </a:r>
          </a:p>
          <a:p>
            <a:pPr>
              <a:spcAft>
                <a:spcPts val="1000"/>
              </a:spcAft>
            </a:pPr>
            <a:r>
              <a:rPr lang="uz-UZ" sz="1800" b="1" dirty="0">
                <a:solidFill>
                  <a:srgbClr val="00C2D1"/>
                </a:solidFill>
                <a:latin typeface="Times New Roman"/>
                <a:cs typeface="Times New Roman"/>
                <a:ea typeface="Times New Roman"/>
              </a:rPr>
              <a:t>3-reja. Ultratovushli (Ultrasonic) skanerlar: Ovoz to'lqinlari orqali 3D xarita.</a:t>
            </a:r>
          </a:p>
          <a:p>
            <a:pPr>
              <a:spcAft>
                <a:spcPts val="1000"/>
              </a:spcAft>
            </a:pPr>
            <a:r>
              <a:rPr lang="uz-UZ" sz="1800" b="1" dirty="0">
                <a:solidFill>
                  <a:srgbClr val="00C2D1"/>
                </a:solidFill>
                <a:latin typeface="Times New Roman"/>
                <a:cs typeface="Times New Roman"/>
                <a:ea typeface="Times New Roman"/>
              </a:rPr>
              <a:t>Xulosa. Biometrik xavfsizlikning zamonaviy axborot tizimlaridagi ahamiyati.</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1. Biologiya va axborotning birlashuvi</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Barmoq izimiz — bu inson tanasidagi tabiiy axborot tashuvchi noyob "kod" hisoblanadi.</a:t>
            </a:r>
          </a:p>
          <a:p>
            <a:pPr>
              <a:spcAft>
                <a:spcPts val="1000"/>
              </a:spcAft>
            </a:pPr>
            <a:r>
              <a:rPr lang="uz-UZ" sz="1600" dirty="0">
                <a:solidFill>
                  <a:srgbClr val="E2E8F0"/>
                </a:solidFill>
                <a:latin typeface="Times New Roman"/>
                <a:cs typeface="Times New Roman"/>
                <a:ea typeface="Times New Roman"/>
              </a:rPr>
              <a:t>- Tepaliklar va chuqurliklar (Ridges and Valleys): Barmog'imiz terisi tekis emas. U qabariq chiziqlar (tepaliklar) va ular orasidagi bo'shliqlardan (chuqurliklar) iborat.</a:t>
            </a:r>
          </a:p>
          <a:p>
            <a:pPr>
              <a:spcAft>
                <a:spcPts val="1000"/>
              </a:spcAft>
            </a:pPr>
            <a:r>
              <a:rPr lang="uz-UZ" sz="1600" dirty="0">
                <a:solidFill>
                  <a:srgbClr val="E2E8F0"/>
                </a:solidFill>
                <a:latin typeface="Times New Roman"/>
                <a:cs typeface="Times New Roman"/>
                <a:ea typeface="Times New Roman"/>
              </a:rPr>
              <a:t>- Minutiae nuqtalari: Skaner barmoqning umumiy rasmini emas, balki chiziqlar uzilgan, birlashgan yoki tugagan maxsus kesishuv nuqtalarini (Minutiae) izlaydi va ularni matematik algoritmga o'giradi.</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Biometrik axborotni raqamlashtirish</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Siz barmog'ingizni ekranga qo'yganingizda, axborot tizimi uni to'g'ridan-to'g'ri rasm sifatida saqlamaydi.</a:t>
            </a:r>
          </a:p>
          <a:p>
            <a:pPr>
              <a:spcAft>
                <a:spcPts val="1000"/>
              </a:spcAft>
            </a:pPr>
            <a:r>
              <a:rPr lang="uz-UZ" sz="1600" dirty="0">
                <a:solidFill>
                  <a:srgbClr val="E2E8F0"/>
                </a:solidFill>
                <a:latin typeface="Times New Roman"/>
                <a:cs typeface="Times New Roman"/>
                <a:ea typeface="Times New Roman"/>
              </a:rPr>
              <a:t>- Shifrlash (Hashing): Topilgan kesishuv nuqtalari orasidagi masofa va burchaklar hisoblab chiqiladi. Bu geometrik ma'lumotlar murakkab shifr (Xesh kod - masalan, "A7F90B...") ko'rinishiga keltiriladi.</a:t>
            </a:r>
          </a:p>
          <a:p>
            <a:pPr>
              <a:spcAft>
                <a:spcPts val="1000"/>
              </a:spcAft>
            </a:pPr>
            <a:r>
              <a:rPr lang="uz-UZ" sz="1600" dirty="0">
                <a:solidFill>
                  <a:srgbClr val="E2E8F0"/>
                </a:solidFill>
                <a:latin typeface="Times New Roman"/>
                <a:cs typeface="Times New Roman"/>
                <a:ea typeface="Times New Roman"/>
              </a:rPr>
              <a:t>- Tekshirish: Telefonni ochishda joriy barmoq izidan olingan shifr, xotiradagi (Secure Enclave'dagi) shifr bilan solishtiriladi. Ikkisi mos kelsa, telefon ochiladi.</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2. Optik skanerlar: Yorug'lik fizikasi</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Optik skanerlar qadimiyroq, ammo juda keng tarqalgan texnologiya bo'lib, ular asosan yorug'lik fizikasi yordamida ishlaydi.</a:t>
            </a:r>
          </a:p>
          <a:p>
            <a:pPr>
              <a:spcAft>
                <a:spcPts val="1000"/>
              </a:spcAft>
            </a:pPr>
            <a:r>
              <a:rPr lang="uz-UZ" sz="1600" dirty="0">
                <a:solidFill>
                  <a:srgbClr val="E2E8F0"/>
                </a:solidFill>
                <a:latin typeface="Times New Roman"/>
                <a:cs typeface="Times New Roman"/>
                <a:ea typeface="Times New Roman"/>
              </a:rPr>
              <a:t>- Chaqnash (Illumination): Barmog'ingizni ekranga yoki tugmaga qo'yganingizda, ostki qismdan kuchli yorug'lik (LED) sochiladi. Bu yorug'lik barmoq izini to'liq yoritib beradi.</a:t>
            </a:r>
          </a:p>
          <a:p>
            <a:pPr>
              <a:spcAft>
                <a:spcPts val="1000"/>
              </a:spcAft>
            </a:pPr>
            <a:r>
              <a:rPr lang="uz-UZ" sz="1600" dirty="0">
                <a:solidFill>
                  <a:srgbClr val="E2E8F0"/>
                </a:solidFill>
                <a:latin typeface="Times New Roman"/>
                <a:cs typeface="Times New Roman"/>
                <a:ea typeface="Times New Roman"/>
              </a:rPr>
              <a:t>- To'liq ichki qaytish: Barmoq terisi yorug'likni qaytaradi, bo'shliqlar (chuqurliklar) esa qorong'i bo'lib qoladi.</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Optik tasvirni muhrlash (CMOS)</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Yorug'lik barmoqdan qaytgach, xuddi kameradagi kabi maxsus sensorga (CMOS yoki CCD) borib uriladi.</a:t>
            </a:r>
          </a:p>
          <a:p>
            <a:pPr>
              <a:spcAft>
                <a:spcPts val="1000"/>
              </a:spcAft>
            </a:pPr>
            <a:r>
              <a:rPr lang="uz-UZ" sz="1600" dirty="0">
                <a:solidFill>
                  <a:srgbClr val="E2E8F0"/>
                </a:solidFill>
                <a:latin typeface="Times New Roman"/>
                <a:cs typeface="Times New Roman"/>
                <a:ea typeface="Times New Roman"/>
              </a:rPr>
              <a:t>- 2D Tasvir: Sensor qaytgan yorug'lik asosida barmoq izining oq-qora 2 o'lchamli (2D) rasm xaritasini chizadi.</a:t>
            </a:r>
          </a:p>
          <a:p>
            <a:pPr>
              <a:spcAft>
                <a:spcPts val="1000"/>
              </a:spcAft>
            </a:pPr>
            <a:r>
              <a:rPr lang="uz-UZ" sz="1600" dirty="0">
                <a:solidFill>
                  <a:srgbClr val="E2E8F0"/>
                </a:solidFill>
                <a:latin typeface="Times New Roman"/>
                <a:cs typeface="Times New Roman"/>
                <a:ea typeface="Times New Roman"/>
              </a:rPr>
              <a:t>- Kamchiligi: Optik skanerlar shunchaki rasm olgani uchun, ularni ba'zan yuqori sifatli fotonusxalar yoki yasalgan sun'iy barmoqlar yordamida aldash mumkin bo'ladi. Uning xavfsizlik darajasi o'rtacha.</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3. Ultratovush (Ultrasonic) skanerlar</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Zamonaviy flagman smartfonlarda (masalan, Samsung Galaxy S seriyasi) ishlatiladigan bu texnologiya yorug'likdan emas, balki tovush to'lqinlaridan foydalanadi.</a:t>
            </a:r>
          </a:p>
          <a:p>
            <a:pPr>
              <a:spcAft>
                <a:spcPts val="1000"/>
              </a:spcAft>
            </a:pPr>
            <a:r>
              <a:rPr lang="uz-UZ" sz="1600" dirty="0">
                <a:solidFill>
                  <a:srgbClr val="E2E8F0"/>
                </a:solidFill>
                <a:latin typeface="Times New Roman"/>
                <a:cs typeface="Times New Roman"/>
                <a:ea typeface="Times New Roman"/>
              </a:rPr>
              <a:t>- Pyezoelektrik effekt: Skaner ostidagi datchik inson qulog'i eshitmaydigan yuqori chastotali (ultratovush) impuls tarqatadi.</a:t>
            </a:r>
          </a:p>
          <a:p>
            <a:pPr>
              <a:spcAft>
                <a:spcPts val="1000"/>
              </a:spcAft>
            </a:pPr>
            <a:r>
              <a:rPr lang="uz-UZ" sz="1600" dirty="0">
                <a:solidFill>
                  <a:srgbClr val="E2E8F0"/>
                </a:solidFill>
                <a:latin typeface="Times New Roman"/>
                <a:cs typeface="Times New Roman"/>
                <a:ea typeface="Times New Roman"/>
              </a:rPr>
              <a:t>- Bu to'lqinlar displey orqali o'tib, to'g'ridan-to'g'ri barmog'ingizga borib uriladi va aks-sado (Echo) bo'lib orqaga qaytadi.</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Ovoz to'lqinlari orqali 3D xarita (Ekolokatsiya)</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Ultratovush to'lqinlarining qaytish vaqti fizikaning ajoyib qonuniyatiga bo'ysunadi.</a:t>
            </a:r>
          </a:p>
          <a:p>
            <a:pPr>
              <a:spcAft>
                <a:spcPts val="1000"/>
              </a:spcAft>
            </a:pPr>
            <a:r>
              <a:rPr lang="uz-UZ" sz="1600" dirty="0">
                <a:solidFill>
                  <a:srgbClr val="E2E8F0"/>
                </a:solidFill>
                <a:latin typeface="Times New Roman"/>
                <a:cs typeface="Times New Roman"/>
                <a:ea typeface="Times New Roman"/>
              </a:rPr>
              <a:t>- Qaytish farqi: To'lqin barmoqning bo'rtib chiqqan qismiga urilsa tezroq qaytadi, chuqurlik (havo bo'shlig'i) qismiga urilsa kechroq qaytadi.</a:t>
            </a:r>
          </a:p>
          <a:p>
            <a:pPr>
              <a:spcAft>
                <a:spcPts val="1000"/>
              </a:spcAft>
            </a:pPr>
            <a:r>
              <a:rPr lang="uz-UZ" sz="1600" dirty="0">
                <a:solidFill>
                  <a:srgbClr val="E2E8F0"/>
                </a:solidFill>
                <a:latin typeface="Times New Roman"/>
                <a:cs typeface="Times New Roman"/>
                <a:ea typeface="Times New Roman"/>
              </a:rPr>
              <a:t>- 3D Model: Sensor ushbu vaqt farqlarini (millisoniyalarni) o'lchab, barmoq izining o'ta aniq 3D relyef xaritasini tuzadi. Bu usul qorong'ida ham, barmoq nam yoki kirlangan bo'lsa ham mukammal ishlaydi va uni rasmlar bilan aldab bo'lmaydi.</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sp>
        <p:nvSpPr>
          <p:cNvPr id="12" name="topbar"/>
          <p:cNvSpPr/>
          <p:nvPr/>
        </p:nvSpPr>
        <p:spPr>
          <a:xfrm>
            <a:off x="0" y="1051560"/>
            <a:ext cx="12191695" cy="45720"/>
          </a:xfrm>
          <a:prstGeom prst="rect">
            <a:avLst/>
          </a:prstGeom>
          <a:solidFill>
            <a:srgbClr val="00C2D1"/>
          </a:solidFill>
          <a:ln>
            <a:noFill/>
          </a:ln>
        </p:spPr>
        <p:txBody>
          <a:bodyPr/>
          <a:lstStyle/>
          <a:p/>
        </p:txBody>
      </p:sp>
      <p:sp>
        <p:nvSpPr>
          <p:cNvPr id="13" name="tbar"/>
          <p:cNvSpPr/>
          <p:nvPr/>
        </p:nvSpPr>
        <p:spPr>
          <a:xfrm>
            <a:off x="548640" y="320040"/>
            <a:ext cx="109728" cy="548640"/>
          </a:xfrm>
          <a:prstGeom prst="rect">
            <a:avLst/>
          </a:prstGeom>
          <a:solidFill>
            <a:srgbClr val="00C2D1"/>
          </a:solidFill>
          <a:ln>
            <a:noFill/>
          </a:ln>
        </p:spPr>
        <p:txBody>
          <a:bodyPr/>
          <a:lstStyle/>
          <a:p/>
        </p:txBody>
      </p:sp>
      <p:sp>
        <p:nvSpPr>
          <p:cNvPr id="14" name="title"/>
          <p:cNvSpPr txBox="1"/>
          <p:nvPr/>
        </p:nvSpPr>
        <p:spPr>
          <a:xfrm>
            <a:off x="822960" y="274320"/>
            <a:ext cx="10789920" cy="822960"/>
          </a:xfrm>
          <a:prstGeom prst="rect">
            <a:avLst/>
          </a:prstGeom>
          <a:noFill/>
        </p:spPr>
        <p:txBody>
          <a:bodyPr wrap="square" anchor="ctr">
            <a:normAutofit/>
          </a:bodyPr>
          <a:lstStyle/>
          <a:p>
            <a:r>
              <a:rPr lang="uz-UZ" sz="3200" b="1" dirty="0">
                <a:solidFill>
                  <a:srgbClr val="FFFFFF"/>
                </a:solidFill>
                <a:latin typeface="Times New Roman"/>
                <a:cs typeface="Times New Roman"/>
                <a:ea typeface="Times New Roman"/>
              </a:rPr>
              <a:t>Xulosa</a:t>
            </a:r>
          </a:p>
        </p:txBody>
      </p:sp>
      <p:pic>
        <p:nvPicPr>
          <p:cNvPr id="15" name="img"/>
          <p:cNvPicPr>
            <a:picLocks noChangeAspect="0"/>
          </p:cNvPicPr>
          <p:nvPr/>
        </p:nvPicPr>
        <p:blipFill>
          <a:blip r:embed="rId2"/>
          <a:stretch>
            <a:fillRect/>
          </a:stretch>
        </p:blipFill>
        <p:spPr>
          <a:xfrm>
            <a:off x="7772400" y="1463040"/>
            <a:ext cx="3931920" cy="4937760"/>
          </a:xfrm>
          <a:prstGeom prst="rect">
            <a:avLst/>
          </a:prstGeom>
        </p:spPr>
      </p:pic>
      <p:sp>
        <p:nvSpPr>
          <p:cNvPr id="16" name="panel"/>
          <p:cNvSpPr/>
          <p:nvPr/>
        </p:nvSpPr>
        <p:spPr>
          <a:xfrm>
            <a:off x="457200" y="1463040"/>
            <a:ext cx="7040880" cy="4937760"/>
          </a:xfrm>
          <a:prstGeom prst="rect">
            <a:avLst/>
          </a:prstGeom>
          <a:solidFill>
            <a:srgbClr val="122A45"/>
          </a:solidFill>
          <a:ln>
            <a:noFill/>
          </a:ln>
        </p:spPr>
        <p:txBody>
          <a:bodyPr/>
          <a:lstStyle/>
          <a:p/>
        </p:txBody>
      </p:sp>
      <p:sp>
        <p:nvSpPr>
          <p:cNvPr id="17" name="body"/>
          <p:cNvSpPr txBox="1"/>
          <p:nvPr/>
        </p:nvSpPr>
        <p:spPr>
          <a:xfrm>
            <a:off x="731520" y="1691640"/>
            <a:ext cx="6492240" cy="4480560"/>
          </a:xfrm>
          <a:prstGeom prst="rect">
            <a:avLst/>
          </a:prstGeom>
          <a:noFill/>
        </p:spPr>
        <p:txBody>
          <a:bodyPr wrap="square" anchor="t">
            <a:normAutofit/>
          </a:bodyPr>
          <a:lstStyle/>
          <a:p>
            <a:pPr>
              <a:spcAft>
                <a:spcPts val="1000"/>
              </a:spcAft>
            </a:pPr>
            <a:r>
              <a:rPr lang="uz-UZ" sz="1800" b="1" dirty="0">
                <a:solidFill>
                  <a:srgbClr val="00C2D1"/>
                </a:solidFill>
                <a:latin typeface="Times New Roman"/>
                <a:cs typeface="Times New Roman"/>
                <a:ea typeface="Times New Roman"/>
              </a:rPr>
              <a:t>Xulosa qilib aytganda, barmoq izi skanerlari inson biologiyasi va fizika qonunlarining IT bilan mukammal uyg'unligidir.</a:t>
            </a:r>
          </a:p>
          <a:p>
            <a:pPr>
              <a:spcAft>
                <a:spcPts val="1000"/>
              </a:spcAft>
            </a:pPr>
            <a:r>
              <a:rPr lang="uz-UZ" sz="1800" b="1" dirty="0">
                <a:solidFill>
                  <a:srgbClr val="00C2D1"/>
                </a:solidFill>
                <a:latin typeface="Times New Roman"/>
                <a:cs typeface="Times New Roman"/>
                <a:ea typeface="Times New Roman"/>
              </a:rPr>
              <a:t>Optik skanerlar yorug'lik nurlari (fotonlar) yordamida vizual xarita tuzsa, ultratovush skanerlar ovoz to'lqinlarining aks-sadosi yordamida o'ta aniq 3D model yaratadi. Bu texnologiyalar shaxsiy ma'lumotlarimiz va axborot tizimlarining xavfsizligini ta'minlashda eng ishonchli biometrik qulf bo'lib xizmat qilmoqda.</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p:nvPr/>
        </p:nvSpPr>
        <p:spPr>
          <a:xfrm>
            <a:off x="0" y="0"/>
            <a:ext cx="12191695" cy="6858000"/>
          </a:xfrm>
          <a:prstGeom prst="rect">
            <a:avLst/>
          </a:prstGeom>
          <a:solidFill>
            <a:srgbClr val="0B1E33"/>
          </a:solidFill>
          <a:ln>
            <a:noFill/>
          </a:ln>
        </p:spPr>
        <p:txBody>
          <a:bodyPr/>
          <a:lstStyle/>
          <a:p/>
        </p:txBody>
      </p:sp>
      <p:pic>
        <p:nvPicPr>
          <p:cNvPr id="12" name="img"/>
          <p:cNvPicPr>
            <a:picLocks noChangeAspect="0"/>
          </p:cNvPicPr>
          <p:nvPr/>
        </p:nvPicPr>
        <p:blipFill>
          <a:blip r:embed="rId2"/>
          <a:stretch>
            <a:fillRect/>
          </a:stretch>
        </p:blipFill>
        <p:spPr>
          <a:xfrm>
            <a:off x="0" y="0"/>
            <a:ext cx="12191695" cy="6858000"/>
          </a:xfrm>
          <a:prstGeom prst="rect">
            <a:avLst/>
          </a:prstGeom>
        </p:spPr>
      </p:pic>
      <p:sp>
        <p:nvSpPr>
          <p:cNvPr id="13" name="panel"/>
          <p:cNvSpPr/>
          <p:nvPr/>
        </p:nvSpPr>
        <p:spPr>
          <a:xfrm>
            <a:off x="1371600" y="2103120"/>
            <a:ext cx="9445752" cy="2743200"/>
          </a:xfrm>
          <a:prstGeom prst="rect">
            <a:avLst/>
          </a:prstGeom>
          <a:solidFill>
            <a:srgbClr val="0B1E33"/>
          </a:solidFill>
          <a:ln w="12700">
            <a:solidFill>
              <a:srgbClr val="00C2D1"/>
            </a:solidFill>
          </a:ln>
        </p:spPr>
        <p:txBody>
          <a:bodyPr/>
          <a:lstStyle/>
          <a:p/>
        </p:txBody>
      </p:sp>
      <p:sp>
        <p:nvSpPr>
          <p:cNvPr id="14" name="ctext"/>
          <p:cNvSpPr txBox="1"/>
          <p:nvPr/>
        </p:nvSpPr>
        <p:spPr>
          <a:xfrm>
            <a:off x="1645920" y="2286000"/>
            <a:ext cx="8869680" cy="2377440"/>
          </a:xfrm>
          <a:prstGeom prst="rect">
            <a:avLst/>
          </a:prstGeom>
          <a:noFill/>
        </p:spPr>
        <p:txBody>
          <a:bodyPr wrap="square" anchor="ctr">
            <a:normAutofit/>
          </a:bodyPr>
          <a:lstStyle/>
          <a:p>
            <a:pPr algn="ctr"/>
            <a:r>
              <a:rPr lang="uz-UZ" sz="4000" b="1" dirty="0">
                <a:solidFill>
                  <a:srgbClr val="00C2D1"/>
                </a:solidFill>
                <a:latin typeface="Times New Roman"/>
                <a:cs typeface="Times New Roman"/>
                <a:ea typeface="Times New Roman"/>
              </a:rPr>
              <a:t>E'tiboringiz uchun rahmat!</a:t>
            </a:r>
          </a:p>
          <a:p>
            <a:pPr algn="ctr">
              <a:spcBef>
                <a:spcPts val="800"/>
              </a:spcBef>
            </a:pPr>
            <a:r>
              <a:rPr lang="uz-UZ" sz="1400" dirty="0">
                <a:solidFill>
                  <a:srgbClr val="E2E8F0"/>
                </a:solidFill>
                <a:latin typeface="Times New Roman"/>
                <a:cs typeface="Times New Roman"/>
                <a:ea typeface="Times New Roman"/>
              </a:rPr>
              <a:t>Mavzu: Barmoq izi skanerlari (Optika va Ultratovush)</a:t>
            </a:r>
          </a:p>
          <a:p>
            <a:pPr algn="ctr">
              <a:spcBef>
                <a:spcPts val="800"/>
              </a:spcBef>
            </a:pPr>
            <a:r>
              <a:rPr lang="uz-UZ" sz="1400" dirty="0">
                <a:solidFill>
                  <a:srgbClr val="E2E8F0"/>
                </a:solidFill>
                <a:latin typeface="Times New Roman"/>
                <a:cs typeface="Times New Roman"/>
                <a:ea typeface="Times New Roman"/>
              </a:rPr>
              <a:t>Taqdimotchi: Toshboʻriyeva Marjona (242_26 - guruh)</a:t>
            </a:r>
          </a:p>
          <a:p>
            <a:pPr algn="ctr">
              <a:spcBef>
                <a:spcPts val="800"/>
              </a:spcBef>
            </a:pPr>
            <a:r>
              <a:rPr lang="uz-UZ" sz="1400" dirty="0">
                <a:solidFill>
                  <a:srgbClr val="E2E8F0"/>
                </a:solidFill>
                <a:latin typeface="Times New Roman"/>
                <a:cs typeface="Times New Roman"/>
                <a:ea typeface="Times New Roman"/>
              </a:rPr>
              <a:t>Jizzax davlat pedagogika universiteti - Axborot tizimlari fani.</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1E33"/>
      </a:dk2>
      <a:lt2>
        <a:srgbClr val="E7E6E6"/>
      </a:lt2>
      <a:accent1>
        <a:srgbClr val="00C2D1"/>
      </a:accent1>
      <a:accent2>
        <a:srgbClr val="3B82F6"/>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majorFont>
      <a:minorFont>
        <a:latin typeface="Times New Roman"/>
        <a:ea typeface=""/>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python-pptx-fallback</Application>
  <Slides>10</Slides>
</Properties>
</file>

<file path=docProps/core.xml><?xml version="1.0" encoding="utf-8"?>
<cp:coreProperties xmlns:cp="http://schemas.openxmlformats.org/package/2006/metadata/core-properties" xmlns:dc="http://purl.org/dc/elements/1.1/" xmlns:dcterms="http://purl.org/dc/terms/" xmlns:xsi="http://www.w3.org/2001/XMLSchema-instance">
  <dc:title>Barmoq izi skanerlari qanday ishlaydi?</dc:title>
  <dc:creator>Toshboʻriyeva Marjona</dc:creator>
  <cp:lastModifiedBy>Toshboʻriyeva Marjona</cp:lastModifiedBy>
</cp:coreProperties>
</file>