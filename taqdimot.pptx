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jpeg" ContentType="image/jpeg"/>
  <Default Extension="png" ContentType="image/png"/>
  <Default Extension="gif" ContentType="image/gif"/>
  <Default Extension="webp" ContentType="image/webp"/>
  <Default Extension="bmp" ContentType="image/bmp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"/>
  </p:sldLayoutIdLst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roline"/>
          <p:cNvSpPr/>
          <p:nvPr/>
        </p:nvSpPr>
        <p:spPr>
          <a:xfrm>
            <a:off x="914400" y="2194560"/>
            <a:ext cx="10360152" cy="36576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"/>
          <p:cNvSpPr txBox="1"/>
          <p:nvPr/>
        </p:nvSpPr>
        <p:spPr>
          <a:xfrm>
            <a:off x="914400" y="1188720"/>
            <a:ext cx="10360152" cy="118872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Kompyuterlar nima uchun qiziydi va qanday soviydi?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1463040" y="2468880"/>
            <a:ext cx="9262872" cy="100584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22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Protsessor ishlayotganda issiqlik ajralib chiqishi va kulerlar yordamida sovutish fizikasi.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2286000" y="3657600"/>
            <a:ext cx="7616952" cy="2194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Aft>
                <a:spcPts val="5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▪  Universitet: Jizzax davlat pedagogika universiteti tabiiy fanlar oliy maktabi</a:t>
            </a:r>
          </a:p>
          <a:p>
            <a:pPr algn="ctr">
              <a:spcAft>
                <a:spcPts val="5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▪  Fan: Axborot tizimlari</a:t>
            </a:r>
          </a:p>
          <a:p>
            <a:pPr algn="ctr">
              <a:spcAft>
                <a:spcPts val="5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▪  Guruh: 242_26</a:t>
            </a:r>
          </a:p>
          <a:p>
            <a:pPr algn="ctr">
              <a:spcAft>
                <a:spcPts val="5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▪  Talaba: Toshboʻriyeva Marjona</a:t>
            </a:r>
          </a:p>
        </p:txBody>
      </p:sp>
      <p:sp>
        <p:nvSpPr>
          <p:cNvPr id="8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11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1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Taqdimot rejasi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chip0"/>
          <p:cNvSpPr/>
          <p:nvPr/>
        </p:nvSpPr>
        <p:spPr>
          <a:xfrm>
            <a:off x="9100566" y="2708910"/>
            <a:ext cx="1321308" cy="125912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chip1"/>
          <p:cNvSpPr/>
          <p:nvPr/>
        </p:nvSpPr>
        <p:spPr>
          <a:xfrm>
            <a:off x="9294876" y="2894076"/>
            <a:ext cx="932688" cy="888796"/>
          </a:xfrm>
          <a:prstGeom prst="rect">
            <a:avLst/>
          </a:prstGeom>
          <a:solidFill>
            <a:srgbClr val="1F2630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chip2"/>
          <p:cNvSpPr/>
          <p:nvPr/>
        </p:nvSpPr>
        <p:spPr>
          <a:xfrm>
            <a:off x="9489186" y="3079242"/>
            <a:ext cx="544068" cy="51846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pinl0"/>
          <p:cNvSpPr/>
          <p:nvPr/>
        </p:nvSpPr>
        <p:spPr>
          <a:xfrm>
            <a:off x="8935974" y="3009290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pinr0"/>
          <p:cNvSpPr/>
          <p:nvPr/>
        </p:nvSpPr>
        <p:spPr>
          <a:xfrm>
            <a:off x="10421874" y="3009290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pinl1"/>
          <p:cNvSpPr/>
          <p:nvPr/>
        </p:nvSpPr>
        <p:spPr>
          <a:xfrm>
            <a:off x="8935974" y="3173882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pinr1"/>
          <p:cNvSpPr/>
          <p:nvPr/>
        </p:nvSpPr>
        <p:spPr>
          <a:xfrm>
            <a:off x="10421874" y="3173882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pinl2"/>
          <p:cNvSpPr/>
          <p:nvPr/>
        </p:nvSpPr>
        <p:spPr>
          <a:xfrm>
            <a:off x="8935974" y="3338474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pinr2"/>
          <p:cNvSpPr/>
          <p:nvPr/>
        </p:nvSpPr>
        <p:spPr>
          <a:xfrm>
            <a:off x="10421874" y="3338474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8" name="pinl3"/>
          <p:cNvSpPr/>
          <p:nvPr/>
        </p:nvSpPr>
        <p:spPr>
          <a:xfrm>
            <a:off x="8935974" y="3503066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9" name="pinr3"/>
          <p:cNvSpPr/>
          <p:nvPr/>
        </p:nvSpPr>
        <p:spPr>
          <a:xfrm>
            <a:off x="10421874" y="3503066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pinl4"/>
          <p:cNvSpPr/>
          <p:nvPr/>
        </p:nvSpPr>
        <p:spPr>
          <a:xfrm>
            <a:off x="8935974" y="3667658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pinr4"/>
          <p:cNvSpPr/>
          <p:nvPr/>
        </p:nvSpPr>
        <p:spPr>
          <a:xfrm>
            <a:off x="10421874" y="3667658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2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Kompyuter ichki tuzilishi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1-reja. Tranzistorlar va issiqlik ajralib chiqish fizikasi (Joul-Lents qonuni).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2-reja. Issiqlik o'tkazuvchanlik: Termopasta va radiatorlar vazifasi.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3-reja. Konveksiya va faol sovutish (Kulerlar va suvli tizimlar).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Xulosa. Issiqlik boshqaruvining zamonaviy axborot tizimlaridagi ahamiyati.</a:t>
            </a:r>
          </a:p>
        </p:txBody>
      </p:sp>
      <p:sp>
        <p:nvSpPr>
          <p:cNvPr id="24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5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6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7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2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FF6B35"/>
                </a:solidFill>
                <a:latin typeface="Times New Roman"/>
                <a:cs typeface="Times New Roman"/>
                <a:ea typeface="Times New Roman"/>
              </a:rPr>
              <a:t>1. Nega protsessor (CPU) qiziydi?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FF6B35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chip0"/>
          <p:cNvSpPr/>
          <p:nvPr/>
        </p:nvSpPr>
        <p:spPr>
          <a:xfrm>
            <a:off x="9100566" y="2708910"/>
            <a:ext cx="1321308" cy="1259128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chip1"/>
          <p:cNvSpPr/>
          <p:nvPr/>
        </p:nvSpPr>
        <p:spPr>
          <a:xfrm>
            <a:off x="9294876" y="2894076"/>
            <a:ext cx="932688" cy="888796"/>
          </a:xfrm>
          <a:prstGeom prst="rect">
            <a:avLst/>
          </a:prstGeom>
          <a:solidFill>
            <a:srgbClr val="1F2630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chip2"/>
          <p:cNvSpPr/>
          <p:nvPr/>
        </p:nvSpPr>
        <p:spPr>
          <a:xfrm>
            <a:off x="9489186" y="3079242"/>
            <a:ext cx="544068" cy="518464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pinl0"/>
          <p:cNvSpPr/>
          <p:nvPr/>
        </p:nvSpPr>
        <p:spPr>
          <a:xfrm>
            <a:off x="8935974" y="3009290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pinr0"/>
          <p:cNvSpPr/>
          <p:nvPr/>
        </p:nvSpPr>
        <p:spPr>
          <a:xfrm>
            <a:off x="10421874" y="3009290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pinl1"/>
          <p:cNvSpPr/>
          <p:nvPr/>
        </p:nvSpPr>
        <p:spPr>
          <a:xfrm>
            <a:off x="8935974" y="3173882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pinr1"/>
          <p:cNvSpPr/>
          <p:nvPr/>
        </p:nvSpPr>
        <p:spPr>
          <a:xfrm>
            <a:off x="10421874" y="3173882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pinl2"/>
          <p:cNvSpPr/>
          <p:nvPr/>
        </p:nvSpPr>
        <p:spPr>
          <a:xfrm>
            <a:off x="8935974" y="3338474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pinr2"/>
          <p:cNvSpPr/>
          <p:nvPr/>
        </p:nvSpPr>
        <p:spPr>
          <a:xfrm>
            <a:off x="10421874" y="3338474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8" name="pinl3"/>
          <p:cNvSpPr/>
          <p:nvPr/>
        </p:nvSpPr>
        <p:spPr>
          <a:xfrm>
            <a:off x="8935974" y="3503066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9" name="pinr3"/>
          <p:cNvSpPr/>
          <p:nvPr/>
        </p:nvSpPr>
        <p:spPr>
          <a:xfrm>
            <a:off x="10421874" y="3503066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pinl4"/>
          <p:cNvSpPr/>
          <p:nvPr/>
        </p:nvSpPr>
        <p:spPr>
          <a:xfrm>
            <a:off x="8935974" y="3667658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pinr4"/>
          <p:cNvSpPr/>
          <p:nvPr/>
        </p:nvSpPr>
        <p:spPr>
          <a:xfrm>
            <a:off x="10421874" y="3667658"/>
            <a:ext cx="164592" cy="4572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2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FF6B35"/>
                </a:solidFill>
                <a:latin typeface="Times New Roman"/>
                <a:cs typeface="Times New Roman"/>
                <a:ea typeface="Times New Roman"/>
              </a:rPr>
              <a:t>Rasm: Tranzistorlar va mikrochip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Kompyuterning miyasi bo'lgan protsessor (CPU) ichida milliardlab mikroskopik tranzistorlar joylashgan.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FF6B35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Elektr signallari: Har doim kompyuter ma'lumotni (0 va 1) qayta ishlaganda, bu tranzistorlar orqali elektr toki o'tadi.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FF6B35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Energiya almashinuvi: Fizikaning energiya saqlanish qonuniga ko'ra, tranzistorlarning ishlashiga sarflangan elektr energiyasi yo'qolib ketmaydi, balki to'g'ridan-to'g'ri issiqlik energiyasiga aylanadi.</a:t>
            </a:r>
          </a:p>
        </p:txBody>
      </p:sp>
      <p:sp>
        <p:nvSpPr>
          <p:cNvPr id="24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5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6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7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FF6B35"/>
                </a:solidFill>
                <a:latin typeface="Times New Roman"/>
                <a:cs typeface="Times New Roman"/>
                <a:ea typeface="Times New Roman"/>
              </a:rPr>
              <a:t>3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E63946"/>
                </a:solidFill>
                <a:latin typeface="Times New Roman"/>
                <a:cs typeface="Times New Roman"/>
                <a:ea typeface="Times New Roman"/>
              </a:rPr>
              <a:t>Joul-Lents qonuni amalda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E63946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chip0"/>
          <p:cNvSpPr/>
          <p:nvPr/>
        </p:nvSpPr>
        <p:spPr>
          <a:xfrm>
            <a:off x="9100566" y="2708910"/>
            <a:ext cx="1321308" cy="1259128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chip1"/>
          <p:cNvSpPr/>
          <p:nvPr/>
        </p:nvSpPr>
        <p:spPr>
          <a:xfrm>
            <a:off x="9294876" y="2894076"/>
            <a:ext cx="932688" cy="888796"/>
          </a:xfrm>
          <a:prstGeom prst="rect">
            <a:avLst/>
          </a:prstGeom>
          <a:solidFill>
            <a:srgbClr val="1F2630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chip2"/>
          <p:cNvSpPr/>
          <p:nvPr/>
        </p:nvSpPr>
        <p:spPr>
          <a:xfrm>
            <a:off x="9489186" y="3079242"/>
            <a:ext cx="544068" cy="518464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pinl0"/>
          <p:cNvSpPr/>
          <p:nvPr/>
        </p:nvSpPr>
        <p:spPr>
          <a:xfrm>
            <a:off x="8935974" y="3009290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pinr0"/>
          <p:cNvSpPr/>
          <p:nvPr/>
        </p:nvSpPr>
        <p:spPr>
          <a:xfrm>
            <a:off x="10421874" y="3009290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pinl1"/>
          <p:cNvSpPr/>
          <p:nvPr/>
        </p:nvSpPr>
        <p:spPr>
          <a:xfrm>
            <a:off x="8935974" y="3173882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pinr1"/>
          <p:cNvSpPr/>
          <p:nvPr/>
        </p:nvSpPr>
        <p:spPr>
          <a:xfrm>
            <a:off x="10421874" y="3173882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pinl2"/>
          <p:cNvSpPr/>
          <p:nvPr/>
        </p:nvSpPr>
        <p:spPr>
          <a:xfrm>
            <a:off x="8935974" y="3338474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pinr2"/>
          <p:cNvSpPr/>
          <p:nvPr/>
        </p:nvSpPr>
        <p:spPr>
          <a:xfrm>
            <a:off x="10421874" y="3338474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8" name="pinl3"/>
          <p:cNvSpPr/>
          <p:nvPr/>
        </p:nvSpPr>
        <p:spPr>
          <a:xfrm>
            <a:off x="8935974" y="3503066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9" name="pinr3"/>
          <p:cNvSpPr/>
          <p:nvPr/>
        </p:nvSpPr>
        <p:spPr>
          <a:xfrm>
            <a:off x="10421874" y="3503066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pinl4"/>
          <p:cNvSpPr/>
          <p:nvPr/>
        </p:nvSpPr>
        <p:spPr>
          <a:xfrm>
            <a:off x="8935974" y="3667658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pinr4"/>
          <p:cNvSpPr/>
          <p:nvPr/>
        </p:nvSpPr>
        <p:spPr>
          <a:xfrm>
            <a:off x="10421874" y="3667658"/>
            <a:ext cx="164592" cy="4572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2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E63946"/>
                </a:solidFill>
                <a:latin typeface="Times New Roman"/>
                <a:cs typeface="Times New Roman"/>
                <a:ea typeface="Times New Roman"/>
              </a:rPr>
              <a:t>Rasm: Energiya va fizika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Protsessordagi qizish bevosita fizikaning Joul-Lents qonuni bilan tushuntiriladi.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E63946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Qarshilik va Issiqlik: Har qanday o'tkazgich elektr tokiga ma'lum bir qarshilik ko'rsatadi. Elektr toki bu qarshilikni yengib o'tayotganda atomlar bilan to'qnashadi va kinetik energiya (issiqlik) hosil qiladi.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E63946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TDP (Thermal Design Power): Bu protsessorning maksimal yuklamada qancha issiqlik (Vatt hisobida) ajratib chiqarishini ko'rsatuvchi ko'rsatkichdir.</a:t>
            </a:r>
          </a:p>
        </p:txBody>
      </p:sp>
      <p:sp>
        <p:nvSpPr>
          <p:cNvPr id="24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5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6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7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E63946"/>
                </a:solidFill>
                <a:latin typeface="Times New Roman"/>
                <a:cs typeface="Times New Roman"/>
                <a:ea typeface="Times New Roman"/>
              </a:rPr>
              <a:t>4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2. Issiqlikni uzoqlashtirish: Termopasta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fin0"/>
          <p:cNvSpPr/>
          <p:nvPr/>
        </p:nvSpPr>
        <p:spPr>
          <a:xfrm>
            <a:off x="890168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fin1"/>
          <p:cNvSpPr/>
          <p:nvPr/>
        </p:nvSpPr>
        <p:spPr>
          <a:xfrm>
            <a:off x="917600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fin2"/>
          <p:cNvSpPr/>
          <p:nvPr/>
        </p:nvSpPr>
        <p:spPr>
          <a:xfrm>
            <a:off x="945032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fin3"/>
          <p:cNvSpPr/>
          <p:nvPr/>
        </p:nvSpPr>
        <p:spPr>
          <a:xfrm>
            <a:off x="972464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fin4"/>
          <p:cNvSpPr/>
          <p:nvPr/>
        </p:nvSpPr>
        <p:spPr>
          <a:xfrm>
            <a:off x="999896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fin5"/>
          <p:cNvSpPr/>
          <p:nvPr/>
        </p:nvSpPr>
        <p:spPr>
          <a:xfrm>
            <a:off x="1027328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fin6"/>
          <p:cNvSpPr/>
          <p:nvPr/>
        </p:nvSpPr>
        <p:spPr>
          <a:xfrm>
            <a:off x="1054760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base"/>
          <p:cNvSpPr/>
          <p:nvPr/>
        </p:nvSpPr>
        <p:spPr>
          <a:xfrm>
            <a:off x="8700516" y="4116171"/>
            <a:ext cx="2121408" cy="10972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Termopasta</a:t>
            </a:r>
          </a:p>
        </p:txBody>
      </p:sp>
      <p:sp>
        <p:nvSpPr>
          <p:cNvPr id="18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Protsessor yuzasida hosil bo'lgan kuchli issiqlikni tezda olib tashlash axborot tizimining barqaror ishlashi uchun juda muhim.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Mikroskopik bo'shliqlar: Protsessor va uning ustiga qo'yiladigan radiator yuzasi ko'zga tekis ko'rinsa-da, mikroskop ostida g'adir-budur bo'ladi. Ular orasida issiqlikni yomon o'tkazuvchi havo qolib ketadi.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Termopastaning vazifasi: Suyuq termopasta ana shu bo'shliqlarni to'ldiradi va issiqlikni protsessordan radiatorga maksimal darajada tez o'tkazib beradi.</a:t>
            </a:r>
          </a:p>
        </p:txBody>
      </p:sp>
      <p:sp>
        <p:nvSpPr>
          <p:cNvPr id="19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2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5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Radiator (Heatsink) fizikasi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48CAE4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fin0"/>
          <p:cNvSpPr/>
          <p:nvPr/>
        </p:nvSpPr>
        <p:spPr>
          <a:xfrm>
            <a:off x="890168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fin1"/>
          <p:cNvSpPr/>
          <p:nvPr/>
        </p:nvSpPr>
        <p:spPr>
          <a:xfrm>
            <a:off x="917600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fin2"/>
          <p:cNvSpPr/>
          <p:nvPr/>
        </p:nvSpPr>
        <p:spPr>
          <a:xfrm>
            <a:off x="945032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fin3"/>
          <p:cNvSpPr/>
          <p:nvPr/>
        </p:nvSpPr>
        <p:spPr>
          <a:xfrm>
            <a:off x="972464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fin4"/>
          <p:cNvSpPr/>
          <p:nvPr/>
        </p:nvSpPr>
        <p:spPr>
          <a:xfrm>
            <a:off x="999896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fin5"/>
          <p:cNvSpPr/>
          <p:nvPr/>
        </p:nvSpPr>
        <p:spPr>
          <a:xfrm>
            <a:off x="1027328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fin6"/>
          <p:cNvSpPr/>
          <p:nvPr/>
        </p:nvSpPr>
        <p:spPr>
          <a:xfrm>
            <a:off x="1054760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base"/>
          <p:cNvSpPr/>
          <p:nvPr/>
        </p:nvSpPr>
        <p:spPr>
          <a:xfrm>
            <a:off x="8700516" y="4116171"/>
            <a:ext cx="2121408" cy="109728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Rasm: Radiator (Heatsink)</a:t>
            </a:r>
          </a:p>
        </p:txBody>
      </p:sp>
      <p:sp>
        <p:nvSpPr>
          <p:cNvPr id="18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Termopasta orqali o'tgan issiqlik mis yoki alyuminiydan yasalgan radiatorga yetib boradi.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Yuzani kattalashtirish fizikasi: Radiator nima uchun ko'plab yupqa qanotchalardan (plastinalardan) iborat? Termodinamika qonunlariga ko'ra, jismning yuzasi qanchalik katta bo'lsa, u atrof-muhitga issiqlikni shunchalik tez tarqatadi.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Mis va Alyuminiy: Mis issiqlikni tez qabul qiladi, alyuminiy esa uni havoga tez tarqatadi. Ko'p radiatorlar shu ikki metallning gibrididan yasaladi.</a:t>
            </a:r>
          </a:p>
        </p:txBody>
      </p:sp>
      <p:sp>
        <p:nvSpPr>
          <p:cNvPr id="19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2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6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3. Konveksiya: Kuler (Ventilyator) qanday soviydi?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fin0"/>
          <p:cNvSpPr/>
          <p:nvPr/>
        </p:nvSpPr>
        <p:spPr>
          <a:xfrm>
            <a:off x="890168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fin1"/>
          <p:cNvSpPr/>
          <p:nvPr/>
        </p:nvSpPr>
        <p:spPr>
          <a:xfrm>
            <a:off x="917600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fin2"/>
          <p:cNvSpPr/>
          <p:nvPr/>
        </p:nvSpPr>
        <p:spPr>
          <a:xfrm>
            <a:off x="945032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fin3"/>
          <p:cNvSpPr/>
          <p:nvPr/>
        </p:nvSpPr>
        <p:spPr>
          <a:xfrm>
            <a:off x="972464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fin4"/>
          <p:cNvSpPr/>
          <p:nvPr/>
        </p:nvSpPr>
        <p:spPr>
          <a:xfrm>
            <a:off x="999896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fin5"/>
          <p:cNvSpPr/>
          <p:nvPr/>
        </p:nvSpPr>
        <p:spPr>
          <a:xfrm>
            <a:off x="1027328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fin6"/>
          <p:cNvSpPr/>
          <p:nvPr/>
        </p:nvSpPr>
        <p:spPr>
          <a:xfrm>
            <a:off x="10547604" y="2560777"/>
            <a:ext cx="73152" cy="155539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base"/>
          <p:cNvSpPr/>
          <p:nvPr/>
        </p:nvSpPr>
        <p:spPr>
          <a:xfrm>
            <a:off x="8700516" y="4116171"/>
            <a:ext cx="2121408" cy="10972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Kuler (ventilyator)</a:t>
            </a:r>
          </a:p>
        </p:txBody>
      </p:sp>
      <p:sp>
        <p:nvSpPr>
          <p:cNvPr id="18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Radiator o'ziga issiqlikni olgach, uning atrofidagi havo qiziydi. Agar bu havo yangilanmasa, sovutish to'xtaydi.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Faol sovutish (Active Cooling): Kuler (ventilyator) radiator qanotchalari orasiga sovuq havoni kuch bilan purkaydi.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Majburiy konveksiya: Fizikadagi konveksiya hodisasi tufayli sovuq havo molekulalari radiatordagi issiqlikni o'ziga olib, korpusdan tashqariga uchib chiqib ketadi.</a:t>
            </a:r>
          </a:p>
        </p:txBody>
      </p:sp>
      <p:sp>
        <p:nvSpPr>
          <p:cNvPr id="19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2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7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Suvli sovutish (Liquid Cooling) texnologiyasi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48CAE4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fin0"/>
          <p:cNvSpPr/>
          <p:nvPr/>
        </p:nvSpPr>
        <p:spPr>
          <a:xfrm>
            <a:off x="890168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fin1"/>
          <p:cNvSpPr/>
          <p:nvPr/>
        </p:nvSpPr>
        <p:spPr>
          <a:xfrm>
            <a:off x="917600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fin2"/>
          <p:cNvSpPr/>
          <p:nvPr/>
        </p:nvSpPr>
        <p:spPr>
          <a:xfrm>
            <a:off x="945032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fin3"/>
          <p:cNvSpPr/>
          <p:nvPr/>
        </p:nvSpPr>
        <p:spPr>
          <a:xfrm>
            <a:off x="972464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fin4"/>
          <p:cNvSpPr/>
          <p:nvPr/>
        </p:nvSpPr>
        <p:spPr>
          <a:xfrm>
            <a:off x="999896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fin5"/>
          <p:cNvSpPr/>
          <p:nvPr/>
        </p:nvSpPr>
        <p:spPr>
          <a:xfrm>
            <a:off x="1027328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fin6"/>
          <p:cNvSpPr/>
          <p:nvPr/>
        </p:nvSpPr>
        <p:spPr>
          <a:xfrm>
            <a:off x="10547604" y="2560777"/>
            <a:ext cx="73152" cy="1555394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base"/>
          <p:cNvSpPr/>
          <p:nvPr/>
        </p:nvSpPr>
        <p:spPr>
          <a:xfrm>
            <a:off x="8700516" y="4116171"/>
            <a:ext cx="2121408" cy="109728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Rasm: Suvli sovutish</a:t>
            </a:r>
          </a:p>
        </p:txBody>
      </p:sp>
      <p:sp>
        <p:nvSpPr>
          <p:cNvPr id="18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Juda kuchli protsessorlar (masalan, Data markazlar yoki o'yin kompyuterlari) uchun oddiy havo yetarli bo'lmaydi.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Suvning issiqlik sig'imi: Fizikaga ko'ra, suvning issiqlik sig'imi havoga qaraganda ancha yuqori. Ya'ni suv o'ziga ko'proq issiqlikni yuta oladi.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▪  </a:t>
            </a: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Suyuqlik aylanmasi: Maxsus nasos yordamida suyuqlik protsessor ustidagi blokdan o'tib, issiqlikni yutadi va katta radiatorga olib borib, ventilyatorlar yordamida soviydi.</a:t>
            </a:r>
          </a:p>
        </p:txBody>
      </p:sp>
      <p:sp>
        <p:nvSpPr>
          <p:cNvPr id="19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2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8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aderband"/>
          <p:cNvSpPr/>
          <p:nvPr/>
        </p:nvSpPr>
        <p:spPr>
          <a:xfrm>
            <a:off x="128016" y="0"/>
            <a:ext cx="12063984" cy="1417320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line"/>
          <p:cNvSpPr/>
          <p:nvPr/>
        </p:nvSpPr>
        <p:spPr>
          <a:xfrm>
            <a:off x="548640" y="1170432"/>
            <a:ext cx="4754880" cy="4114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6" name="title"/>
          <p:cNvSpPr txBox="1"/>
          <p:nvPr/>
        </p:nvSpPr>
        <p:spPr>
          <a:xfrm>
            <a:off x="548640" y="274320"/>
            <a:ext cx="10607040" cy="9144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3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Xulosa</a:t>
            </a:r>
          </a:p>
        </p:txBody>
      </p:sp>
      <p:sp>
        <p:nvSpPr>
          <p:cNvPr id="7" name="imgframe"/>
          <p:cNvSpPr/>
          <p:nvPr/>
        </p:nvSpPr>
        <p:spPr>
          <a:xfrm>
            <a:off x="7754112" y="1719072"/>
            <a:ext cx="4014216" cy="3831336"/>
          </a:xfrm>
          <a:prstGeom prst="rect">
            <a:avLst/>
          </a:prstGeom>
          <a:solidFill>
            <a:srgbClr val="1F2630"/>
          </a:solidFill>
          <a:ln w="28575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/>
        </p:txBody>
      </p:sp>
      <p:sp>
        <p:nvSpPr>
          <p:cNvPr id="8" name="placeholder"/>
          <p:cNvSpPr/>
          <p:nvPr/>
        </p:nvSpPr>
        <p:spPr>
          <a:xfrm>
            <a:off x="7818120" y="1783080"/>
            <a:ext cx="3886200" cy="3703320"/>
          </a:xfrm>
          <a:prstGeom prst="rect">
            <a:avLst/>
          </a:prstGeom>
          <a:solidFill>
            <a:srgbClr val="161B22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chip0"/>
          <p:cNvSpPr/>
          <p:nvPr/>
        </p:nvSpPr>
        <p:spPr>
          <a:xfrm>
            <a:off x="9100566" y="2708910"/>
            <a:ext cx="1321308" cy="1259128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0" name="chip1"/>
          <p:cNvSpPr/>
          <p:nvPr/>
        </p:nvSpPr>
        <p:spPr>
          <a:xfrm>
            <a:off x="9294876" y="2894076"/>
            <a:ext cx="932688" cy="888796"/>
          </a:xfrm>
          <a:prstGeom prst="rect">
            <a:avLst/>
          </a:prstGeom>
          <a:solidFill>
            <a:srgbClr val="1F2630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1" name="chip2"/>
          <p:cNvSpPr/>
          <p:nvPr/>
        </p:nvSpPr>
        <p:spPr>
          <a:xfrm>
            <a:off x="9489186" y="3079242"/>
            <a:ext cx="544068" cy="518464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2" name="pinl0"/>
          <p:cNvSpPr/>
          <p:nvPr/>
        </p:nvSpPr>
        <p:spPr>
          <a:xfrm>
            <a:off x="8935974" y="3009290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3" name="pinr0"/>
          <p:cNvSpPr/>
          <p:nvPr/>
        </p:nvSpPr>
        <p:spPr>
          <a:xfrm>
            <a:off x="10421874" y="3009290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4" name="pinl1"/>
          <p:cNvSpPr/>
          <p:nvPr/>
        </p:nvSpPr>
        <p:spPr>
          <a:xfrm>
            <a:off x="8935974" y="3173882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5" name="pinr1"/>
          <p:cNvSpPr/>
          <p:nvPr/>
        </p:nvSpPr>
        <p:spPr>
          <a:xfrm>
            <a:off x="10421874" y="3173882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6" name="pinl2"/>
          <p:cNvSpPr/>
          <p:nvPr/>
        </p:nvSpPr>
        <p:spPr>
          <a:xfrm>
            <a:off x="8935974" y="3338474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7" name="pinr2"/>
          <p:cNvSpPr/>
          <p:nvPr/>
        </p:nvSpPr>
        <p:spPr>
          <a:xfrm>
            <a:off x="10421874" y="3338474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8" name="pinl3"/>
          <p:cNvSpPr/>
          <p:nvPr/>
        </p:nvSpPr>
        <p:spPr>
          <a:xfrm>
            <a:off x="8935974" y="3503066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19" name="pinr3"/>
          <p:cNvSpPr/>
          <p:nvPr/>
        </p:nvSpPr>
        <p:spPr>
          <a:xfrm>
            <a:off x="10421874" y="3503066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0" name="pinl4"/>
          <p:cNvSpPr/>
          <p:nvPr/>
        </p:nvSpPr>
        <p:spPr>
          <a:xfrm>
            <a:off x="8935974" y="3667658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1" name="pinr4"/>
          <p:cNvSpPr/>
          <p:nvPr/>
        </p:nvSpPr>
        <p:spPr>
          <a:xfrm>
            <a:off x="10421874" y="3667658"/>
            <a:ext cx="164592" cy="4572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2" name="imglabel"/>
          <p:cNvSpPr txBox="1"/>
          <p:nvPr/>
        </p:nvSpPr>
        <p:spPr>
          <a:xfrm>
            <a:off x="7818120" y="4983480"/>
            <a:ext cx="3886200" cy="45720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Ma'lumotlar markazi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548640" y="1783080"/>
            <a:ext cx="6858000" cy="40233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Xulosa qilib aytganda, kompyuterning ishlashi to'liq elektr toki va termodinamika qonunlariga bog'liq. Axborot qanchalik tez qayta ishlansa, shuncha ko'p elektr issiqlikka aylanadi.</a:t>
            </a:r>
          </a:p>
          <a:p>
            <a:pPr algn="l">
              <a:lnSpc>
                <a:spcPct val="108"/>
              </a:lnSpc>
              <a:spcAft>
                <a:spcPts val="6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Samarali sovutish tizimlari (kulerlar, radiatorlar va termopasta) nafaqat kompyuterning qotib qolmasligini, balki uning ehtiyot qismlari yonib ketmasdan uzoq yillar barqaror ishlashini kafolatlovchi asosiy injenerlik yechimidir.</a:t>
            </a:r>
          </a:p>
        </p:txBody>
      </p:sp>
      <p:sp>
        <p:nvSpPr>
          <p:cNvPr id="24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5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26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27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9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heroline"/>
          <p:cNvSpPr/>
          <p:nvPr/>
        </p:nvSpPr>
        <p:spPr>
          <a:xfrm>
            <a:off x="914400" y="2194560"/>
            <a:ext cx="10360152" cy="36576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5" name="title"/>
          <p:cNvSpPr txBox="1"/>
          <p:nvPr/>
        </p:nvSpPr>
        <p:spPr>
          <a:xfrm>
            <a:off x="914400" y="1188720"/>
            <a:ext cx="10360152" cy="1188720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ctr">
              <a:spcAft>
                <a:spcPts val="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E'tiboringiz uchun rahmat!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2286000" y="3657600"/>
            <a:ext cx="7616952" cy="2194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Aft>
                <a:spcPts val="5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▪  Mavzu: Kompyuterning qizishi va sovutish fizikasi</a:t>
            </a:r>
          </a:p>
          <a:p>
            <a:pPr algn="ctr">
              <a:spcAft>
                <a:spcPts val="5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▪  Taqdimotchi: Toshboʻriyeva Marjona (242_26 - guruh)</a:t>
            </a:r>
          </a:p>
          <a:p>
            <a:pPr algn="ctr">
              <a:spcAft>
                <a:spcPts val="5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▪  Jizzax davlat pedagogika universiteti - Axborot tizimlari fani.</a:t>
            </a:r>
          </a:p>
        </p:txBody>
      </p:sp>
      <p:sp>
        <p:nvSpPr>
          <p:cNvPr id="7" name="footerband"/>
          <p:cNvSpPr/>
          <p:nvPr/>
        </p:nvSpPr>
        <p:spPr>
          <a:xfrm>
            <a:off x="0" y="6473952"/>
            <a:ext cx="12192000" cy="384048"/>
          </a:xfrm>
          <a:prstGeom prst="rect">
            <a:avLst/>
          </a:prstGeom>
          <a:solidFill>
            <a:srgbClr val="11202E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8" name="footeraccent"/>
          <p:cNvSpPr/>
          <p:nvPr/>
        </p:nvSpPr>
        <p:spPr>
          <a:xfrm>
            <a:off x="0" y="6473952"/>
            <a:ext cx="12192000" cy="27432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9" name="footerlabel"/>
          <p:cNvSpPr txBox="1"/>
          <p:nvPr/>
        </p:nvSpPr>
        <p:spPr>
          <a:xfrm>
            <a:off x="548640" y="6473952"/>
            <a:ext cx="8229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l">
              <a:spcAft>
                <a:spcPts val="0"/>
              </a:spcAft>
            </a:pPr>
            <a:r>
              <a:rPr lang="uz-UZ" sz="1200" dirty="0">
                <a:solidFill>
                  <a:srgbClr val="9FB3C8"/>
                </a:solidFill>
                <a:latin typeface="Times New Roman"/>
                <a:cs typeface="Times New Roman"/>
                <a:ea typeface="Times New Roman"/>
              </a:rPr>
              <a:t>Kompyuter qizishi va sovutish fizikasi</a:t>
            </a:r>
          </a:p>
        </p:txBody>
      </p:sp>
      <p:sp>
        <p:nvSpPr>
          <p:cNvPr id="10" name="footernum"/>
          <p:cNvSpPr txBox="1"/>
          <p:nvPr/>
        </p:nvSpPr>
        <p:spPr>
          <a:xfrm>
            <a:off x="10332720" y="6473952"/>
            <a:ext cx="1371600" cy="384048"/>
          </a:xfrm>
          <a:prstGeom prst="rect">
            <a:avLst/>
          </a:prstGeom>
          <a:noFill/>
        </p:spPr>
        <p:txBody>
          <a:bodyPr wrap="square" lIns="45720" rIns="45720" anchor="ctr">
            <a:normAutofit/>
          </a:bodyPr>
          <a:lstStyle/>
          <a:p>
            <a:pPr algn="r">
              <a:spcAft>
                <a:spcPts val="0"/>
              </a:spcAft>
            </a:pPr>
            <a:r>
              <a:rPr lang="uz-UZ" sz="12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10 / 10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yber">
  <a:themeElements>
    <a:clrScheme name="Cyber">
      <a:dk1>
        <a:srgbClr val="F0F6FC"/>
      </a:dk1>
      <a:lt1>
        <a:srgbClr val="0D1117"/>
      </a:lt1>
      <a:dk2>
        <a:srgbClr val="F0F6FC"/>
      </a:dk2>
      <a:lt2>
        <a:srgbClr val="161B22"/>
      </a:lt2>
      <a:accent1>
        <a:srgbClr val="FF6B35"/>
      </a:accent1>
      <a:accent2>
        <a:srgbClr val="E63946"/>
      </a:accent2>
      <a:accent3>
        <a:srgbClr val="00B4D8"/>
      </a:accent3>
      <a:accent4>
        <a:srgbClr val="48CAE4"/>
      </a:accent4>
      <a:accent5>
        <a:srgbClr val="00B4D8"/>
      </a:accent5>
      <a:accent6>
        <a:srgbClr val="7B2CBF"/>
      </a:accent6>
      <a:hlink>
        <a:srgbClr val="00B4D8"/>
      </a:hlink>
      <a:folHlink>
        <a:srgbClr val="48CAE4"/>
      </a:folHlink>
    </a:clrScheme>
    <a:fontScheme name="Times New Roman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